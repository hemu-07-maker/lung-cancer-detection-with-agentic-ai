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418" r:id="rId3"/>
    <p:sldId id="419" r:id="rId4"/>
    <p:sldId id="439" r:id="rId5"/>
    <p:sldId id="432" r:id="rId6"/>
    <p:sldId id="434" r:id="rId7"/>
    <p:sldId id="416" r:id="rId8"/>
    <p:sldId id="440" r:id="rId9"/>
    <p:sldId id="441" r:id="rId10"/>
    <p:sldId id="442" r:id="rId11"/>
    <p:sldId id="444" r:id="rId12"/>
    <p:sldId id="443" r:id="rId13"/>
    <p:sldId id="429" r:id="rId14"/>
    <p:sldId id="430" r:id="rId15"/>
    <p:sldId id="431" r:id="rId16"/>
    <p:sldId id="428"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52" autoAdjust="0"/>
    <p:restoredTop sz="94668"/>
  </p:normalViewPr>
  <p:slideViewPr>
    <p:cSldViewPr snapToGrid="0">
      <p:cViewPr>
        <p:scale>
          <a:sx n="91" d="100"/>
          <a:sy n="91" d="100"/>
        </p:scale>
        <p:origin x="768" y="7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BA43A09-9997-4C50-BA1D-88D60912DB19}" type="datetimeFigureOut">
              <a:rPr lang="en-IN" smtClean="0"/>
              <a:t>26/01/26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AAEB01-AA1F-4954-AD9F-8530C3275019}" type="slidenum">
              <a:rPr lang="en-IN" smtClean="0"/>
              <a:t>‹#›</a:t>
            </a:fld>
            <a:endParaRPr lang="en-IN"/>
          </a:p>
        </p:txBody>
      </p:sp>
    </p:spTree>
    <p:extLst>
      <p:ext uri="{BB962C8B-B14F-4D97-AF65-F5344CB8AC3E}">
        <p14:creationId xmlns:p14="http://schemas.microsoft.com/office/powerpoint/2010/main" val="40346553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AAAEB01-AA1F-4954-AD9F-8530C3275019}" type="slidenum">
              <a:rPr lang="en-IN" smtClean="0"/>
              <a:t>2</a:t>
            </a:fld>
            <a:endParaRPr lang="en-IN"/>
          </a:p>
        </p:txBody>
      </p:sp>
    </p:spTree>
    <p:extLst>
      <p:ext uri="{BB962C8B-B14F-4D97-AF65-F5344CB8AC3E}">
        <p14:creationId xmlns:p14="http://schemas.microsoft.com/office/powerpoint/2010/main" val="14173532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20D8EF-AB82-EF2D-76A6-BDE27B93426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CB37525-C015-11A8-DDDB-DA8541DD91E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CB00ECC-0B58-25DC-4127-51EB69F8BF32}"/>
              </a:ext>
            </a:extLst>
          </p:cNvPr>
          <p:cNvSpPr>
            <a:spLocks noGrp="1"/>
          </p:cNvSpPr>
          <p:nvPr>
            <p:ph type="dt" sz="half" idx="10"/>
          </p:nvPr>
        </p:nvSpPr>
        <p:spPr/>
        <p:txBody>
          <a:bodyPr/>
          <a:lstStyle/>
          <a:p>
            <a:fld id="{D3020774-0962-4E90-8515-C97C94E7319B}" type="datetime1">
              <a:rPr lang="en-IN" smtClean="0"/>
              <a:t>27/01/26</a:t>
            </a:fld>
            <a:endParaRPr lang="en-IN"/>
          </a:p>
        </p:txBody>
      </p:sp>
      <p:sp>
        <p:nvSpPr>
          <p:cNvPr id="5" name="Footer Placeholder 4">
            <a:extLst>
              <a:ext uri="{FF2B5EF4-FFF2-40B4-BE49-F238E27FC236}">
                <a16:creationId xmlns:a16="http://schemas.microsoft.com/office/drawing/2014/main" id="{6D617942-915C-403B-C68A-3499658BF30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9EB6C04-90ED-33F7-20A4-ACABCC2552F9}"/>
              </a:ext>
            </a:extLst>
          </p:cNvPr>
          <p:cNvSpPr>
            <a:spLocks noGrp="1"/>
          </p:cNvSpPr>
          <p:nvPr>
            <p:ph type="sldNum" sz="quarter" idx="12"/>
          </p:nvPr>
        </p:nvSpPr>
        <p:spPr/>
        <p:txBody>
          <a:bodyPr/>
          <a:lstStyle/>
          <a:p>
            <a:fld id="{ECBCDBC5-4E49-49CB-B926-A54925945C9F}" type="slidenum">
              <a:rPr lang="en-IN" smtClean="0"/>
              <a:t>‹#›</a:t>
            </a:fld>
            <a:endParaRPr lang="en-IN"/>
          </a:p>
        </p:txBody>
      </p:sp>
    </p:spTree>
    <p:extLst>
      <p:ext uri="{BB962C8B-B14F-4D97-AF65-F5344CB8AC3E}">
        <p14:creationId xmlns:p14="http://schemas.microsoft.com/office/powerpoint/2010/main" val="32087303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C3635-F533-BE9A-F0F9-0B87ECDC4DE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86E4512-3A14-772E-DD75-5AE5DFD7908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CF101DC-E24F-83C4-78BC-2AC16BAB3F67}"/>
              </a:ext>
            </a:extLst>
          </p:cNvPr>
          <p:cNvSpPr>
            <a:spLocks noGrp="1"/>
          </p:cNvSpPr>
          <p:nvPr>
            <p:ph type="dt" sz="half" idx="10"/>
          </p:nvPr>
        </p:nvSpPr>
        <p:spPr/>
        <p:txBody>
          <a:bodyPr/>
          <a:lstStyle/>
          <a:p>
            <a:fld id="{19564E5D-2816-4F75-A11C-993F76DF24F2}" type="datetime1">
              <a:rPr lang="en-IN" smtClean="0"/>
              <a:t>27/01/26</a:t>
            </a:fld>
            <a:endParaRPr lang="en-IN"/>
          </a:p>
        </p:txBody>
      </p:sp>
      <p:sp>
        <p:nvSpPr>
          <p:cNvPr id="5" name="Footer Placeholder 4">
            <a:extLst>
              <a:ext uri="{FF2B5EF4-FFF2-40B4-BE49-F238E27FC236}">
                <a16:creationId xmlns:a16="http://schemas.microsoft.com/office/drawing/2014/main" id="{DF7ED09F-5BE0-FE14-D0F1-0D6FF387309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15A4FA2-1F24-CA08-72B1-280765A8CF83}"/>
              </a:ext>
            </a:extLst>
          </p:cNvPr>
          <p:cNvSpPr>
            <a:spLocks noGrp="1"/>
          </p:cNvSpPr>
          <p:nvPr>
            <p:ph type="sldNum" sz="quarter" idx="12"/>
          </p:nvPr>
        </p:nvSpPr>
        <p:spPr/>
        <p:txBody>
          <a:bodyPr/>
          <a:lstStyle/>
          <a:p>
            <a:fld id="{ECBCDBC5-4E49-49CB-B926-A54925945C9F}" type="slidenum">
              <a:rPr lang="en-IN" smtClean="0"/>
              <a:t>‹#›</a:t>
            </a:fld>
            <a:endParaRPr lang="en-IN"/>
          </a:p>
        </p:txBody>
      </p:sp>
    </p:spTree>
    <p:extLst>
      <p:ext uri="{BB962C8B-B14F-4D97-AF65-F5344CB8AC3E}">
        <p14:creationId xmlns:p14="http://schemas.microsoft.com/office/powerpoint/2010/main" val="25758179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6246F-B239-F279-687D-A71126013E2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E98287A-54E7-A166-8C28-EA7087D715E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E248C14-1C0C-D049-3D32-CAB8B916D28D}"/>
              </a:ext>
            </a:extLst>
          </p:cNvPr>
          <p:cNvSpPr>
            <a:spLocks noGrp="1"/>
          </p:cNvSpPr>
          <p:nvPr>
            <p:ph type="dt" sz="half" idx="10"/>
          </p:nvPr>
        </p:nvSpPr>
        <p:spPr/>
        <p:txBody>
          <a:bodyPr/>
          <a:lstStyle/>
          <a:p>
            <a:fld id="{686C76BE-E0D6-4B2F-9024-ABB0E0197A00}" type="datetime1">
              <a:rPr lang="en-IN" smtClean="0"/>
              <a:t>27/01/26</a:t>
            </a:fld>
            <a:endParaRPr lang="en-IN"/>
          </a:p>
        </p:txBody>
      </p:sp>
      <p:sp>
        <p:nvSpPr>
          <p:cNvPr id="5" name="Footer Placeholder 4">
            <a:extLst>
              <a:ext uri="{FF2B5EF4-FFF2-40B4-BE49-F238E27FC236}">
                <a16:creationId xmlns:a16="http://schemas.microsoft.com/office/drawing/2014/main" id="{5B649BBE-1459-A990-6AB2-7A033DAEEFD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FD895FC-605F-0F14-3C21-2F19DC0981D6}"/>
              </a:ext>
            </a:extLst>
          </p:cNvPr>
          <p:cNvSpPr>
            <a:spLocks noGrp="1"/>
          </p:cNvSpPr>
          <p:nvPr>
            <p:ph type="sldNum" sz="quarter" idx="12"/>
          </p:nvPr>
        </p:nvSpPr>
        <p:spPr/>
        <p:txBody>
          <a:bodyPr/>
          <a:lstStyle/>
          <a:p>
            <a:fld id="{ECBCDBC5-4E49-49CB-B926-A54925945C9F}" type="slidenum">
              <a:rPr lang="en-IN" smtClean="0"/>
              <a:t>‹#›</a:t>
            </a:fld>
            <a:endParaRPr lang="en-IN"/>
          </a:p>
        </p:txBody>
      </p:sp>
    </p:spTree>
    <p:extLst>
      <p:ext uri="{BB962C8B-B14F-4D97-AF65-F5344CB8AC3E}">
        <p14:creationId xmlns:p14="http://schemas.microsoft.com/office/powerpoint/2010/main" val="23505006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903B7-1B02-220B-783A-155D65ADE29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A23746E-CF5F-70FE-84B1-BEF12E95E68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A2F8DD2-D114-AE9C-7337-98F9ED56E6A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C265F8C-8B1A-2362-7974-EC1E0169B6EE}"/>
              </a:ext>
            </a:extLst>
          </p:cNvPr>
          <p:cNvSpPr>
            <a:spLocks noGrp="1"/>
          </p:cNvSpPr>
          <p:nvPr>
            <p:ph type="dt" sz="half" idx="10"/>
          </p:nvPr>
        </p:nvSpPr>
        <p:spPr/>
        <p:txBody>
          <a:bodyPr/>
          <a:lstStyle/>
          <a:p>
            <a:fld id="{14B463CA-C478-47A7-85EF-30F96C51044F}" type="datetime1">
              <a:rPr lang="en-IN" smtClean="0"/>
              <a:t>27/01/26</a:t>
            </a:fld>
            <a:endParaRPr lang="en-IN"/>
          </a:p>
        </p:txBody>
      </p:sp>
      <p:sp>
        <p:nvSpPr>
          <p:cNvPr id="6" name="Footer Placeholder 5">
            <a:extLst>
              <a:ext uri="{FF2B5EF4-FFF2-40B4-BE49-F238E27FC236}">
                <a16:creationId xmlns:a16="http://schemas.microsoft.com/office/drawing/2014/main" id="{D3CE21DD-474C-9131-29E5-FA6D2B7DD83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3649250-CD48-49A2-14AB-D2D855C04A64}"/>
              </a:ext>
            </a:extLst>
          </p:cNvPr>
          <p:cNvSpPr>
            <a:spLocks noGrp="1"/>
          </p:cNvSpPr>
          <p:nvPr>
            <p:ph type="sldNum" sz="quarter" idx="12"/>
          </p:nvPr>
        </p:nvSpPr>
        <p:spPr/>
        <p:txBody>
          <a:bodyPr/>
          <a:lstStyle/>
          <a:p>
            <a:fld id="{ECBCDBC5-4E49-49CB-B926-A54925945C9F}" type="slidenum">
              <a:rPr lang="en-IN" smtClean="0"/>
              <a:t>‹#›</a:t>
            </a:fld>
            <a:endParaRPr lang="en-IN"/>
          </a:p>
        </p:txBody>
      </p:sp>
    </p:spTree>
    <p:extLst>
      <p:ext uri="{BB962C8B-B14F-4D97-AF65-F5344CB8AC3E}">
        <p14:creationId xmlns:p14="http://schemas.microsoft.com/office/powerpoint/2010/main" val="19992942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E62BB-4F5A-310C-B041-20B517F08EA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6D55E51-C891-2564-F099-AD74A7427A2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5EC45E6-0093-A61E-9045-82D5F3C0F06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A35FD34-DA77-890A-D4D7-276D4E30163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1C507DE-6CA5-35D8-AAB9-28B24E06CFC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A6D727A-3B83-8A8B-D930-CF867DAB6356}"/>
              </a:ext>
            </a:extLst>
          </p:cNvPr>
          <p:cNvSpPr>
            <a:spLocks noGrp="1"/>
          </p:cNvSpPr>
          <p:nvPr>
            <p:ph type="dt" sz="half" idx="10"/>
          </p:nvPr>
        </p:nvSpPr>
        <p:spPr/>
        <p:txBody>
          <a:bodyPr/>
          <a:lstStyle/>
          <a:p>
            <a:fld id="{2878986C-8477-4ACF-B90D-E53A55B13F18}" type="datetime1">
              <a:rPr lang="en-IN" smtClean="0"/>
              <a:t>27/01/26</a:t>
            </a:fld>
            <a:endParaRPr lang="en-IN"/>
          </a:p>
        </p:txBody>
      </p:sp>
      <p:sp>
        <p:nvSpPr>
          <p:cNvPr id="8" name="Footer Placeholder 7">
            <a:extLst>
              <a:ext uri="{FF2B5EF4-FFF2-40B4-BE49-F238E27FC236}">
                <a16:creationId xmlns:a16="http://schemas.microsoft.com/office/drawing/2014/main" id="{8CAAADDE-514A-CC32-84C8-376FFFC07B7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18C8F11-4B78-86F9-95FA-286D5348BEE5}"/>
              </a:ext>
            </a:extLst>
          </p:cNvPr>
          <p:cNvSpPr>
            <a:spLocks noGrp="1"/>
          </p:cNvSpPr>
          <p:nvPr>
            <p:ph type="sldNum" sz="quarter" idx="12"/>
          </p:nvPr>
        </p:nvSpPr>
        <p:spPr/>
        <p:txBody>
          <a:bodyPr/>
          <a:lstStyle/>
          <a:p>
            <a:fld id="{ECBCDBC5-4E49-49CB-B926-A54925945C9F}" type="slidenum">
              <a:rPr lang="en-IN" smtClean="0"/>
              <a:t>‹#›</a:t>
            </a:fld>
            <a:endParaRPr lang="en-IN"/>
          </a:p>
        </p:txBody>
      </p:sp>
    </p:spTree>
    <p:extLst>
      <p:ext uri="{BB962C8B-B14F-4D97-AF65-F5344CB8AC3E}">
        <p14:creationId xmlns:p14="http://schemas.microsoft.com/office/powerpoint/2010/main" val="15773227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E695A-AC59-1D1E-D7FD-94AADAEF8EC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0FA79CF-FEF9-3D40-7950-8CB3F5D5760E}"/>
              </a:ext>
            </a:extLst>
          </p:cNvPr>
          <p:cNvSpPr>
            <a:spLocks noGrp="1"/>
          </p:cNvSpPr>
          <p:nvPr>
            <p:ph type="dt" sz="half" idx="10"/>
          </p:nvPr>
        </p:nvSpPr>
        <p:spPr/>
        <p:txBody>
          <a:bodyPr/>
          <a:lstStyle/>
          <a:p>
            <a:fld id="{D6167ED5-47A3-4E02-B850-552A9B1EE6FB}" type="datetime1">
              <a:rPr lang="en-IN" smtClean="0"/>
              <a:t>27/01/26</a:t>
            </a:fld>
            <a:endParaRPr lang="en-IN"/>
          </a:p>
        </p:txBody>
      </p:sp>
      <p:sp>
        <p:nvSpPr>
          <p:cNvPr id="4" name="Footer Placeholder 3">
            <a:extLst>
              <a:ext uri="{FF2B5EF4-FFF2-40B4-BE49-F238E27FC236}">
                <a16:creationId xmlns:a16="http://schemas.microsoft.com/office/drawing/2014/main" id="{7E42B364-FA35-54FA-2633-CE2B4DD58EE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43FEDF2-30CE-746E-2086-1A9D1B8BAF77}"/>
              </a:ext>
            </a:extLst>
          </p:cNvPr>
          <p:cNvSpPr>
            <a:spLocks noGrp="1"/>
          </p:cNvSpPr>
          <p:nvPr>
            <p:ph type="sldNum" sz="quarter" idx="12"/>
          </p:nvPr>
        </p:nvSpPr>
        <p:spPr/>
        <p:txBody>
          <a:bodyPr/>
          <a:lstStyle/>
          <a:p>
            <a:fld id="{ECBCDBC5-4E49-49CB-B926-A54925945C9F}" type="slidenum">
              <a:rPr lang="en-IN" smtClean="0"/>
              <a:t>‹#›</a:t>
            </a:fld>
            <a:endParaRPr lang="en-IN"/>
          </a:p>
        </p:txBody>
      </p:sp>
    </p:spTree>
    <p:extLst>
      <p:ext uri="{BB962C8B-B14F-4D97-AF65-F5344CB8AC3E}">
        <p14:creationId xmlns:p14="http://schemas.microsoft.com/office/powerpoint/2010/main" val="17060557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E351801-6753-8C43-AF3F-B29BD923E849}"/>
              </a:ext>
            </a:extLst>
          </p:cNvPr>
          <p:cNvSpPr>
            <a:spLocks noGrp="1"/>
          </p:cNvSpPr>
          <p:nvPr>
            <p:ph type="dt" sz="half" idx="10"/>
          </p:nvPr>
        </p:nvSpPr>
        <p:spPr/>
        <p:txBody>
          <a:bodyPr/>
          <a:lstStyle/>
          <a:p>
            <a:fld id="{33C9F433-8288-4ED4-8E97-8858660DD54A}" type="datetime1">
              <a:rPr lang="en-IN" smtClean="0"/>
              <a:t>26/01/26</a:t>
            </a:fld>
            <a:endParaRPr lang="en-IN"/>
          </a:p>
        </p:txBody>
      </p:sp>
      <p:sp>
        <p:nvSpPr>
          <p:cNvPr id="3" name="Footer Placeholder 2">
            <a:extLst>
              <a:ext uri="{FF2B5EF4-FFF2-40B4-BE49-F238E27FC236}">
                <a16:creationId xmlns:a16="http://schemas.microsoft.com/office/drawing/2014/main" id="{44952336-7FEA-CD8A-F404-E6660648D13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6829355-AD5D-2292-585B-E9A0B9F7E89F}"/>
              </a:ext>
            </a:extLst>
          </p:cNvPr>
          <p:cNvSpPr>
            <a:spLocks noGrp="1"/>
          </p:cNvSpPr>
          <p:nvPr>
            <p:ph type="sldNum" sz="quarter" idx="12"/>
          </p:nvPr>
        </p:nvSpPr>
        <p:spPr/>
        <p:txBody>
          <a:bodyPr/>
          <a:lstStyle/>
          <a:p>
            <a:fld id="{ECBCDBC5-4E49-49CB-B926-A54925945C9F}" type="slidenum">
              <a:rPr lang="en-IN" smtClean="0"/>
              <a:t>‹#›</a:t>
            </a:fld>
            <a:endParaRPr lang="en-IN"/>
          </a:p>
        </p:txBody>
      </p:sp>
    </p:spTree>
    <p:extLst>
      <p:ext uri="{BB962C8B-B14F-4D97-AF65-F5344CB8AC3E}">
        <p14:creationId xmlns:p14="http://schemas.microsoft.com/office/powerpoint/2010/main" val="17974227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85E77-25F1-3A40-242F-6CC6F69C86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ABFA229-BA15-5515-9EFF-94D3A84E0D6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B36B159-C6B8-4A2D-E906-A9E00055A2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4E29145-BA56-0CFF-960A-7E5B7549064C}"/>
              </a:ext>
            </a:extLst>
          </p:cNvPr>
          <p:cNvSpPr>
            <a:spLocks noGrp="1"/>
          </p:cNvSpPr>
          <p:nvPr>
            <p:ph type="dt" sz="half" idx="10"/>
          </p:nvPr>
        </p:nvSpPr>
        <p:spPr/>
        <p:txBody>
          <a:bodyPr/>
          <a:lstStyle/>
          <a:p>
            <a:fld id="{024274F8-F714-4827-AAAF-8C2B5428C7F9}" type="datetime1">
              <a:rPr lang="en-IN" smtClean="0"/>
              <a:t>27/01/26</a:t>
            </a:fld>
            <a:endParaRPr lang="en-IN"/>
          </a:p>
        </p:txBody>
      </p:sp>
      <p:sp>
        <p:nvSpPr>
          <p:cNvPr id="6" name="Footer Placeholder 5">
            <a:extLst>
              <a:ext uri="{FF2B5EF4-FFF2-40B4-BE49-F238E27FC236}">
                <a16:creationId xmlns:a16="http://schemas.microsoft.com/office/drawing/2014/main" id="{3DAA30C4-F961-4CCE-C67F-685B98F10BF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F3FF2E7-BD28-2D30-8189-3B4295BB47E2}"/>
              </a:ext>
            </a:extLst>
          </p:cNvPr>
          <p:cNvSpPr>
            <a:spLocks noGrp="1"/>
          </p:cNvSpPr>
          <p:nvPr>
            <p:ph type="sldNum" sz="quarter" idx="12"/>
          </p:nvPr>
        </p:nvSpPr>
        <p:spPr/>
        <p:txBody>
          <a:bodyPr/>
          <a:lstStyle/>
          <a:p>
            <a:fld id="{ECBCDBC5-4E49-49CB-B926-A54925945C9F}" type="slidenum">
              <a:rPr lang="en-IN" smtClean="0"/>
              <a:t>‹#›</a:t>
            </a:fld>
            <a:endParaRPr lang="en-IN"/>
          </a:p>
        </p:txBody>
      </p:sp>
    </p:spTree>
    <p:extLst>
      <p:ext uri="{BB962C8B-B14F-4D97-AF65-F5344CB8AC3E}">
        <p14:creationId xmlns:p14="http://schemas.microsoft.com/office/powerpoint/2010/main" val="40211798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B58939-0B8E-4F01-4212-C422393D1F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6EBADF5-6814-391A-C2A6-BE11598D09A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0198A14-63C6-B3D0-DC78-460F298DD4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CDC36A-B697-A2C1-C463-098C0DF737D9}"/>
              </a:ext>
            </a:extLst>
          </p:cNvPr>
          <p:cNvSpPr>
            <a:spLocks noGrp="1"/>
          </p:cNvSpPr>
          <p:nvPr>
            <p:ph type="dt" sz="half" idx="10"/>
          </p:nvPr>
        </p:nvSpPr>
        <p:spPr/>
        <p:txBody>
          <a:bodyPr/>
          <a:lstStyle/>
          <a:p>
            <a:fld id="{057C38B0-21BB-436E-9C0D-105AFE1E17E6}" type="datetime1">
              <a:rPr lang="en-IN" smtClean="0"/>
              <a:t>27/01/26</a:t>
            </a:fld>
            <a:endParaRPr lang="en-IN"/>
          </a:p>
        </p:txBody>
      </p:sp>
      <p:sp>
        <p:nvSpPr>
          <p:cNvPr id="6" name="Footer Placeholder 5">
            <a:extLst>
              <a:ext uri="{FF2B5EF4-FFF2-40B4-BE49-F238E27FC236}">
                <a16:creationId xmlns:a16="http://schemas.microsoft.com/office/drawing/2014/main" id="{D5720D27-C193-8218-AA26-0E1DED71EC2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B34683B-65A8-B331-8200-E979163291C0}"/>
              </a:ext>
            </a:extLst>
          </p:cNvPr>
          <p:cNvSpPr>
            <a:spLocks noGrp="1"/>
          </p:cNvSpPr>
          <p:nvPr>
            <p:ph type="sldNum" sz="quarter" idx="12"/>
          </p:nvPr>
        </p:nvSpPr>
        <p:spPr/>
        <p:txBody>
          <a:bodyPr/>
          <a:lstStyle/>
          <a:p>
            <a:fld id="{ECBCDBC5-4E49-49CB-B926-A54925945C9F}" type="slidenum">
              <a:rPr lang="en-IN" smtClean="0"/>
              <a:t>‹#›</a:t>
            </a:fld>
            <a:endParaRPr lang="en-IN"/>
          </a:p>
        </p:txBody>
      </p:sp>
    </p:spTree>
    <p:extLst>
      <p:ext uri="{BB962C8B-B14F-4D97-AF65-F5344CB8AC3E}">
        <p14:creationId xmlns:p14="http://schemas.microsoft.com/office/powerpoint/2010/main" val="27413320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6EC19-D635-0B5C-F9BF-4CD3B3B8C2C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D1DD17D-8E72-86E4-DBFD-AC8F73FD4B0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1320FE4-00BF-5B8B-FDF7-B119D3D82545}"/>
              </a:ext>
            </a:extLst>
          </p:cNvPr>
          <p:cNvSpPr>
            <a:spLocks noGrp="1"/>
          </p:cNvSpPr>
          <p:nvPr>
            <p:ph type="dt" sz="half" idx="10"/>
          </p:nvPr>
        </p:nvSpPr>
        <p:spPr/>
        <p:txBody>
          <a:bodyPr/>
          <a:lstStyle/>
          <a:p>
            <a:fld id="{DDFF6650-C4E0-4C75-BF74-F1476EE9AD09}" type="datetime1">
              <a:rPr lang="en-IN" smtClean="0"/>
              <a:t>27/01/26</a:t>
            </a:fld>
            <a:endParaRPr lang="en-IN"/>
          </a:p>
        </p:txBody>
      </p:sp>
      <p:sp>
        <p:nvSpPr>
          <p:cNvPr id="5" name="Footer Placeholder 4">
            <a:extLst>
              <a:ext uri="{FF2B5EF4-FFF2-40B4-BE49-F238E27FC236}">
                <a16:creationId xmlns:a16="http://schemas.microsoft.com/office/drawing/2014/main" id="{A1A2A3D5-469D-9E61-45F0-D492F91E9B2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D4D4BB4-A5B0-41EA-5558-537C00121873}"/>
              </a:ext>
            </a:extLst>
          </p:cNvPr>
          <p:cNvSpPr>
            <a:spLocks noGrp="1"/>
          </p:cNvSpPr>
          <p:nvPr>
            <p:ph type="sldNum" sz="quarter" idx="12"/>
          </p:nvPr>
        </p:nvSpPr>
        <p:spPr/>
        <p:txBody>
          <a:bodyPr/>
          <a:lstStyle/>
          <a:p>
            <a:fld id="{ECBCDBC5-4E49-49CB-B926-A54925945C9F}" type="slidenum">
              <a:rPr lang="en-IN" smtClean="0"/>
              <a:t>‹#›</a:t>
            </a:fld>
            <a:endParaRPr lang="en-IN"/>
          </a:p>
        </p:txBody>
      </p:sp>
    </p:spTree>
    <p:extLst>
      <p:ext uri="{BB962C8B-B14F-4D97-AF65-F5344CB8AC3E}">
        <p14:creationId xmlns:p14="http://schemas.microsoft.com/office/powerpoint/2010/main" val="22659418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794EE2F-2F2C-C543-BFEE-DDCBE1DFDF6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A85157F-D47E-F92C-C8DD-95F1F14B81E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75A50CB-2E52-1690-730A-620C83E67A30}"/>
              </a:ext>
            </a:extLst>
          </p:cNvPr>
          <p:cNvSpPr>
            <a:spLocks noGrp="1"/>
          </p:cNvSpPr>
          <p:nvPr>
            <p:ph type="dt" sz="half" idx="10"/>
          </p:nvPr>
        </p:nvSpPr>
        <p:spPr/>
        <p:txBody>
          <a:bodyPr/>
          <a:lstStyle/>
          <a:p>
            <a:fld id="{24587C32-AB6D-4453-A325-945CB9690CEC}" type="datetime1">
              <a:rPr lang="en-IN" smtClean="0"/>
              <a:t>27/01/26</a:t>
            </a:fld>
            <a:endParaRPr lang="en-IN"/>
          </a:p>
        </p:txBody>
      </p:sp>
      <p:sp>
        <p:nvSpPr>
          <p:cNvPr id="5" name="Footer Placeholder 4">
            <a:extLst>
              <a:ext uri="{FF2B5EF4-FFF2-40B4-BE49-F238E27FC236}">
                <a16:creationId xmlns:a16="http://schemas.microsoft.com/office/drawing/2014/main" id="{CF755F0E-9FCB-CA5B-F144-FC6DF037926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495D3AA-E6C9-1B24-F5A4-059ABF06498D}"/>
              </a:ext>
            </a:extLst>
          </p:cNvPr>
          <p:cNvSpPr>
            <a:spLocks noGrp="1"/>
          </p:cNvSpPr>
          <p:nvPr>
            <p:ph type="sldNum" sz="quarter" idx="12"/>
          </p:nvPr>
        </p:nvSpPr>
        <p:spPr/>
        <p:txBody>
          <a:bodyPr/>
          <a:lstStyle/>
          <a:p>
            <a:fld id="{ECBCDBC5-4E49-49CB-B926-A54925945C9F}" type="slidenum">
              <a:rPr lang="en-IN" smtClean="0"/>
              <a:t>‹#›</a:t>
            </a:fld>
            <a:endParaRPr lang="en-IN"/>
          </a:p>
        </p:txBody>
      </p:sp>
    </p:spTree>
    <p:extLst>
      <p:ext uri="{BB962C8B-B14F-4D97-AF65-F5344CB8AC3E}">
        <p14:creationId xmlns:p14="http://schemas.microsoft.com/office/powerpoint/2010/main" val="17803096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77CBECA-0F62-E6B0-D1EE-596514FC6D1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3A4F2D5-9774-F711-6039-F185F79A7D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872DC5A-8D6C-60DC-44F4-5DDBB751C2C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BD7BB4A-B85B-4C41-881C-B77D03003C4C}" type="datetime1">
              <a:rPr lang="en-IN" smtClean="0"/>
              <a:t>26/01/26</a:t>
            </a:fld>
            <a:endParaRPr lang="en-IN"/>
          </a:p>
        </p:txBody>
      </p:sp>
      <p:sp>
        <p:nvSpPr>
          <p:cNvPr id="5" name="Footer Placeholder 4">
            <a:extLst>
              <a:ext uri="{FF2B5EF4-FFF2-40B4-BE49-F238E27FC236}">
                <a16:creationId xmlns:a16="http://schemas.microsoft.com/office/drawing/2014/main" id="{7AC66533-FE97-BF9E-75FA-1BCB50316DF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62F0CFD-09BF-D479-659F-5AA8F98E6B0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CBCDBC5-4E49-49CB-B926-A54925945C9F}" type="slidenum">
              <a:rPr lang="en-IN" smtClean="0"/>
              <a:t>‹#›</a:t>
            </a:fld>
            <a:endParaRPr lang="en-IN"/>
          </a:p>
        </p:txBody>
      </p:sp>
    </p:spTree>
    <p:extLst>
      <p:ext uri="{BB962C8B-B14F-4D97-AF65-F5344CB8AC3E}">
        <p14:creationId xmlns:p14="http://schemas.microsoft.com/office/powerpoint/2010/main" val="40320890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image" Target="../media/image2.png"/><Relationship Id="rId7" Type="http://schemas.microsoft.com/office/2007/relationships/hdphoto" Target="../media/hdphoto1.wdp"/><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www.jto.org/article/S1556-0864%2821%2902391-1/fulltext" TargetMode="External"/><Relationship Id="rId1" Type="http://schemas.openxmlformats.org/officeDocument/2006/relationships/slideLayout" Target="../slideLayouts/slideLayout7.xml"/><Relationship Id="rId5" Type="http://schemas.openxmlformats.org/officeDocument/2006/relationships/image" Target="../media/image1.jpe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hyperlink" Target="https://www.thelancet.com/journals/eclinm/article/PIIS2589-5370(24)00285-2/fulltext" TargetMode="External"/><Relationship Id="rId2" Type="http://schemas.openxmlformats.org/officeDocument/2006/relationships/hyperlink" Target="https://www.embopress.org/doi/full/10.1038/s44321-024-00175-2" TargetMode="External"/><Relationship Id="rId1" Type="http://schemas.openxmlformats.org/officeDocument/2006/relationships/slideLayout" Target="../slideLayouts/slideLayout7.xml"/><Relationship Id="rId5" Type="http://schemas.openxmlformats.org/officeDocument/2006/relationships/image" Target="../media/image1.jpeg"/><Relationship Id="rId4" Type="http://schemas.openxmlformats.org/officeDocument/2006/relationships/hyperlink" Target="https://ieeexplore.ieee.org/abstract/document/10762221"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journals.lww.com/co-oncology/abstract/2025/01000/lung_cancer_screening_in_never_smokers.13.aspx" TargetMode="External"/><Relationship Id="rId2" Type="http://schemas.openxmlformats.org/officeDocument/2006/relationships/hyperlink" Target="https://doi.org/10.32734/sumej.v8i1.18763" TargetMode="External"/><Relationship Id="rId1" Type="http://schemas.openxmlformats.org/officeDocument/2006/relationships/slideLayout" Target="../slideLayouts/slideLayout7.xml"/><Relationship Id="rId4" Type="http://schemas.openxmlformats.org/officeDocument/2006/relationships/image" Target="../media/image1.jpeg"/></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s://www.sciencedirect.com/science/article/pii/S1556086421023911" TargetMode="Externa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004356" y="291405"/>
            <a:ext cx="4183288" cy="1518307"/>
          </a:xfrm>
          <a:custGeom>
            <a:avLst/>
            <a:gdLst/>
            <a:ahLst/>
            <a:cxnLst/>
            <a:rect l="l" t="t" r="r" b="b"/>
            <a:pathLst>
              <a:path w="6274932" h="2277460">
                <a:moveTo>
                  <a:pt x="0" y="0"/>
                </a:moveTo>
                <a:lnTo>
                  <a:pt x="6274932" y="0"/>
                </a:lnTo>
                <a:lnTo>
                  <a:pt x="6274932" y="2277460"/>
                </a:lnTo>
                <a:lnTo>
                  <a:pt x="0" y="2277460"/>
                </a:lnTo>
                <a:lnTo>
                  <a:pt x="0" y="0"/>
                </a:lnTo>
                <a:close/>
              </a:path>
            </a:pathLst>
          </a:custGeom>
          <a:blipFill>
            <a:blip r:embed="rId2"/>
            <a:stretch>
              <a:fillRect t="-13733" b="-13733"/>
            </a:stretch>
          </a:blipFill>
        </p:spPr>
      </p:sp>
      <p:sp>
        <p:nvSpPr>
          <p:cNvPr id="3" name="TextBox 3"/>
          <p:cNvSpPr txBox="1"/>
          <p:nvPr/>
        </p:nvSpPr>
        <p:spPr>
          <a:xfrm>
            <a:off x="977855" y="2079184"/>
            <a:ext cx="10616045" cy="945323"/>
          </a:xfrm>
          <a:prstGeom prst="rect">
            <a:avLst/>
          </a:prstGeom>
        </p:spPr>
        <p:txBody>
          <a:bodyPr lIns="0" tIns="0" rIns="0" bIns="0" rtlCol="0" anchor="t">
            <a:spAutoFit/>
          </a:bodyPr>
          <a:lstStyle/>
          <a:p>
            <a:pPr algn="ctr">
              <a:lnSpc>
                <a:spcPts val="3826"/>
              </a:lnSpc>
              <a:spcBef>
                <a:spcPct val="0"/>
              </a:spcBef>
            </a:pPr>
            <a:r>
              <a:rPr lang="en-US" sz="2733" b="1" dirty="0">
                <a:solidFill>
                  <a:srgbClr val="000000"/>
                </a:solidFill>
                <a:latin typeface="Times New Roman" panose="02020603050405020304" pitchFamily="18" charset="0"/>
                <a:ea typeface="Canva Sans Bold"/>
                <a:cs typeface="Times New Roman" panose="02020603050405020304" pitchFamily="18" charset="0"/>
                <a:sym typeface="Canva Sans Bold"/>
              </a:rPr>
              <a:t>Agentic AI for Early Detection of Lung Cancer in Non-Smokers Through Genomic Profiling and Predictive Modeling</a:t>
            </a:r>
          </a:p>
        </p:txBody>
      </p:sp>
      <p:sp>
        <p:nvSpPr>
          <p:cNvPr id="4" name="TextBox 4"/>
          <p:cNvSpPr txBox="1"/>
          <p:nvPr/>
        </p:nvSpPr>
        <p:spPr>
          <a:xfrm>
            <a:off x="3267731" y="3410849"/>
            <a:ext cx="6036294" cy="384464"/>
          </a:xfrm>
          <a:prstGeom prst="rect">
            <a:avLst/>
          </a:prstGeom>
        </p:spPr>
        <p:txBody>
          <a:bodyPr lIns="0" tIns="0" rIns="0" bIns="0" rtlCol="0" anchor="t">
            <a:spAutoFit/>
          </a:bodyPr>
          <a:lstStyle/>
          <a:p>
            <a:pPr algn="ctr">
              <a:lnSpc>
                <a:spcPts val="3173"/>
              </a:lnSpc>
              <a:spcBef>
                <a:spcPct val="0"/>
              </a:spcBef>
            </a:pPr>
            <a:r>
              <a:rPr lang="en-US" sz="2266" b="1" dirty="0">
                <a:solidFill>
                  <a:srgbClr val="000000"/>
                </a:solidFill>
                <a:latin typeface="Times New Roman" panose="02020603050405020304" pitchFamily="18" charset="0"/>
                <a:ea typeface="Canva Sans Bold"/>
                <a:cs typeface="Times New Roman" panose="02020603050405020304" pitchFamily="18" charset="0"/>
                <a:sym typeface="Canva Sans Bold"/>
              </a:rPr>
              <a:t>Mentor: </a:t>
            </a:r>
            <a:r>
              <a:rPr lang="en-US" sz="2266" dirty="0">
                <a:solidFill>
                  <a:srgbClr val="000000"/>
                </a:solidFill>
                <a:latin typeface="Times New Roman" panose="02020603050405020304" pitchFamily="18" charset="0"/>
                <a:ea typeface="Canva Sans"/>
                <a:cs typeface="Times New Roman" panose="02020603050405020304" pitchFamily="18" charset="0"/>
                <a:sym typeface="Canva Sans"/>
              </a:rPr>
              <a:t>Dr. V. Lakshmi Chetana</a:t>
            </a:r>
          </a:p>
        </p:txBody>
      </p:sp>
      <p:sp>
        <p:nvSpPr>
          <p:cNvPr id="5" name="TextBox 5"/>
          <p:cNvSpPr txBox="1"/>
          <p:nvPr/>
        </p:nvSpPr>
        <p:spPr>
          <a:xfrm>
            <a:off x="502485" y="5146561"/>
            <a:ext cx="5783392" cy="1101584"/>
          </a:xfrm>
          <a:prstGeom prst="rect">
            <a:avLst/>
          </a:prstGeom>
        </p:spPr>
        <p:txBody>
          <a:bodyPr lIns="0" tIns="0" rIns="0" bIns="0" rtlCol="0" anchor="t">
            <a:spAutoFit/>
          </a:bodyPr>
          <a:lstStyle/>
          <a:p>
            <a:pPr marL="359854" lvl="1" indent="-179927">
              <a:lnSpc>
                <a:spcPts val="2833"/>
              </a:lnSpc>
              <a:buAutoNum type="arabicPeriod"/>
            </a:pPr>
            <a:r>
              <a:rPr lang="en-US" sz="1667" dirty="0">
                <a:solidFill>
                  <a:srgbClr val="000000"/>
                </a:solidFill>
                <a:latin typeface="Times New Roman" panose="02020603050405020304" pitchFamily="18" charset="0"/>
                <a:ea typeface="Canva Sans"/>
                <a:cs typeface="Times New Roman" panose="02020603050405020304" pitchFamily="18" charset="0"/>
                <a:sym typeface="Canva Sans"/>
              </a:rPr>
              <a:t> </a:t>
            </a:r>
            <a:r>
              <a:rPr lang="en-US" sz="1667" dirty="0" err="1">
                <a:solidFill>
                  <a:srgbClr val="000000"/>
                </a:solidFill>
                <a:latin typeface="Times New Roman" panose="02020603050405020304" pitchFamily="18" charset="0"/>
                <a:ea typeface="Canva Sans"/>
                <a:cs typeface="Times New Roman" panose="02020603050405020304" pitchFamily="18" charset="0"/>
                <a:sym typeface="Canva Sans"/>
              </a:rPr>
              <a:t>Goureddy</a:t>
            </a:r>
            <a:r>
              <a:rPr lang="en-US" sz="1667" dirty="0">
                <a:solidFill>
                  <a:srgbClr val="000000"/>
                </a:solidFill>
                <a:latin typeface="Times New Roman" panose="02020603050405020304" pitchFamily="18" charset="0"/>
                <a:ea typeface="Canva Sans"/>
                <a:cs typeface="Times New Roman" panose="02020603050405020304" pitchFamily="18" charset="0"/>
                <a:sym typeface="Canva Sans"/>
              </a:rPr>
              <a:t> Abhinav Reddy    -      AV.EN.U4CSE22217</a:t>
            </a:r>
          </a:p>
          <a:p>
            <a:pPr marL="179927" lvl="1">
              <a:lnSpc>
                <a:spcPts val="2833"/>
              </a:lnSpc>
            </a:pPr>
            <a:r>
              <a:rPr lang="en-US" sz="1667" dirty="0">
                <a:solidFill>
                  <a:srgbClr val="000000"/>
                </a:solidFill>
                <a:latin typeface="Times New Roman" panose="02020603050405020304" pitchFamily="18" charset="0"/>
                <a:ea typeface="Canva Sans"/>
                <a:cs typeface="Times New Roman" panose="02020603050405020304" pitchFamily="18" charset="0"/>
                <a:sym typeface="Canva Sans"/>
              </a:rPr>
              <a:t>3. Prajwala Yadlapalli                -      AV.EN.U4CSE22248</a:t>
            </a:r>
          </a:p>
          <a:p>
            <a:pPr>
              <a:lnSpc>
                <a:spcPts val="3400"/>
              </a:lnSpc>
            </a:pPr>
            <a:endParaRPr lang="en-US" sz="1667" dirty="0">
              <a:solidFill>
                <a:srgbClr val="000000"/>
              </a:solidFill>
              <a:latin typeface="Times New Roman" panose="02020603050405020304" pitchFamily="18" charset="0"/>
              <a:ea typeface="Canva Sans"/>
              <a:cs typeface="Times New Roman" panose="02020603050405020304" pitchFamily="18" charset="0"/>
              <a:sym typeface="Canva Sans"/>
            </a:endParaRPr>
          </a:p>
        </p:txBody>
      </p:sp>
      <p:sp>
        <p:nvSpPr>
          <p:cNvPr id="6" name="TextBox 6"/>
          <p:cNvSpPr txBox="1"/>
          <p:nvPr/>
        </p:nvSpPr>
        <p:spPr>
          <a:xfrm>
            <a:off x="6660373" y="5146561"/>
            <a:ext cx="4820146" cy="684803"/>
          </a:xfrm>
          <a:prstGeom prst="rect">
            <a:avLst/>
          </a:prstGeom>
        </p:spPr>
        <p:txBody>
          <a:bodyPr lIns="0" tIns="0" rIns="0" bIns="0" rtlCol="0" anchor="t">
            <a:spAutoFit/>
          </a:bodyPr>
          <a:lstStyle/>
          <a:p>
            <a:pPr algn="ctr">
              <a:lnSpc>
                <a:spcPts val="2833"/>
              </a:lnSpc>
            </a:pPr>
            <a:r>
              <a:rPr lang="en-US" sz="1666" dirty="0">
                <a:solidFill>
                  <a:srgbClr val="000000"/>
                </a:solidFill>
                <a:latin typeface="Times New Roman" panose="02020603050405020304" pitchFamily="18" charset="0"/>
                <a:ea typeface="Canva Sans"/>
                <a:cs typeface="Times New Roman" panose="02020603050405020304" pitchFamily="18" charset="0"/>
                <a:sym typeface="Canva Sans"/>
              </a:rPr>
              <a:t>2. </a:t>
            </a:r>
            <a:r>
              <a:rPr lang="fi-FI" sz="1666" dirty="0">
                <a:solidFill>
                  <a:srgbClr val="000000"/>
                </a:solidFill>
                <a:latin typeface="Times New Roman" panose="02020603050405020304" pitchFamily="18" charset="0"/>
                <a:ea typeface="Canva Sans"/>
                <a:cs typeface="Times New Roman" panose="02020603050405020304" pitchFamily="18" charset="0"/>
                <a:sym typeface="Canva Sans"/>
              </a:rPr>
              <a:t>Pallapothu Hemanya Sai   -   AV.EN.U4CSE22233</a:t>
            </a:r>
            <a:endParaRPr lang="en-US" sz="1666" dirty="0">
              <a:solidFill>
                <a:srgbClr val="000000"/>
              </a:solidFill>
              <a:latin typeface="Times New Roman" panose="02020603050405020304" pitchFamily="18" charset="0"/>
              <a:ea typeface="Canva Sans"/>
              <a:cs typeface="Times New Roman" panose="02020603050405020304" pitchFamily="18" charset="0"/>
              <a:sym typeface="Canva Sans"/>
            </a:endParaRPr>
          </a:p>
          <a:p>
            <a:pPr algn="ctr">
              <a:lnSpc>
                <a:spcPts val="2833"/>
              </a:lnSpc>
            </a:pPr>
            <a:r>
              <a:rPr lang="en-US" sz="1666" dirty="0">
                <a:solidFill>
                  <a:srgbClr val="000000"/>
                </a:solidFill>
                <a:latin typeface="Times New Roman" panose="02020603050405020304" pitchFamily="18" charset="0"/>
                <a:ea typeface="Canva Sans"/>
                <a:cs typeface="Times New Roman" panose="02020603050405020304" pitchFamily="18" charset="0"/>
                <a:sym typeface="Canva Sans"/>
              </a:rPr>
              <a:t>4. </a:t>
            </a:r>
            <a:r>
              <a:rPr lang="en-US" sz="1666" dirty="0" err="1">
                <a:solidFill>
                  <a:srgbClr val="000000"/>
                </a:solidFill>
                <a:latin typeface="Times New Roman" panose="02020603050405020304" pitchFamily="18" charset="0"/>
                <a:ea typeface="Canva Sans"/>
                <a:cs typeface="Times New Roman" panose="02020603050405020304" pitchFamily="18" charset="0"/>
                <a:sym typeface="Canva Sans"/>
              </a:rPr>
              <a:t>Anupalli</a:t>
            </a:r>
            <a:r>
              <a:rPr lang="en-US" sz="1666" dirty="0">
                <a:solidFill>
                  <a:srgbClr val="000000"/>
                </a:solidFill>
                <a:latin typeface="Times New Roman" panose="02020603050405020304" pitchFamily="18" charset="0"/>
                <a:ea typeface="Canva Sans"/>
                <a:cs typeface="Times New Roman" panose="02020603050405020304" pitchFamily="18" charset="0"/>
                <a:sym typeface="Canva Sans"/>
              </a:rPr>
              <a:t> Varshith Reddy   -   AV.EN.U4CSE22257</a:t>
            </a:r>
          </a:p>
        </p:txBody>
      </p:sp>
      <p:sp>
        <p:nvSpPr>
          <p:cNvPr id="7" name="TextBox 7"/>
          <p:cNvSpPr txBox="1"/>
          <p:nvPr/>
        </p:nvSpPr>
        <p:spPr>
          <a:xfrm>
            <a:off x="5144102" y="4405728"/>
            <a:ext cx="2283553" cy="396391"/>
          </a:xfrm>
          <a:prstGeom prst="rect">
            <a:avLst/>
          </a:prstGeom>
        </p:spPr>
        <p:txBody>
          <a:bodyPr lIns="0" tIns="0" rIns="0" bIns="0" rtlCol="0" anchor="t">
            <a:spAutoFit/>
          </a:bodyPr>
          <a:lstStyle/>
          <a:p>
            <a:pPr algn="ctr">
              <a:lnSpc>
                <a:spcPts val="3266"/>
              </a:lnSpc>
              <a:spcBef>
                <a:spcPct val="0"/>
              </a:spcBef>
            </a:pPr>
            <a:r>
              <a:rPr lang="en-US" sz="2333" b="1">
                <a:solidFill>
                  <a:srgbClr val="000000"/>
                </a:solidFill>
                <a:latin typeface="Times New Roman" panose="02020603050405020304" pitchFamily="18" charset="0"/>
                <a:ea typeface="Canva Sans Bold"/>
                <a:cs typeface="Times New Roman" panose="02020603050405020304" pitchFamily="18" charset="0"/>
                <a:sym typeface="Canva Sans Bold"/>
              </a:rPr>
              <a:t>Team Members: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D1A82D7-3163-7A77-473F-546B32C69054}"/>
              </a:ext>
            </a:extLst>
          </p:cNvPr>
          <p:cNvSpPr>
            <a:spLocks noGrp="1"/>
          </p:cNvSpPr>
          <p:nvPr>
            <p:ph type="sldNum" sz="quarter" idx="12"/>
          </p:nvPr>
        </p:nvSpPr>
        <p:spPr/>
        <p:txBody>
          <a:bodyPr/>
          <a:lstStyle/>
          <a:p>
            <a:fld id="{ECBCDBC5-4E49-49CB-B926-A54925945C9F}" type="slidenum">
              <a:rPr lang="en-IN" smtClean="0"/>
              <a:t>2</a:t>
            </a:fld>
            <a:endParaRPr lang="en-IN"/>
          </a:p>
        </p:txBody>
      </p:sp>
      <p:sp>
        <p:nvSpPr>
          <p:cNvPr id="3" name="Title 5">
            <a:extLst>
              <a:ext uri="{FF2B5EF4-FFF2-40B4-BE49-F238E27FC236}">
                <a16:creationId xmlns:a16="http://schemas.microsoft.com/office/drawing/2014/main" id="{B85D3284-9064-1B5E-7EB0-CE5CA3596776}"/>
              </a:ext>
            </a:extLst>
          </p:cNvPr>
          <p:cNvSpPr txBox="1">
            <a:spLocks/>
          </p:cNvSpPr>
          <p:nvPr/>
        </p:nvSpPr>
        <p:spPr>
          <a:xfrm>
            <a:off x="332621" y="308832"/>
            <a:ext cx="11263311" cy="87629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latin typeface="Garamond" panose="02020404030301010803" pitchFamily="18" charset="0"/>
              </a:rPr>
              <a:t>Problem Statement &amp; Motivation</a:t>
            </a:r>
            <a:endParaRPr lang="en-US" dirty="0">
              <a:latin typeface="Garamond" panose="02020404030301010803" pitchFamily="18" charset="0"/>
            </a:endParaRPr>
          </a:p>
        </p:txBody>
      </p:sp>
      <p:sp>
        <p:nvSpPr>
          <p:cNvPr id="5" name="TextBox 4">
            <a:extLst>
              <a:ext uri="{FF2B5EF4-FFF2-40B4-BE49-F238E27FC236}">
                <a16:creationId xmlns:a16="http://schemas.microsoft.com/office/drawing/2014/main" id="{8B632FE9-4740-CAD4-3460-37F8872982C7}"/>
              </a:ext>
            </a:extLst>
          </p:cNvPr>
          <p:cNvSpPr txBox="1"/>
          <p:nvPr/>
        </p:nvSpPr>
        <p:spPr>
          <a:xfrm>
            <a:off x="1009889" y="1084636"/>
            <a:ext cx="10472195" cy="461665"/>
          </a:xfrm>
          <a:prstGeom prst="rect">
            <a:avLst/>
          </a:prstGeom>
          <a:noFill/>
        </p:spPr>
        <p:txBody>
          <a:bodyPr wrap="square">
            <a:spAutoFit/>
          </a:bodyPr>
          <a:lstStyle/>
          <a:p>
            <a:r>
              <a:rPr lang="en-US" sz="2400" b="1" i="1" dirty="0"/>
              <a:t>Why Early Detection of Lung Cancer in Non-Smokers Needs a New Approach ?</a:t>
            </a:r>
            <a:endParaRPr lang="en-IN" sz="2400" b="1" i="1" dirty="0"/>
          </a:p>
        </p:txBody>
      </p:sp>
      <p:sp>
        <p:nvSpPr>
          <p:cNvPr id="7" name="TextBox 6">
            <a:extLst>
              <a:ext uri="{FF2B5EF4-FFF2-40B4-BE49-F238E27FC236}">
                <a16:creationId xmlns:a16="http://schemas.microsoft.com/office/drawing/2014/main" id="{BC103DE7-348D-1C17-36D8-4A4EEF5356FC}"/>
              </a:ext>
            </a:extLst>
          </p:cNvPr>
          <p:cNvSpPr txBox="1"/>
          <p:nvPr/>
        </p:nvSpPr>
        <p:spPr>
          <a:xfrm>
            <a:off x="332621" y="1782395"/>
            <a:ext cx="5763375" cy="2462213"/>
          </a:xfrm>
          <a:prstGeom prst="rect">
            <a:avLst/>
          </a:prstGeom>
          <a:noFill/>
        </p:spPr>
        <p:txBody>
          <a:bodyPr wrap="square">
            <a:spAutoFit/>
          </a:bodyPr>
          <a:lstStyle/>
          <a:p>
            <a:pPr>
              <a:lnSpc>
                <a:spcPct val="150000"/>
              </a:lnSpc>
              <a:buNone/>
            </a:pPr>
            <a:r>
              <a:rPr lang="en-US" sz="2000" b="1" dirty="0"/>
              <a:t>Current Problem:</a:t>
            </a:r>
          </a:p>
          <a:p>
            <a:pPr marL="285750" indent="-285750">
              <a:lnSpc>
                <a:spcPct val="150000"/>
              </a:lnSpc>
              <a:buFont typeface="Arial" panose="020B0604020202020204" pitchFamily="34" charset="0"/>
              <a:buChar char="•"/>
            </a:pPr>
            <a:r>
              <a:rPr lang="en-US" sz="1600" dirty="0"/>
              <a:t>Lung cancer in never-smokers is rising</a:t>
            </a:r>
          </a:p>
          <a:p>
            <a:endParaRPr lang="en-US" sz="1600" dirty="0"/>
          </a:p>
          <a:p>
            <a:pPr marL="285750" indent="-285750">
              <a:buFont typeface="Arial" panose="020B0604020202020204" pitchFamily="34" charset="0"/>
              <a:buChar char="•"/>
            </a:pPr>
            <a:r>
              <a:rPr lang="en-US" sz="1600" dirty="0"/>
              <a:t>Often diagnosed late due to non-specific symptoms</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Existing screening tools don’t target non-smokers</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Lack of early, personalized detection methods</a:t>
            </a:r>
          </a:p>
        </p:txBody>
      </p:sp>
      <p:sp>
        <p:nvSpPr>
          <p:cNvPr id="16" name="TextBox 15">
            <a:extLst>
              <a:ext uri="{FF2B5EF4-FFF2-40B4-BE49-F238E27FC236}">
                <a16:creationId xmlns:a16="http://schemas.microsoft.com/office/drawing/2014/main" id="{F9B1E0E6-F305-0DC7-1ACB-F20CB908C68E}"/>
              </a:ext>
            </a:extLst>
          </p:cNvPr>
          <p:cNvSpPr txBox="1"/>
          <p:nvPr/>
        </p:nvSpPr>
        <p:spPr>
          <a:xfrm>
            <a:off x="332621" y="4605915"/>
            <a:ext cx="6094070" cy="461665"/>
          </a:xfrm>
          <a:prstGeom prst="rect">
            <a:avLst/>
          </a:prstGeom>
          <a:noFill/>
        </p:spPr>
        <p:txBody>
          <a:bodyPr wrap="square">
            <a:spAutoFit/>
          </a:bodyPr>
          <a:lstStyle/>
          <a:p>
            <a:r>
              <a:rPr lang="en-IN" sz="2400" b="1" dirty="0"/>
              <a:t>Our Direction</a:t>
            </a:r>
          </a:p>
        </p:txBody>
      </p:sp>
      <p:sp>
        <p:nvSpPr>
          <p:cNvPr id="17" name="Rectangle: Rounded Corners 16">
            <a:extLst>
              <a:ext uri="{FF2B5EF4-FFF2-40B4-BE49-F238E27FC236}">
                <a16:creationId xmlns:a16="http://schemas.microsoft.com/office/drawing/2014/main" id="{1380B799-87A1-2E29-F19B-E86292D05489}"/>
              </a:ext>
            </a:extLst>
          </p:cNvPr>
          <p:cNvSpPr/>
          <p:nvPr/>
        </p:nvSpPr>
        <p:spPr>
          <a:xfrm>
            <a:off x="471108" y="5203179"/>
            <a:ext cx="1901702" cy="42321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t>Agentic AI</a:t>
            </a:r>
          </a:p>
        </p:txBody>
      </p:sp>
      <p:sp>
        <p:nvSpPr>
          <p:cNvPr id="18" name="Rectangle: Rounded Corners 17">
            <a:extLst>
              <a:ext uri="{FF2B5EF4-FFF2-40B4-BE49-F238E27FC236}">
                <a16:creationId xmlns:a16="http://schemas.microsoft.com/office/drawing/2014/main" id="{A598AF04-5928-6CF9-9645-E9A51D09A09F}"/>
              </a:ext>
            </a:extLst>
          </p:cNvPr>
          <p:cNvSpPr/>
          <p:nvPr/>
        </p:nvSpPr>
        <p:spPr>
          <a:xfrm>
            <a:off x="2940251" y="5176821"/>
            <a:ext cx="2370015" cy="43747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t>Genomic Profiling</a:t>
            </a:r>
          </a:p>
        </p:txBody>
      </p:sp>
      <p:sp>
        <p:nvSpPr>
          <p:cNvPr id="19" name="Rectangle: Rounded Corners 18">
            <a:extLst>
              <a:ext uri="{FF2B5EF4-FFF2-40B4-BE49-F238E27FC236}">
                <a16:creationId xmlns:a16="http://schemas.microsoft.com/office/drawing/2014/main" id="{96D379F1-0A44-162A-9944-BD5FA6DBE3E1}"/>
              </a:ext>
            </a:extLst>
          </p:cNvPr>
          <p:cNvSpPr/>
          <p:nvPr/>
        </p:nvSpPr>
        <p:spPr>
          <a:xfrm>
            <a:off x="5877707" y="5164727"/>
            <a:ext cx="2103797" cy="46166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t>Clinical Notes</a:t>
            </a:r>
          </a:p>
        </p:txBody>
      </p:sp>
      <p:sp>
        <p:nvSpPr>
          <p:cNvPr id="25" name="TextBox 24">
            <a:extLst>
              <a:ext uri="{FF2B5EF4-FFF2-40B4-BE49-F238E27FC236}">
                <a16:creationId xmlns:a16="http://schemas.microsoft.com/office/drawing/2014/main" id="{10944E2A-4BDF-CB1A-D7D6-7A8E08C9ABC0}"/>
              </a:ext>
            </a:extLst>
          </p:cNvPr>
          <p:cNvSpPr txBox="1"/>
          <p:nvPr/>
        </p:nvSpPr>
        <p:spPr>
          <a:xfrm>
            <a:off x="8435049" y="5771915"/>
            <a:ext cx="6094070" cy="400110"/>
          </a:xfrm>
          <a:prstGeom prst="rect">
            <a:avLst/>
          </a:prstGeom>
          <a:noFill/>
        </p:spPr>
        <p:txBody>
          <a:bodyPr wrap="square">
            <a:spAutoFit/>
          </a:bodyPr>
          <a:lstStyle/>
          <a:p>
            <a:r>
              <a:rPr lang="en-IN" sz="2000" b="1" dirty="0"/>
              <a:t>Explainable Early Detection</a:t>
            </a:r>
          </a:p>
        </p:txBody>
      </p:sp>
      <p:pic>
        <p:nvPicPr>
          <p:cNvPr id="27" name="Picture 26">
            <a:extLst>
              <a:ext uri="{FF2B5EF4-FFF2-40B4-BE49-F238E27FC236}">
                <a16:creationId xmlns:a16="http://schemas.microsoft.com/office/drawing/2014/main" id="{E8B48D90-D630-0207-B8F1-DF6764D00BFD}"/>
              </a:ext>
            </a:extLst>
          </p:cNvPr>
          <p:cNvPicPr>
            <a:picLocks noChangeAspect="1"/>
          </p:cNvPicPr>
          <p:nvPr/>
        </p:nvPicPr>
        <p:blipFill>
          <a:blip r:embed="rId3"/>
          <a:stretch>
            <a:fillRect/>
          </a:stretch>
        </p:blipFill>
        <p:spPr>
          <a:xfrm>
            <a:off x="9324399" y="4557538"/>
            <a:ext cx="1214377" cy="1214377"/>
          </a:xfrm>
          <a:prstGeom prst="rect">
            <a:avLst/>
          </a:prstGeom>
        </p:spPr>
      </p:pic>
      <p:pic>
        <p:nvPicPr>
          <p:cNvPr id="33" name="Picture 32">
            <a:extLst>
              <a:ext uri="{FF2B5EF4-FFF2-40B4-BE49-F238E27FC236}">
                <a16:creationId xmlns:a16="http://schemas.microsoft.com/office/drawing/2014/main" id="{8F762ADE-4545-918B-436D-760E237D02CC}"/>
              </a:ext>
            </a:extLst>
          </p:cNvPr>
          <p:cNvPicPr>
            <a:picLocks noChangeAspect="1"/>
          </p:cNvPicPr>
          <p:nvPr/>
        </p:nvPicPr>
        <p:blipFill>
          <a:blip r:embed="rId4"/>
          <a:stretch>
            <a:fillRect/>
          </a:stretch>
        </p:blipFill>
        <p:spPr>
          <a:xfrm>
            <a:off x="5704022" y="2139583"/>
            <a:ext cx="5276850" cy="2105025"/>
          </a:xfrm>
          <a:prstGeom prst="rect">
            <a:avLst/>
          </a:prstGeom>
        </p:spPr>
      </p:pic>
      <p:sp>
        <p:nvSpPr>
          <p:cNvPr id="37" name="TextBox 36">
            <a:extLst>
              <a:ext uri="{FF2B5EF4-FFF2-40B4-BE49-F238E27FC236}">
                <a16:creationId xmlns:a16="http://schemas.microsoft.com/office/drawing/2014/main" id="{B45EC87E-16CC-089F-CE52-D42728F4B8F4}"/>
              </a:ext>
            </a:extLst>
          </p:cNvPr>
          <p:cNvSpPr txBox="1"/>
          <p:nvPr/>
        </p:nvSpPr>
        <p:spPr>
          <a:xfrm>
            <a:off x="5877707" y="2107839"/>
            <a:ext cx="7320986" cy="1993110"/>
          </a:xfrm>
          <a:prstGeom prst="rect">
            <a:avLst/>
          </a:prstGeom>
          <a:noFill/>
        </p:spPr>
        <p:txBody>
          <a:bodyPr wrap="square">
            <a:spAutoFit/>
          </a:bodyPr>
          <a:lstStyle/>
          <a:p>
            <a:pPr marL="0" algn="l" rtl="0" eaLnBrk="1" latinLnBrk="0" hangingPunct="1">
              <a:lnSpc>
                <a:spcPct val="150000"/>
              </a:lnSpc>
              <a:buNone/>
            </a:pPr>
            <a:r>
              <a:rPr lang="en-US" sz="2000" b="1" kern="1200" dirty="0">
                <a:solidFill>
                  <a:srgbClr val="000000"/>
                </a:solidFill>
                <a:effectLst/>
                <a:latin typeface="Calibri" panose="020F0502020204030204" pitchFamily="34" charset="0"/>
                <a:ea typeface="+mn-ea"/>
                <a:cs typeface="+mn-cs"/>
              </a:rPr>
              <a:t>Why This Matters</a:t>
            </a:r>
            <a:endParaRPr lang="en-IN" sz="1600" dirty="0">
              <a:effectLst/>
            </a:endParaRPr>
          </a:p>
          <a:p>
            <a:pPr marL="285750" indent="-285750" algn="l" rtl="0" eaLnBrk="1" latinLnBrk="0" hangingPunct="1">
              <a:lnSpc>
                <a:spcPct val="150000"/>
              </a:lnSpc>
              <a:buFont typeface="Arial" panose="020B0604020202020204" pitchFamily="34" charset="0"/>
              <a:buChar char="•"/>
            </a:pPr>
            <a:r>
              <a:rPr lang="en-US" sz="1600" kern="1200" dirty="0">
                <a:solidFill>
                  <a:srgbClr val="000000"/>
                </a:solidFill>
                <a:effectLst/>
                <a:latin typeface="Calibri" panose="020F0502020204030204" pitchFamily="34" charset="0"/>
                <a:ea typeface="+mn-ea"/>
                <a:cs typeface="+mn-cs"/>
              </a:rPr>
              <a:t>Clinical notes contains unnoticed early clues</a:t>
            </a:r>
            <a:endParaRPr lang="en-IN" sz="1600" dirty="0">
              <a:effectLst/>
            </a:endParaRPr>
          </a:p>
          <a:p>
            <a:pPr marL="285750" indent="-285750" algn="l" rtl="0" eaLnBrk="1" latinLnBrk="0" hangingPunct="1">
              <a:lnSpc>
                <a:spcPct val="150000"/>
              </a:lnSpc>
              <a:buFont typeface="Arial" panose="020B0604020202020204" pitchFamily="34" charset="0"/>
              <a:buChar char="•"/>
            </a:pPr>
            <a:r>
              <a:rPr lang="en-US" sz="1600" kern="1200" dirty="0">
                <a:solidFill>
                  <a:srgbClr val="000000"/>
                </a:solidFill>
                <a:effectLst/>
                <a:latin typeface="Calibri" panose="020F0502020204030204" pitchFamily="34" charset="0"/>
                <a:ea typeface="+mn-ea"/>
                <a:cs typeface="+mn-cs"/>
              </a:rPr>
              <a:t>Genomic data offers biomarker potential</a:t>
            </a:r>
            <a:endParaRPr lang="en-IN" sz="1600" dirty="0">
              <a:effectLst/>
            </a:endParaRPr>
          </a:p>
          <a:p>
            <a:pPr marL="285750" indent="-285750" algn="l" rtl="0" eaLnBrk="1" latinLnBrk="0" hangingPunct="1">
              <a:lnSpc>
                <a:spcPct val="150000"/>
              </a:lnSpc>
              <a:buFont typeface="Arial" panose="020B0604020202020204" pitchFamily="34" charset="0"/>
              <a:buChar char="•"/>
            </a:pPr>
            <a:r>
              <a:rPr lang="en-US" sz="1600" kern="1200" dirty="0">
                <a:solidFill>
                  <a:srgbClr val="000000"/>
                </a:solidFill>
                <a:effectLst/>
                <a:latin typeface="Calibri" panose="020F0502020204030204" pitchFamily="34" charset="0"/>
                <a:ea typeface="+mn-ea"/>
                <a:cs typeface="+mn-cs"/>
              </a:rPr>
              <a:t>Manual review is slow → AI agents can scale &amp; reason</a:t>
            </a:r>
            <a:endParaRPr lang="en-IN" sz="1600" dirty="0">
              <a:effectLst/>
            </a:endParaRPr>
          </a:p>
          <a:p>
            <a:pPr marL="285750" indent="-285750" algn="l" rtl="0" eaLnBrk="1" latinLnBrk="0" hangingPunct="1">
              <a:lnSpc>
                <a:spcPct val="150000"/>
              </a:lnSpc>
              <a:buFont typeface="Arial" panose="020B0604020202020204" pitchFamily="34" charset="0"/>
              <a:buChar char="•"/>
            </a:pPr>
            <a:r>
              <a:rPr lang="en-US" sz="1600" kern="1200" dirty="0">
                <a:solidFill>
                  <a:srgbClr val="000000"/>
                </a:solidFill>
                <a:effectLst/>
                <a:latin typeface="Calibri" panose="020F0502020204030204" pitchFamily="34" charset="0"/>
                <a:ea typeface="+mn-ea"/>
                <a:cs typeface="+mn-cs"/>
              </a:rPr>
              <a:t>Early detection = better survival, less invasive treatment</a:t>
            </a:r>
            <a:endParaRPr lang="en-IN" sz="1600" dirty="0">
              <a:effectLst/>
            </a:endParaRPr>
          </a:p>
        </p:txBody>
      </p:sp>
      <p:pic>
        <p:nvPicPr>
          <p:cNvPr id="39" name="Picture 38">
            <a:extLst>
              <a:ext uri="{FF2B5EF4-FFF2-40B4-BE49-F238E27FC236}">
                <a16:creationId xmlns:a16="http://schemas.microsoft.com/office/drawing/2014/main" id="{2C765C9C-C67A-58BF-841E-8BEAB81DE372}"/>
              </a:ext>
            </a:extLst>
          </p:cNvPr>
          <p:cNvPicPr>
            <a:picLocks noChangeAspect="1"/>
          </p:cNvPicPr>
          <p:nvPr/>
        </p:nvPicPr>
        <p:blipFill>
          <a:blip r:embed="rId5"/>
          <a:stretch>
            <a:fillRect/>
          </a:stretch>
        </p:blipFill>
        <p:spPr>
          <a:xfrm>
            <a:off x="2519542" y="5291727"/>
            <a:ext cx="274320" cy="274320"/>
          </a:xfrm>
          <a:prstGeom prst="rect">
            <a:avLst/>
          </a:prstGeom>
        </p:spPr>
      </p:pic>
      <p:pic>
        <p:nvPicPr>
          <p:cNvPr id="40" name="Picture 39">
            <a:extLst>
              <a:ext uri="{FF2B5EF4-FFF2-40B4-BE49-F238E27FC236}">
                <a16:creationId xmlns:a16="http://schemas.microsoft.com/office/drawing/2014/main" id="{F277D893-5EB4-68F8-9CBC-7DA10F871BE2}"/>
              </a:ext>
            </a:extLst>
          </p:cNvPr>
          <p:cNvPicPr>
            <a:picLocks noChangeAspect="1"/>
          </p:cNvPicPr>
          <p:nvPr/>
        </p:nvPicPr>
        <p:blipFill>
          <a:blip r:embed="rId5"/>
          <a:stretch>
            <a:fillRect/>
          </a:stretch>
        </p:blipFill>
        <p:spPr>
          <a:xfrm>
            <a:off x="5456655" y="5303759"/>
            <a:ext cx="274320" cy="274320"/>
          </a:xfrm>
          <a:prstGeom prst="rect">
            <a:avLst/>
          </a:prstGeom>
        </p:spPr>
      </p:pic>
      <p:pic>
        <p:nvPicPr>
          <p:cNvPr id="42" name="Picture 41">
            <a:extLst>
              <a:ext uri="{FF2B5EF4-FFF2-40B4-BE49-F238E27FC236}">
                <a16:creationId xmlns:a16="http://schemas.microsoft.com/office/drawing/2014/main" id="{23068E38-774A-A017-D3B1-F3DAEC68411A}"/>
              </a:ext>
            </a:extLst>
          </p:cNvPr>
          <p:cNvPicPr>
            <a:picLocks noChangeAspect="1"/>
          </p:cNvPicPr>
          <p:nvPr/>
        </p:nvPicPr>
        <p:blipFill>
          <a:blip r:embed="rId6">
            <a:extLst>
              <a:ext uri="{BEBA8EAE-BF5A-486C-A8C5-ECC9F3942E4B}">
                <a14:imgProps xmlns:a14="http://schemas.microsoft.com/office/drawing/2010/main">
                  <a14:imgLayer r:embed="rId7">
                    <a14:imgEffect>
                      <a14:colorTemperature colorTemp="11200"/>
                    </a14:imgEffect>
                    <a14:imgEffect>
                      <a14:saturation sat="66000"/>
                    </a14:imgEffect>
                  </a14:imgLayer>
                </a14:imgProps>
              </a:ext>
            </a:extLst>
          </a:blip>
          <a:stretch>
            <a:fillRect/>
          </a:stretch>
        </p:blipFill>
        <p:spPr>
          <a:xfrm>
            <a:off x="8202068" y="5275076"/>
            <a:ext cx="307622" cy="307622"/>
          </a:xfrm>
          <a:prstGeom prst="rect">
            <a:avLst/>
          </a:prstGeom>
        </p:spPr>
      </p:pic>
      <p:sp>
        <p:nvSpPr>
          <p:cNvPr id="4" name="Freeform 2">
            <a:extLst>
              <a:ext uri="{FF2B5EF4-FFF2-40B4-BE49-F238E27FC236}">
                <a16:creationId xmlns:a16="http://schemas.microsoft.com/office/drawing/2014/main" id="{F58F6412-1F51-2884-49CC-B89C3008F21C}"/>
              </a:ext>
            </a:extLst>
          </p:cNvPr>
          <p:cNvSpPr/>
          <p:nvPr/>
        </p:nvSpPr>
        <p:spPr>
          <a:xfrm>
            <a:off x="9149374" y="208336"/>
            <a:ext cx="2778804" cy="876300"/>
          </a:xfrm>
          <a:custGeom>
            <a:avLst/>
            <a:gdLst/>
            <a:ahLst/>
            <a:cxnLst/>
            <a:rect l="l" t="t" r="r" b="b"/>
            <a:pathLst>
              <a:path w="4181470" h="1517647">
                <a:moveTo>
                  <a:pt x="0" y="0"/>
                </a:moveTo>
                <a:lnTo>
                  <a:pt x="4181470" y="0"/>
                </a:lnTo>
                <a:lnTo>
                  <a:pt x="4181470" y="1517646"/>
                </a:lnTo>
                <a:lnTo>
                  <a:pt x="0" y="1517646"/>
                </a:lnTo>
                <a:lnTo>
                  <a:pt x="0" y="0"/>
                </a:lnTo>
                <a:close/>
              </a:path>
            </a:pathLst>
          </a:custGeom>
          <a:blipFill>
            <a:blip r:embed="rId8">
              <a:alphaModFix amt="76000"/>
            </a:blip>
            <a:stretch>
              <a:fillRect t="-13733" b="-13733"/>
            </a:stretch>
          </a:blipFill>
        </p:spPr>
      </p:sp>
    </p:spTree>
    <p:extLst>
      <p:ext uri="{BB962C8B-B14F-4D97-AF65-F5344CB8AC3E}">
        <p14:creationId xmlns:p14="http://schemas.microsoft.com/office/powerpoint/2010/main" val="33854070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88B4528-12FE-0734-5FAE-0E9EB2D448E6}"/>
              </a:ext>
            </a:extLst>
          </p:cNvPr>
          <p:cNvSpPr>
            <a:spLocks noGrp="1"/>
          </p:cNvSpPr>
          <p:nvPr>
            <p:ph type="sldNum" sz="quarter" idx="12"/>
          </p:nvPr>
        </p:nvSpPr>
        <p:spPr/>
        <p:txBody>
          <a:bodyPr/>
          <a:lstStyle/>
          <a:p>
            <a:fld id="{ECBCDBC5-4E49-49CB-B926-A54925945C9F}" type="slidenum">
              <a:rPr lang="en-IN" smtClean="0"/>
              <a:t>3</a:t>
            </a:fld>
            <a:endParaRPr lang="en-IN"/>
          </a:p>
        </p:txBody>
      </p:sp>
      <p:sp>
        <p:nvSpPr>
          <p:cNvPr id="3" name="Title 5">
            <a:extLst>
              <a:ext uri="{FF2B5EF4-FFF2-40B4-BE49-F238E27FC236}">
                <a16:creationId xmlns:a16="http://schemas.microsoft.com/office/drawing/2014/main" id="{8E662C43-6FA4-BB2D-83ED-BA9F117C6775}"/>
              </a:ext>
            </a:extLst>
          </p:cNvPr>
          <p:cNvSpPr txBox="1">
            <a:spLocks/>
          </p:cNvSpPr>
          <p:nvPr/>
        </p:nvSpPr>
        <p:spPr>
          <a:xfrm>
            <a:off x="332621" y="308832"/>
            <a:ext cx="11263311" cy="87629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latin typeface="Garamond" panose="02020404030301010803" pitchFamily="18" charset="0"/>
              </a:rPr>
              <a:t>Project Objectives</a:t>
            </a:r>
            <a:endParaRPr lang="en-US" dirty="0">
              <a:latin typeface="Garamond" panose="02020404030301010803" pitchFamily="18" charset="0"/>
            </a:endParaRPr>
          </a:p>
        </p:txBody>
      </p:sp>
      <p:sp>
        <p:nvSpPr>
          <p:cNvPr id="19" name="Rectangle: Rounded Corners 18">
            <a:extLst>
              <a:ext uri="{FF2B5EF4-FFF2-40B4-BE49-F238E27FC236}">
                <a16:creationId xmlns:a16="http://schemas.microsoft.com/office/drawing/2014/main" id="{6EFDAF50-AC8E-19BC-22C7-9C53B680BE08}"/>
              </a:ext>
            </a:extLst>
          </p:cNvPr>
          <p:cNvSpPr/>
          <p:nvPr/>
        </p:nvSpPr>
        <p:spPr>
          <a:xfrm>
            <a:off x="237958" y="1801993"/>
            <a:ext cx="6460177" cy="3635532"/>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B249577A-2FB2-AD76-3F09-26482FB36238}"/>
              </a:ext>
            </a:extLst>
          </p:cNvPr>
          <p:cNvSpPr txBox="1"/>
          <p:nvPr/>
        </p:nvSpPr>
        <p:spPr>
          <a:xfrm>
            <a:off x="332621" y="1913031"/>
            <a:ext cx="8371990" cy="3083921"/>
          </a:xfrm>
          <a:prstGeom prst="rect">
            <a:avLst/>
          </a:prstGeom>
          <a:noFill/>
        </p:spPr>
        <p:txBody>
          <a:bodyPr wrap="square">
            <a:spAutoFit/>
          </a:bodyPr>
          <a:lstStyle/>
          <a:p>
            <a:pPr marL="342900" indent="-342900">
              <a:lnSpc>
                <a:spcPct val="200000"/>
              </a:lnSpc>
              <a:buFont typeface="Wingdings" panose="05000000000000000000" pitchFamily="2" charset="2"/>
              <a:buChar char="Ø"/>
            </a:pPr>
            <a:r>
              <a:rPr lang="en-US" sz="2000" dirty="0"/>
              <a:t>Enable </a:t>
            </a:r>
            <a:r>
              <a:rPr lang="en-US" sz="2000" b="1" dirty="0"/>
              <a:t>early detection </a:t>
            </a:r>
            <a:r>
              <a:rPr lang="en-US" sz="2000" dirty="0"/>
              <a:t>of lung cancer in never-smokers.</a:t>
            </a:r>
          </a:p>
          <a:p>
            <a:pPr marL="342900" indent="-342900">
              <a:lnSpc>
                <a:spcPct val="200000"/>
              </a:lnSpc>
              <a:buFont typeface="Wingdings" panose="05000000000000000000" pitchFamily="2" charset="2"/>
              <a:buChar char="Ø"/>
            </a:pPr>
            <a:r>
              <a:rPr lang="en-US" sz="2000" dirty="0"/>
              <a:t>Map </a:t>
            </a:r>
            <a:r>
              <a:rPr lang="en-US" sz="2000" b="1" dirty="0"/>
              <a:t>clinical symptoms </a:t>
            </a:r>
            <a:r>
              <a:rPr lang="en-US" sz="2000" dirty="0"/>
              <a:t>to relevant lung cancer genes.</a:t>
            </a:r>
          </a:p>
          <a:p>
            <a:pPr marL="342900" indent="-342900">
              <a:lnSpc>
                <a:spcPct val="200000"/>
              </a:lnSpc>
              <a:buFont typeface="Wingdings" panose="05000000000000000000" pitchFamily="2" charset="2"/>
              <a:buChar char="Ø"/>
            </a:pPr>
            <a:r>
              <a:rPr lang="en-US" sz="2000" dirty="0"/>
              <a:t>Build </a:t>
            </a:r>
            <a:r>
              <a:rPr lang="en-US" sz="2000" b="1" dirty="0"/>
              <a:t>interpretable</a:t>
            </a:r>
            <a:r>
              <a:rPr lang="en-US" sz="2000" dirty="0"/>
              <a:t> and </a:t>
            </a:r>
            <a:r>
              <a:rPr lang="en-US" sz="2000" b="1" dirty="0"/>
              <a:t>explainable AI </a:t>
            </a:r>
            <a:r>
              <a:rPr lang="en-US" sz="2000" dirty="0"/>
              <a:t>models.</a:t>
            </a:r>
          </a:p>
          <a:p>
            <a:pPr marL="342900" indent="-342900">
              <a:lnSpc>
                <a:spcPct val="200000"/>
              </a:lnSpc>
              <a:buFont typeface="Wingdings" panose="05000000000000000000" pitchFamily="2" charset="2"/>
              <a:buChar char="Ø"/>
            </a:pPr>
            <a:r>
              <a:rPr lang="en-US" sz="2000" dirty="0"/>
              <a:t>Integrate </a:t>
            </a:r>
            <a:r>
              <a:rPr lang="en-US" sz="2000" b="1" dirty="0"/>
              <a:t>clinical notes </a:t>
            </a:r>
            <a:r>
              <a:rPr lang="en-US" sz="2000" dirty="0"/>
              <a:t>and </a:t>
            </a:r>
            <a:r>
              <a:rPr lang="en-US" sz="2000" b="1" dirty="0"/>
              <a:t>genomic data </a:t>
            </a:r>
            <a:r>
              <a:rPr lang="en-US" sz="2000" dirty="0"/>
              <a:t>for prediction.</a:t>
            </a:r>
          </a:p>
          <a:p>
            <a:pPr marL="342900" indent="-342900">
              <a:lnSpc>
                <a:spcPct val="200000"/>
              </a:lnSpc>
              <a:buFont typeface="Wingdings" panose="05000000000000000000" pitchFamily="2" charset="2"/>
              <a:buChar char="Ø"/>
            </a:pPr>
            <a:r>
              <a:rPr lang="en-US" sz="2000" dirty="0"/>
              <a:t>Automate the workflow using </a:t>
            </a:r>
            <a:r>
              <a:rPr lang="en-US" sz="2000" b="1" dirty="0"/>
              <a:t>agentic AI </a:t>
            </a:r>
            <a:r>
              <a:rPr lang="en-US" sz="2000" dirty="0"/>
              <a:t>tools.</a:t>
            </a:r>
            <a:endParaRPr lang="en-IN" sz="2000" dirty="0"/>
          </a:p>
        </p:txBody>
      </p:sp>
      <p:sp>
        <p:nvSpPr>
          <p:cNvPr id="13" name="TextBox 12">
            <a:extLst>
              <a:ext uri="{FF2B5EF4-FFF2-40B4-BE49-F238E27FC236}">
                <a16:creationId xmlns:a16="http://schemas.microsoft.com/office/drawing/2014/main" id="{B0E4DEF9-9F92-87C5-9E5B-18354372A89D}"/>
              </a:ext>
            </a:extLst>
          </p:cNvPr>
          <p:cNvSpPr txBox="1"/>
          <p:nvPr/>
        </p:nvSpPr>
        <p:spPr>
          <a:xfrm>
            <a:off x="7560954" y="3738836"/>
            <a:ext cx="3275512" cy="307777"/>
          </a:xfrm>
          <a:prstGeom prst="rect">
            <a:avLst/>
          </a:prstGeom>
          <a:noFill/>
        </p:spPr>
        <p:txBody>
          <a:bodyPr wrap="none" rtlCol="0">
            <a:spAutoFit/>
          </a:bodyPr>
          <a:lstStyle/>
          <a:p>
            <a:r>
              <a:rPr lang="en-IN" sz="1400" dirty="0"/>
              <a:t>Source: </a:t>
            </a:r>
            <a:r>
              <a:rPr lang="en-US" sz="1400" dirty="0">
                <a:hlinkClick r:id="rId2"/>
              </a:rPr>
              <a:t>Journal of Thoracic Oncology 2022</a:t>
            </a:r>
            <a:endParaRPr lang="en-IN" sz="1400" dirty="0"/>
          </a:p>
        </p:txBody>
      </p:sp>
      <p:pic>
        <p:nvPicPr>
          <p:cNvPr id="17" name="Picture 16">
            <a:extLst>
              <a:ext uri="{FF2B5EF4-FFF2-40B4-BE49-F238E27FC236}">
                <a16:creationId xmlns:a16="http://schemas.microsoft.com/office/drawing/2014/main" id="{17A3C05F-E4E4-480C-15A7-FC669B3BB4A9}"/>
              </a:ext>
            </a:extLst>
          </p:cNvPr>
          <p:cNvPicPr>
            <a:picLocks noChangeAspect="1"/>
          </p:cNvPicPr>
          <p:nvPr/>
        </p:nvPicPr>
        <p:blipFill>
          <a:blip r:embed="rId3"/>
          <a:stretch>
            <a:fillRect/>
          </a:stretch>
        </p:blipFill>
        <p:spPr>
          <a:xfrm>
            <a:off x="7006051" y="1262731"/>
            <a:ext cx="4120625" cy="2357028"/>
          </a:xfrm>
          <a:prstGeom prst="rect">
            <a:avLst/>
          </a:prstGeom>
        </p:spPr>
      </p:pic>
      <p:sp>
        <p:nvSpPr>
          <p:cNvPr id="20" name="Freeform 4">
            <a:extLst>
              <a:ext uri="{FF2B5EF4-FFF2-40B4-BE49-F238E27FC236}">
                <a16:creationId xmlns:a16="http://schemas.microsoft.com/office/drawing/2014/main" id="{455D44A8-4CE8-810E-DD9D-093FC6A3693F}"/>
              </a:ext>
            </a:extLst>
          </p:cNvPr>
          <p:cNvSpPr/>
          <p:nvPr/>
        </p:nvSpPr>
        <p:spPr>
          <a:xfrm>
            <a:off x="7245584" y="4169872"/>
            <a:ext cx="3906252" cy="2186478"/>
          </a:xfrm>
          <a:custGeom>
            <a:avLst/>
            <a:gdLst/>
            <a:ahLst/>
            <a:cxnLst/>
            <a:rect l="l" t="t" r="r" b="b"/>
            <a:pathLst>
              <a:path w="5465439" h="3463168">
                <a:moveTo>
                  <a:pt x="0" y="0"/>
                </a:moveTo>
                <a:lnTo>
                  <a:pt x="5465439" y="0"/>
                </a:lnTo>
                <a:lnTo>
                  <a:pt x="5465439" y="3463168"/>
                </a:lnTo>
                <a:lnTo>
                  <a:pt x="0" y="3463168"/>
                </a:lnTo>
                <a:lnTo>
                  <a:pt x="0" y="0"/>
                </a:lnTo>
                <a:close/>
              </a:path>
            </a:pathLst>
          </a:custGeom>
          <a:blipFill>
            <a:blip r:embed="rId4"/>
            <a:stretch>
              <a:fillRect l="-2136"/>
            </a:stretch>
          </a:blipFill>
        </p:spPr>
      </p:sp>
      <p:sp>
        <p:nvSpPr>
          <p:cNvPr id="4" name="Freeform 2">
            <a:extLst>
              <a:ext uri="{FF2B5EF4-FFF2-40B4-BE49-F238E27FC236}">
                <a16:creationId xmlns:a16="http://schemas.microsoft.com/office/drawing/2014/main" id="{0D7DDF93-383B-92A5-6F0D-6A0B7AB9C129}"/>
              </a:ext>
            </a:extLst>
          </p:cNvPr>
          <p:cNvSpPr/>
          <p:nvPr/>
        </p:nvSpPr>
        <p:spPr>
          <a:xfrm>
            <a:off x="9149374" y="208336"/>
            <a:ext cx="2778804" cy="876300"/>
          </a:xfrm>
          <a:custGeom>
            <a:avLst/>
            <a:gdLst/>
            <a:ahLst/>
            <a:cxnLst/>
            <a:rect l="l" t="t" r="r" b="b"/>
            <a:pathLst>
              <a:path w="4181470" h="1517647">
                <a:moveTo>
                  <a:pt x="0" y="0"/>
                </a:moveTo>
                <a:lnTo>
                  <a:pt x="4181470" y="0"/>
                </a:lnTo>
                <a:lnTo>
                  <a:pt x="4181470" y="1517646"/>
                </a:lnTo>
                <a:lnTo>
                  <a:pt x="0" y="1517646"/>
                </a:lnTo>
                <a:lnTo>
                  <a:pt x="0" y="0"/>
                </a:lnTo>
                <a:close/>
              </a:path>
            </a:pathLst>
          </a:custGeom>
          <a:blipFill>
            <a:blip r:embed="rId5">
              <a:alphaModFix amt="76000"/>
            </a:blip>
            <a:stretch>
              <a:fillRect t="-13733" b="-13733"/>
            </a:stretch>
          </a:blipFill>
        </p:spPr>
      </p:sp>
    </p:spTree>
    <p:extLst>
      <p:ext uri="{BB962C8B-B14F-4D97-AF65-F5344CB8AC3E}">
        <p14:creationId xmlns:p14="http://schemas.microsoft.com/office/powerpoint/2010/main" val="31226105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575AE9A-75A1-8747-4976-C16C9074478B}"/>
              </a:ext>
            </a:extLst>
          </p:cNvPr>
          <p:cNvSpPr>
            <a:spLocks noGrp="1"/>
          </p:cNvSpPr>
          <p:nvPr>
            <p:ph type="sldNum" sz="quarter" idx="12"/>
          </p:nvPr>
        </p:nvSpPr>
        <p:spPr/>
        <p:txBody>
          <a:bodyPr/>
          <a:lstStyle/>
          <a:p>
            <a:fld id="{ECBCDBC5-4E49-49CB-B926-A54925945C9F}" type="slidenum">
              <a:rPr lang="en-IN" smtClean="0"/>
              <a:t>4</a:t>
            </a:fld>
            <a:endParaRPr lang="en-IN"/>
          </a:p>
        </p:txBody>
      </p:sp>
      <p:sp>
        <p:nvSpPr>
          <p:cNvPr id="3" name="Title 5">
            <a:extLst>
              <a:ext uri="{FF2B5EF4-FFF2-40B4-BE49-F238E27FC236}">
                <a16:creationId xmlns:a16="http://schemas.microsoft.com/office/drawing/2014/main" id="{35D9DC52-92F3-5297-D4A2-F5C17D768DD0}"/>
              </a:ext>
            </a:extLst>
          </p:cNvPr>
          <p:cNvSpPr txBox="1">
            <a:spLocks/>
          </p:cNvSpPr>
          <p:nvPr/>
        </p:nvSpPr>
        <p:spPr>
          <a:xfrm>
            <a:off x="332621" y="308832"/>
            <a:ext cx="11263311" cy="87629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latin typeface="Garamond"/>
              </a:rPr>
              <a:t>Base Paper</a:t>
            </a:r>
          </a:p>
        </p:txBody>
      </p:sp>
      <p:sp>
        <p:nvSpPr>
          <p:cNvPr id="4" name="Freeform 2">
            <a:extLst>
              <a:ext uri="{FF2B5EF4-FFF2-40B4-BE49-F238E27FC236}">
                <a16:creationId xmlns:a16="http://schemas.microsoft.com/office/drawing/2014/main" id="{B6FFB3F3-39AB-6DBA-B34E-8582C1D96124}"/>
              </a:ext>
            </a:extLst>
          </p:cNvPr>
          <p:cNvSpPr/>
          <p:nvPr/>
        </p:nvSpPr>
        <p:spPr>
          <a:xfrm>
            <a:off x="9149374" y="208336"/>
            <a:ext cx="2778804" cy="876300"/>
          </a:xfrm>
          <a:custGeom>
            <a:avLst/>
            <a:gdLst/>
            <a:ahLst/>
            <a:cxnLst/>
            <a:rect l="l" t="t" r="r" b="b"/>
            <a:pathLst>
              <a:path w="4181470" h="1517647">
                <a:moveTo>
                  <a:pt x="0" y="0"/>
                </a:moveTo>
                <a:lnTo>
                  <a:pt x="4181470" y="0"/>
                </a:lnTo>
                <a:lnTo>
                  <a:pt x="4181470" y="1517646"/>
                </a:lnTo>
                <a:lnTo>
                  <a:pt x="0" y="1517646"/>
                </a:lnTo>
                <a:lnTo>
                  <a:pt x="0" y="0"/>
                </a:lnTo>
                <a:close/>
              </a:path>
            </a:pathLst>
          </a:custGeom>
          <a:blipFill>
            <a:blip r:embed="rId2">
              <a:alphaModFix amt="76000"/>
            </a:blip>
            <a:stretch>
              <a:fillRect t="-13733" b="-13733"/>
            </a:stretch>
          </a:blipFill>
        </p:spPr>
      </p:sp>
      <p:sp>
        <p:nvSpPr>
          <p:cNvPr id="6" name="TextBox 5">
            <a:extLst>
              <a:ext uri="{FF2B5EF4-FFF2-40B4-BE49-F238E27FC236}">
                <a16:creationId xmlns:a16="http://schemas.microsoft.com/office/drawing/2014/main" id="{30C5B13E-2961-8B76-D851-C9804EF67864}"/>
              </a:ext>
            </a:extLst>
          </p:cNvPr>
          <p:cNvSpPr txBox="1"/>
          <p:nvPr/>
        </p:nvSpPr>
        <p:spPr>
          <a:xfrm>
            <a:off x="522514" y="1285627"/>
            <a:ext cx="10831286" cy="646331"/>
          </a:xfrm>
          <a:prstGeom prst="rect">
            <a:avLst/>
          </a:prstGeom>
          <a:noFill/>
        </p:spPr>
        <p:txBody>
          <a:bodyPr wrap="square">
            <a:spAutoFit/>
          </a:bodyPr>
          <a:lstStyle/>
          <a:p>
            <a:pPr algn="just"/>
            <a:r>
              <a:rPr lang="en-US" b="1" i="1" dirty="0"/>
              <a:t>"An early lung cancer diagnosis model for non-smokers incorporating CT imaging analysis and circulating genetically abnormal cells (CACs)"</a:t>
            </a:r>
            <a:endParaRPr lang="en-IN" b="1" i="1" dirty="0"/>
          </a:p>
        </p:txBody>
      </p:sp>
      <p:sp>
        <p:nvSpPr>
          <p:cNvPr id="8" name="Rectangle 2">
            <a:extLst>
              <a:ext uri="{FF2B5EF4-FFF2-40B4-BE49-F238E27FC236}">
                <a16:creationId xmlns:a16="http://schemas.microsoft.com/office/drawing/2014/main" id="{FCFE08BF-E409-DAC0-E363-FE830DF0B34A}"/>
              </a:ext>
            </a:extLst>
          </p:cNvPr>
          <p:cNvSpPr>
            <a:spLocks noChangeArrowheads="1"/>
          </p:cNvSpPr>
          <p:nvPr/>
        </p:nvSpPr>
        <p:spPr bwMode="auto">
          <a:xfrm>
            <a:off x="522514" y="2154518"/>
            <a:ext cx="9216049" cy="12875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Built AI models using </a:t>
            </a:r>
            <a:r>
              <a:rPr kumimoji="0" lang="en-US" altLang="en-US" sz="1800" b="1" i="0" u="none" strike="noStrike" cap="none" normalizeH="0" baseline="0" dirty="0">
                <a:ln>
                  <a:noFill/>
                </a:ln>
                <a:solidFill>
                  <a:schemeClr val="tx1"/>
                </a:solidFill>
                <a:effectLst/>
                <a:latin typeface="Arial" panose="020B0604020202020204" pitchFamily="34" charset="0"/>
              </a:rPr>
              <a:t>CT imaging + liquid biopsy + clinical features</a:t>
            </a:r>
            <a:r>
              <a:rPr kumimoji="0" lang="en-US" altLang="en-US" sz="1800" b="0" i="0" u="none" strike="noStrike" cap="none" normalizeH="0" baseline="0" dirty="0">
                <a:ln>
                  <a:noFill/>
                </a:ln>
                <a:solidFill>
                  <a:schemeClr val="tx1"/>
                </a:solidFill>
                <a:effectLst/>
                <a:latin typeface="Arial" panose="020B0604020202020204" pitchFamily="34" charset="0"/>
              </a:rPr>
              <a:t> for non-smokers.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Achieved </a:t>
            </a:r>
            <a:r>
              <a:rPr kumimoji="0" lang="en-US" altLang="en-US" sz="1800" b="1" i="0" u="none" strike="noStrike" cap="none" normalizeH="0" baseline="0" dirty="0">
                <a:ln>
                  <a:noFill/>
                </a:ln>
                <a:solidFill>
                  <a:schemeClr val="tx1"/>
                </a:solidFill>
                <a:effectLst/>
                <a:latin typeface="Arial" panose="020B0604020202020204" pitchFamily="34" charset="0"/>
              </a:rPr>
              <a:t>AUC = 0.99, sensitivity 92%, specificity 97%</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Limitation:</a:t>
            </a:r>
            <a:r>
              <a:rPr kumimoji="0" lang="en-US" altLang="en-US" sz="1800" b="0" i="0" u="none" strike="noStrike" cap="none" normalizeH="0" baseline="0" dirty="0">
                <a:ln>
                  <a:noFill/>
                </a:ln>
                <a:solidFill>
                  <a:schemeClr val="tx1"/>
                </a:solidFill>
                <a:effectLst/>
                <a:latin typeface="Arial" panose="020B0604020202020204" pitchFamily="34" charset="0"/>
              </a:rPr>
              <a:t> Does not use </a:t>
            </a:r>
            <a:r>
              <a:rPr kumimoji="0" lang="en-US" altLang="en-US" sz="1800" b="1" i="0" u="none" strike="noStrike" cap="none" normalizeH="0" baseline="0" dirty="0">
                <a:ln>
                  <a:noFill/>
                </a:ln>
                <a:solidFill>
                  <a:schemeClr val="tx1"/>
                </a:solidFill>
                <a:effectLst/>
                <a:latin typeface="Arial" panose="020B0604020202020204" pitchFamily="34" charset="0"/>
              </a:rPr>
              <a:t>unstructured clinical notes</a:t>
            </a:r>
            <a:r>
              <a:rPr kumimoji="0" lang="en-US" altLang="en-US" sz="1800" b="0" i="0" u="none" strike="noStrike" cap="none" normalizeH="0" baseline="0" dirty="0">
                <a:ln>
                  <a:noFill/>
                </a:ln>
                <a:solidFill>
                  <a:schemeClr val="tx1"/>
                </a:solidFill>
                <a:effectLst/>
                <a:latin typeface="Arial" panose="020B0604020202020204" pitchFamily="34" charset="0"/>
              </a:rPr>
              <a:t> or </a:t>
            </a:r>
            <a:r>
              <a:rPr kumimoji="0" lang="en-US" altLang="en-US" sz="1800" b="1" i="0" u="none" strike="noStrike" cap="none" normalizeH="0" baseline="0" dirty="0">
                <a:ln>
                  <a:noFill/>
                </a:ln>
                <a:solidFill>
                  <a:schemeClr val="tx1"/>
                </a:solidFill>
                <a:effectLst/>
                <a:latin typeface="Arial" panose="020B0604020202020204" pitchFamily="34" charset="0"/>
              </a:rPr>
              <a:t>agentic AI</a:t>
            </a:r>
            <a:r>
              <a:rPr kumimoji="0" lang="en-US" altLang="en-US" sz="1800" b="0" i="0" u="none" strike="noStrike" cap="none" normalizeH="0" baseline="0" dirty="0">
                <a:ln>
                  <a:noFill/>
                </a:ln>
                <a:solidFill>
                  <a:schemeClr val="tx1"/>
                </a:solidFill>
                <a:effectLst/>
                <a:latin typeface="Arial" panose="020B0604020202020204" pitchFamily="34" charset="0"/>
              </a:rPr>
              <a:t> for explainability.</a:t>
            </a:r>
          </a:p>
        </p:txBody>
      </p:sp>
      <p:sp>
        <p:nvSpPr>
          <p:cNvPr id="10" name="TextBox 9">
            <a:extLst>
              <a:ext uri="{FF2B5EF4-FFF2-40B4-BE49-F238E27FC236}">
                <a16:creationId xmlns:a16="http://schemas.microsoft.com/office/drawing/2014/main" id="{7617B755-C082-5774-66AD-98AFC64E50F9}"/>
              </a:ext>
            </a:extLst>
          </p:cNvPr>
          <p:cNvSpPr txBox="1"/>
          <p:nvPr/>
        </p:nvSpPr>
        <p:spPr>
          <a:xfrm>
            <a:off x="3884364" y="1562626"/>
            <a:ext cx="6097836" cy="369332"/>
          </a:xfrm>
          <a:prstGeom prst="rect">
            <a:avLst/>
          </a:prstGeom>
          <a:noFill/>
        </p:spPr>
        <p:txBody>
          <a:bodyPr wrap="square">
            <a:spAutoFit/>
          </a:bodyPr>
          <a:lstStyle/>
          <a:p>
            <a:r>
              <a:rPr lang="en-IN" dirty="0"/>
              <a:t>https://pubmed.ncbi.nlm.nih.gov/39844169/</a:t>
            </a:r>
          </a:p>
        </p:txBody>
      </p:sp>
      <p:sp>
        <p:nvSpPr>
          <p:cNvPr id="12" name="TextBox 11">
            <a:extLst>
              <a:ext uri="{FF2B5EF4-FFF2-40B4-BE49-F238E27FC236}">
                <a16:creationId xmlns:a16="http://schemas.microsoft.com/office/drawing/2014/main" id="{B36CE212-5FB3-D34F-3177-AB4645BAF569}"/>
              </a:ext>
            </a:extLst>
          </p:cNvPr>
          <p:cNvSpPr txBox="1"/>
          <p:nvPr/>
        </p:nvSpPr>
        <p:spPr>
          <a:xfrm>
            <a:off x="522514" y="3409132"/>
            <a:ext cx="8626860" cy="2445285"/>
          </a:xfrm>
          <a:prstGeom prst="rect">
            <a:avLst/>
          </a:prstGeom>
          <a:noFill/>
        </p:spPr>
        <p:txBody>
          <a:bodyPr wrap="square">
            <a:spAutoFit/>
          </a:bodyPr>
          <a:lstStyle/>
          <a:p>
            <a:pPr>
              <a:lnSpc>
                <a:spcPct val="200000"/>
              </a:lnSpc>
              <a:buNone/>
            </a:pPr>
            <a:r>
              <a:rPr lang="en-US" sz="2800" b="1" dirty="0"/>
              <a:t>Our Difference</a:t>
            </a:r>
            <a:endParaRPr lang="en-US" sz="2800" dirty="0"/>
          </a:p>
          <a:p>
            <a:pPr>
              <a:lnSpc>
                <a:spcPct val="200000"/>
              </a:lnSpc>
              <a:buFont typeface="Arial" panose="020B0604020202020204" pitchFamily="34" charset="0"/>
              <a:buChar char="•"/>
            </a:pPr>
            <a:r>
              <a:rPr lang="en-US" sz="2000" dirty="0"/>
              <a:t>We integrate </a:t>
            </a:r>
            <a:r>
              <a:rPr lang="en-US" sz="2000" b="1" dirty="0"/>
              <a:t>clinical notes + genomic profiles</a:t>
            </a:r>
            <a:r>
              <a:rPr lang="en-US" sz="2000" dirty="0"/>
              <a:t> (not CT/biopsy).</a:t>
            </a:r>
          </a:p>
          <a:p>
            <a:pPr>
              <a:lnSpc>
                <a:spcPct val="150000"/>
              </a:lnSpc>
              <a:buFont typeface="Arial" panose="020B0604020202020204" pitchFamily="34" charset="0"/>
              <a:buChar char="•"/>
            </a:pPr>
            <a:r>
              <a:rPr lang="en-US" sz="2000" dirty="0"/>
              <a:t>Use </a:t>
            </a:r>
            <a:r>
              <a:rPr lang="en-US" sz="2000" b="1" dirty="0"/>
              <a:t>agentic AI</a:t>
            </a:r>
            <a:r>
              <a:rPr lang="en-US" sz="2000" dirty="0"/>
              <a:t> + </a:t>
            </a:r>
            <a:r>
              <a:rPr lang="en-US" sz="2000" b="1" dirty="0"/>
              <a:t>knowledge graphs</a:t>
            </a:r>
            <a:r>
              <a:rPr lang="en-US" sz="2000" dirty="0"/>
              <a:t> for </a:t>
            </a:r>
            <a:r>
              <a:rPr lang="en-US" sz="2000" b="1" dirty="0"/>
              <a:t>explainable predictions</a:t>
            </a:r>
            <a:r>
              <a:rPr lang="en-US" sz="2000" dirty="0"/>
              <a:t>.</a:t>
            </a:r>
          </a:p>
          <a:p>
            <a:pPr>
              <a:lnSpc>
                <a:spcPct val="150000"/>
              </a:lnSpc>
              <a:buFont typeface="Arial" panose="020B0604020202020204" pitchFamily="34" charset="0"/>
              <a:buChar char="•"/>
            </a:pPr>
            <a:r>
              <a:rPr lang="en-US" sz="2000" dirty="0"/>
              <a:t>Focus on </a:t>
            </a:r>
            <a:r>
              <a:rPr lang="en-US" sz="2000" b="1" dirty="0"/>
              <a:t>symptom–gene mapping</a:t>
            </a:r>
            <a:r>
              <a:rPr lang="en-US" sz="2000" dirty="0"/>
              <a:t> and </a:t>
            </a:r>
            <a:r>
              <a:rPr lang="en-US" sz="2000" b="1" dirty="0"/>
              <a:t>patient journey interpretation</a:t>
            </a:r>
            <a:r>
              <a:rPr lang="en-US" sz="2000" dirty="0"/>
              <a:t>.</a:t>
            </a:r>
          </a:p>
        </p:txBody>
      </p:sp>
      <p:pic>
        <p:nvPicPr>
          <p:cNvPr id="1028" name="Picture 4">
            <a:extLst>
              <a:ext uri="{FF2B5EF4-FFF2-40B4-BE49-F238E27FC236}">
                <a16:creationId xmlns:a16="http://schemas.microsoft.com/office/drawing/2014/main" id="{542E2623-67AF-09F4-7AEF-4FEB6567F8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22953" y="3645938"/>
            <a:ext cx="3705225" cy="1971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89656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7909D6C-FC60-AF3F-E259-4F5BF36C46F3}"/>
              </a:ext>
            </a:extLst>
          </p:cNvPr>
          <p:cNvSpPr>
            <a:spLocks noGrp="1"/>
          </p:cNvSpPr>
          <p:nvPr>
            <p:ph type="sldNum" sz="quarter" idx="12"/>
          </p:nvPr>
        </p:nvSpPr>
        <p:spPr/>
        <p:txBody>
          <a:bodyPr/>
          <a:lstStyle/>
          <a:p>
            <a:fld id="{ECBCDBC5-4E49-49CB-B926-A54925945C9F}" type="slidenum">
              <a:rPr lang="en-IN" smtClean="0"/>
              <a:t>5</a:t>
            </a:fld>
            <a:endParaRPr lang="en-IN"/>
          </a:p>
        </p:txBody>
      </p:sp>
      <p:sp>
        <p:nvSpPr>
          <p:cNvPr id="4" name="TextBox 3">
            <a:extLst>
              <a:ext uri="{FF2B5EF4-FFF2-40B4-BE49-F238E27FC236}">
                <a16:creationId xmlns:a16="http://schemas.microsoft.com/office/drawing/2014/main" id="{4FD46143-8579-1A6B-6004-F339DCDD4DE0}"/>
              </a:ext>
            </a:extLst>
          </p:cNvPr>
          <p:cNvSpPr txBox="1"/>
          <p:nvPr/>
        </p:nvSpPr>
        <p:spPr>
          <a:xfrm>
            <a:off x="0" y="2078442"/>
            <a:ext cx="10624457" cy="2308324"/>
          </a:xfrm>
          <a:prstGeom prst="rect">
            <a:avLst/>
          </a:prstGeom>
          <a:noFill/>
        </p:spPr>
        <p:txBody>
          <a:bodyPr wrap="square">
            <a:spAutoFit/>
          </a:bodyPr>
          <a:lstStyle/>
          <a:p>
            <a:pPr>
              <a:buNone/>
            </a:pPr>
            <a:br>
              <a:rPr lang="en-US" dirty="0"/>
            </a:br>
            <a:r>
              <a:rPr lang="en-US" b="1" dirty="0"/>
              <a:t>Key Columns:</a:t>
            </a:r>
          </a:p>
          <a:p>
            <a:pPr>
              <a:buNone/>
            </a:pPr>
            <a:endParaRPr lang="en-US" dirty="0"/>
          </a:p>
          <a:p>
            <a:endParaRPr lang="en-US" dirty="0"/>
          </a:p>
          <a:p>
            <a:endParaRPr lang="en-US" dirty="0"/>
          </a:p>
          <a:p>
            <a:endParaRPr lang="en-US" dirty="0"/>
          </a:p>
          <a:p>
            <a:endParaRPr lang="en-US" dirty="0"/>
          </a:p>
          <a:p>
            <a:pPr>
              <a:buFont typeface="Arial" panose="020B0604020202020204" pitchFamily="34" charset="0"/>
              <a:buChar char="•"/>
            </a:pPr>
            <a:endParaRPr lang="en-US" dirty="0"/>
          </a:p>
        </p:txBody>
      </p:sp>
      <p:pic>
        <p:nvPicPr>
          <p:cNvPr id="6" name="Picture 5">
            <a:extLst>
              <a:ext uri="{FF2B5EF4-FFF2-40B4-BE49-F238E27FC236}">
                <a16:creationId xmlns:a16="http://schemas.microsoft.com/office/drawing/2014/main" id="{F3909A50-ACF4-46D3-AF59-97C61794B647}"/>
              </a:ext>
            </a:extLst>
          </p:cNvPr>
          <p:cNvPicPr>
            <a:picLocks noChangeAspect="1"/>
          </p:cNvPicPr>
          <p:nvPr/>
        </p:nvPicPr>
        <p:blipFill>
          <a:blip r:embed="rId2"/>
          <a:stretch>
            <a:fillRect/>
          </a:stretch>
        </p:blipFill>
        <p:spPr>
          <a:xfrm>
            <a:off x="181350" y="2872896"/>
            <a:ext cx="11908350" cy="913022"/>
          </a:xfrm>
          <a:prstGeom prst="rect">
            <a:avLst/>
          </a:prstGeom>
        </p:spPr>
      </p:pic>
      <p:sp>
        <p:nvSpPr>
          <p:cNvPr id="7" name="Freeform 2">
            <a:extLst>
              <a:ext uri="{FF2B5EF4-FFF2-40B4-BE49-F238E27FC236}">
                <a16:creationId xmlns:a16="http://schemas.microsoft.com/office/drawing/2014/main" id="{49774AC9-B773-DBBD-A46E-D5F796F5F945}"/>
              </a:ext>
            </a:extLst>
          </p:cNvPr>
          <p:cNvSpPr/>
          <p:nvPr/>
        </p:nvSpPr>
        <p:spPr>
          <a:xfrm>
            <a:off x="9156631" y="208336"/>
            <a:ext cx="2778804" cy="876300"/>
          </a:xfrm>
          <a:custGeom>
            <a:avLst/>
            <a:gdLst/>
            <a:ahLst/>
            <a:cxnLst/>
            <a:rect l="l" t="t" r="r" b="b"/>
            <a:pathLst>
              <a:path w="4181470" h="1517647">
                <a:moveTo>
                  <a:pt x="0" y="0"/>
                </a:moveTo>
                <a:lnTo>
                  <a:pt x="4181470" y="0"/>
                </a:lnTo>
                <a:lnTo>
                  <a:pt x="4181470" y="1517646"/>
                </a:lnTo>
                <a:lnTo>
                  <a:pt x="0" y="1517646"/>
                </a:lnTo>
                <a:lnTo>
                  <a:pt x="0" y="0"/>
                </a:lnTo>
                <a:close/>
              </a:path>
            </a:pathLst>
          </a:custGeom>
          <a:blipFill>
            <a:blip r:embed="rId3">
              <a:alphaModFix amt="76000"/>
            </a:blip>
            <a:stretch>
              <a:fillRect t="-13733" b="-13733"/>
            </a:stretch>
          </a:blipFill>
        </p:spPr>
      </p:sp>
      <p:sp>
        <p:nvSpPr>
          <p:cNvPr id="5" name="Title 5">
            <a:extLst>
              <a:ext uri="{FF2B5EF4-FFF2-40B4-BE49-F238E27FC236}">
                <a16:creationId xmlns:a16="http://schemas.microsoft.com/office/drawing/2014/main" id="{D0705399-C212-803A-943E-2FDD45AE54A7}"/>
              </a:ext>
            </a:extLst>
          </p:cNvPr>
          <p:cNvSpPr txBox="1">
            <a:spLocks/>
          </p:cNvSpPr>
          <p:nvPr/>
        </p:nvSpPr>
        <p:spPr>
          <a:xfrm>
            <a:off x="332621" y="308832"/>
            <a:ext cx="11263311" cy="87629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latin typeface="Garamond"/>
              </a:rPr>
              <a:t>Dataset Description</a:t>
            </a:r>
          </a:p>
        </p:txBody>
      </p:sp>
      <p:sp>
        <p:nvSpPr>
          <p:cNvPr id="9" name="TextBox 8">
            <a:extLst>
              <a:ext uri="{FF2B5EF4-FFF2-40B4-BE49-F238E27FC236}">
                <a16:creationId xmlns:a16="http://schemas.microsoft.com/office/drawing/2014/main" id="{DF5C3096-3896-E5AE-B43E-35107599183E}"/>
              </a:ext>
            </a:extLst>
          </p:cNvPr>
          <p:cNvSpPr txBox="1"/>
          <p:nvPr/>
        </p:nvSpPr>
        <p:spPr>
          <a:xfrm>
            <a:off x="155120" y="1040073"/>
            <a:ext cx="6123214" cy="1200329"/>
          </a:xfrm>
          <a:prstGeom prst="rect">
            <a:avLst/>
          </a:prstGeom>
          <a:noFill/>
        </p:spPr>
        <p:txBody>
          <a:bodyPr wrap="square">
            <a:spAutoFit/>
          </a:bodyPr>
          <a:lstStyle/>
          <a:p>
            <a:pPr>
              <a:buNone/>
            </a:pPr>
            <a:r>
              <a:rPr lang="en-US" dirty="0"/>
              <a:t>This dataset was synthesized for early detection of lung cancer using </a:t>
            </a:r>
            <a:r>
              <a:rPr lang="en-US" b="1" dirty="0"/>
              <a:t>Docker Desktop</a:t>
            </a:r>
            <a:r>
              <a:rPr lang="en-US" dirty="0"/>
              <a:t>.</a:t>
            </a:r>
          </a:p>
          <a:p>
            <a:pPr>
              <a:buFont typeface="Arial" panose="020B0604020202020204" pitchFamily="34" charset="0"/>
              <a:buChar char="•"/>
            </a:pPr>
            <a:r>
              <a:rPr lang="en-US" dirty="0"/>
              <a:t>Image created: </a:t>
            </a:r>
            <a:r>
              <a:rPr lang="en-US" b="1" dirty="0" err="1"/>
              <a:t>ollama</a:t>
            </a:r>
            <a:endParaRPr lang="en-US" dirty="0"/>
          </a:p>
          <a:p>
            <a:pPr>
              <a:buFont typeface="Arial" panose="020B0604020202020204" pitchFamily="34" charset="0"/>
              <a:buChar char="•"/>
            </a:pPr>
            <a:r>
              <a:rPr lang="en-US" dirty="0"/>
              <a:t>Container: </a:t>
            </a:r>
            <a:r>
              <a:rPr lang="en-US" b="1" dirty="0"/>
              <a:t>llama3</a:t>
            </a:r>
            <a:endParaRPr lang="en-US" dirty="0"/>
          </a:p>
        </p:txBody>
      </p:sp>
      <p:sp>
        <p:nvSpPr>
          <p:cNvPr id="11" name="TextBox 10">
            <a:extLst>
              <a:ext uri="{FF2B5EF4-FFF2-40B4-BE49-F238E27FC236}">
                <a16:creationId xmlns:a16="http://schemas.microsoft.com/office/drawing/2014/main" id="{F368DA86-B948-B01E-7B91-EF9A6275E862}"/>
              </a:ext>
            </a:extLst>
          </p:cNvPr>
          <p:cNvSpPr txBox="1"/>
          <p:nvPr/>
        </p:nvSpPr>
        <p:spPr>
          <a:xfrm>
            <a:off x="252961" y="4253508"/>
            <a:ext cx="5453776" cy="2308324"/>
          </a:xfrm>
          <a:prstGeom prst="rect">
            <a:avLst/>
          </a:prstGeom>
          <a:noFill/>
        </p:spPr>
        <p:txBody>
          <a:bodyPr wrap="square">
            <a:spAutoFit/>
          </a:bodyPr>
          <a:lstStyle/>
          <a:p>
            <a:pPr>
              <a:buFont typeface="Arial" panose="020B0604020202020204" pitchFamily="34" charset="0"/>
              <a:buChar char="•"/>
            </a:pPr>
            <a:r>
              <a:rPr lang="en-US" b="1" dirty="0" err="1"/>
              <a:t>visit_date</a:t>
            </a:r>
            <a:r>
              <a:rPr lang="en-US" dirty="0"/>
              <a:t> – Date and time of hospital/clinic visit.</a:t>
            </a:r>
          </a:p>
          <a:p>
            <a:pPr>
              <a:buFont typeface="Arial" panose="020B0604020202020204" pitchFamily="34" charset="0"/>
              <a:buChar char="•"/>
            </a:pPr>
            <a:r>
              <a:rPr lang="en-US" b="1" dirty="0"/>
              <a:t>SMOKING</a:t>
            </a:r>
            <a:r>
              <a:rPr lang="en-US" dirty="0"/>
              <a:t> – Smoking history indicator (0 = non-smoker, higher = severity).</a:t>
            </a:r>
          </a:p>
          <a:p>
            <a:pPr>
              <a:buFont typeface="Arial" panose="020B0604020202020204" pitchFamily="34" charset="0"/>
              <a:buChar char="•"/>
            </a:pPr>
            <a:r>
              <a:rPr lang="en-US" b="1" dirty="0"/>
              <a:t>YELLOW_FINGERS</a:t>
            </a:r>
            <a:r>
              <a:rPr lang="en-US" dirty="0"/>
              <a:t> – Clinical sign often associated with nicotine usage.</a:t>
            </a:r>
          </a:p>
          <a:p>
            <a:pPr>
              <a:buFont typeface="Arial" panose="020B0604020202020204" pitchFamily="34" charset="0"/>
              <a:buChar char="•"/>
            </a:pPr>
            <a:r>
              <a:rPr lang="en-US" b="1" dirty="0"/>
              <a:t>ANXIETY</a:t>
            </a:r>
            <a:r>
              <a:rPr lang="en-US" dirty="0"/>
              <a:t> – Psychological state measurement.</a:t>
            </a:r>
          </a:p>
          <a:p>
            <a:pPr>
              <a:buFont typeface="Arial" panose="020B0604020202020204" pitchFamily="34" charset="0"/>
              <a:buChar char="•"/>
            </a:pPr>
            <a:r>
              <a:rPr lang="en-US" b="1" dirty="0"/>
              <a:t>PEER_PRESSURE</a:t>
            </a:r>
            <a:r>
              <a:rPr lang="en-US" dirty="0"/>
              <a:t> – Social influence contributing to lifestyle habits.</a:t>
            </a:r>
          </a:p>
        </p:txBody>
      </p:sp>
      <p:sp>
        <p:nvSpPr>
          <p:cNvPr id="13" name="TextBox 12">
            <a:extLst>
              <a:ext uri="{FF2B5EF4-FFF2-40B4-BE49-F238E27FC236}">
                <a16:creationId xmlns:a16="http://schemas.microsoft.com/office/drawing/2014/main" id="{9B1504FC-BF01-A53F-1DF4-3639235D3810}"/>
              </a:ext>
            </a:extLst>
          </p:cNvPr>
          <p:cNvSpPr txBox="1"/>
          <p:nvPr/>
        </p:nvSpPr>
        <p:spPr>
          <a:xfrm>
            <a:off x="6339845" y="4217396"/>
            <a:ext cx="5453776" cy="2308324"/>
          </a:xfrm>
          <a:prstGeom prst="rect">
            <a:avLst/>
          </a:prstGeom>
          <a:noFill/>
        </p:spPr>
        <p:txBody>
          <a:bodyPr wrap="square">
            <a:spAutoFit/>
          </a:bodyPr>
          <a:lstStyle/>
          <a:p>
            <a:pPr>
              <a:buFont typeface="Arial" panose="020B0604020202020204" pitchFamily="34" charset="0"/>
              <a:buChar char="•"/>
            </a:pPr>
            <a:r>
              <a:rPr lang="en-US" b="1" dirty="0"/>
              <a:t>CHRONIC DISEASE</a:t>
            </a:r>
            <a:r>
              <a:rPr lang="en-US" dirty="0"/>
              <a:t> – Presence of long-term illness or comorbidity.</a:t>
            </a:r>
            <a:r>
              <a:rPr lang="en-US" b="1" dirty="0"/>
              <a:t> </a:t>
            </a:r>
          </a:p>
          <a:p>
            <a:pPr>
              <a:buFont typeface="Arial" panose="020B0604020202020204" pitchFamily="34" charset="0"/>
              <a:buChar char="•"/>
            </a:pPr>
            <a:r>
              <a:rPr lang="en-US" b="1" dirty="0"/>
              <a:t>FATIGUE</a:t>
            </a:r>
            <a:r>
              <a:rPr lang="en-US" dirty="0"/>
              <a:t> – Level of tiredness and physical weakness.</a:t>
            </a:r>
          </a:p>
          <a:p>
            <a:pPr>
              <a:buFont typeface="Arial" panose="020B0604020202020204" pitchFamily="34" charset="0"/>
              <a:buChar char="•"/>
            </a:pPr>
            <a:r>
              <a:rPr lang="en-US" b="1" dirty="0"/>
              <a:t>ALLERGY</a:t>
            </a:r>
            <a:r>
              <a:rPr lang="en-US" dirty="0"/>
              <a:t> – Indication of respiratory or other allergic conditions.</a:t>
            </a:r>
          </a:p>
          <a:p>
            <a:pPr>
              <a:buFont typeface="Arial" panose="020B0604020202020204" pitchFamily="34" charset="0"/>
              <a:buChar char="•"/>
            </a:pPr>
            <a:r>
              <a:rPr lang="en-US" b="1" dirty="0"/>
              <a:t>WHEEZING</a:t>
            </a:r>
            <a:r>
              <a:rPr lang="en-US" dirty="0"/>
              <a:t> – Sound indicating narrowed or obstructed airways</a:t>
            </a:r>
          </a:p>
          <a:p>
            <a:pPr>
              <a:buFont typeface="Arial" panose="020B0604020202020204" pitchFamily="34" charset="0"/>
              <a:buChar char="•"/>
            </a:pPr>
            <a:r>
              <a:rPr lang="en-US" b="1" dirty="0"/>
              <a:t>LUNG_CANCER</a:t>
            </a:r>
            <a:r>
              <a:rPr lang="en-US" dirty="0"/>
              <a:t> – Target label (YES/NO diagnosis).</a:t>
            </a:r>
          </a:p>
        </p:txBody>
      </p:sp>
    </p:spTree>
    <p:extLst>
      <p:ext uri="{BB962C8B-B14F-4D97-AF65-F5344CB8AC3E}">
        <p14:creationId xmlns:p14="http://schemas.microsoft.com/office/powerpoint/2010/main" val="23309933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E6EDA15C-9516-0456-6802-40434B7C0E11}"/>
              </a:ext>
            </a:extLst>
          </p:cNvPr>
          <p:cNvSpPr/>
          <p:nvPr/>
        </p:nvSpPr>
        <p:spPr>
          <a:xfrm>
            <a:off x="239488" y="5667621"/>
            <a:ext cx="11713024" cy="1085161"/>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Slide Number Placeholder 1">
            <a:extLst>
              <a:ext uri="{FF2B5EF4-FFF2-40B4-BE49-F238E27FC236}">
                <a16:creationId xmlns:a16="http://schemas.microsoft.com/office/drawing/2014/main" id="{7B86E182-1911-68A0-2405-30366CC95143}"/>
              </a:ext>
            </a:extLst>
          </p:cNvPr>
          <p:cNvSpPr>
            <a:spLocks noGrp="1"/>
          </p:cNvSpPr>
          <p:nvPr>
            <p:ph type="sldNum" sz="quarter" idx="12"/>
          </p:nvPr>
        </p:nvSpPr>
        <p:spPr/>
        <p:txBody>
          <a:bodyPr/>
          <a:lstStyle/>
          <a:p>
            <a:fld id="{ECBCDBC5-4E49-49CB-B926-A54925945C9F}" type="slidenum">
              <a:rPr lang="en-IN" smtClean="0"/>
              <a:t>6</a:t>
            </a:fld>
            <a:endParaRPr lang="en-IN"/>
          </a:p>
        </p:txBody>
      </p:sp>
      <p:sp>
        <p:nvSpPr>
          <p:cNvPr id="6" name="TextBox 5">
            <a:extLst>
              <a:ext uri="{FF2B5EF4-FFF2-40B4-BE49-F238E27FC236}">
                <a16:creationId xmlns:a16="http://schemas.microsoft.com/office/drawing/2014/main" id="{6142460A-3651-5407-AF9C-986E9F081F15}"/>
              </a:ext>
            </a:extLst>
          </p:cNvPr>
          <p:cNvSpPr txBox="1"/>
          <p:nvPr/>
        </p:nvSpPr>
        <p:spPr>
          <a:xfrm>
            <a:off x="239488" y="0"/>
            <a:ext cx="11887199" cy="5909310"/>
          </a:xfrm>
          <a:prstGeom prst="rect">
            <a:avLst/>
          </a:prstGeom>
          <a:noFill/>
        </p:spPr>
        <p:txBody>
          <a:bodyPr wrap="square">
            <a:spAutoFit/>
          </a:bodyPr>
          <a:lstStyle/>
          <a:p>
            <a:pPr>
              <a:lnSpc>
                <a:spcPct val="150000"/>
              </a:lnSpc>
              <a:buNone/>
            </a:pPr>
            <a:r>
              <a:rPr lang="en-US" sz="4400" dirty="0">
                <a:latin typeface="Garamond" panose="02020404030301010803" pitchFamily="18" charset="0"/>
              </a:rPr>
              <a:t>Clinical Notes Example</a:t>
            </a:r>
            <a:endParaRPr lang="en-US" sz="4000" dirty="0">
              <a:latin typeface="Garamond" panose="02020404030301010803" pitchFamily="18" charset="0"/>
            </a:endParaRPr>
          </a:p>
          <a:p>
            <a:pPr>
              <a:lnSpc>
                <a:spcPct val="150000"/>
              </a:lnSpc>
              <a:buNone/>
            </a:pPr>
            <a:r>
              <a:rPr lang="en-US" sz="2000" b="1" dirty="0"/>
              <a:t>Patient 1 Note:</a:t>
            </a:r>
          </a:p>
          <a:p>
            <a:pPr>
              <a:buNone/>
            </a:pPr>
            <a:br>
              <a:rPr lang="en-US" dirty="0"/>
            </a:br>
            <a:r>
              <a:rPr lang="en-US" sz="1200" i="1" dirty="0"/>
              <a:t>“This patient, an 78-year-old female never-smoker, presents with symptoms consistent with advanced lung cancer including yellow fingers, anxiety, fatigue, wheezing, coughing, shortness of breath, chest pain, and swallowing difficulty. Her symptoms have worsened over the past few days. Symptoms: paraneoplastic syndrome (since 10 weeks), night sweats (since 4 years), SVC syndrome (since 5 weeks), chest pain (since 2 years), shoulder pain (since 3 years), peripheral edema (since 11 months), shortness of breath (since 5 months).”</a:t>
            </a:r>
          </a:p>
          <a:p>
            <a:pPr>
              <a:buNone/>
            </a:pPr>
            <a:endParaRPr lang="en-US" sz="1200" i="1" dirty="0"/>
          </a:p>
          <a:p>
            <a:r>
              <a:rPr lang="en-IN" sz="2000" b="1" dirty="0"/>
              <a:t>Key Clinical Insights – 78-year-old Female, Never-Smoker:</a:t>
            </a:r>
          </a:p>
          <a:p>
            <a:endParaRPr lang="en-IN" b="1" dirty="0"/>
          </a:p>
          <a:p>
            <a:pPr marL="285750" indent="-285750">
              <a:buFont typeface="Arial" panose="020B0604020202020204" pitchFamily="34" charset="0"/>
              <a:buChar char="•"/>
            </a:pPr>
            <a:r>
              <a:rPr lang="en-IN" sz="1600" b="1" dirty="0"/>
              <a:t>Yellow fingers + anxiety + fatigue</a:t>
            </a:r>
            <a:r>
              <a:rPr lang="en-IN" sz="1600" dirty="0"/>
              <a:t> → systemic/psychological impact</a:t>
            </a:r>
          </a:p>
          <a:p>
            <a:pPr marL="285750" indent="-285750">
              <a:buFont typeface="Arial" panose="020B0604020202020204" pitchFamily="34" charset="0"/>
              <a:buChar char="•"/>
            </a:pPr>
            <a:r>
              <a:rPr lang="en-IN" sz="1600" b="1" dirty="0"/>
              <a:t>Respiratory symptoms</a:t>
            </a:r>
            <a:r>
              <a:rPr lang="en-IN" sz="1600" dirty="0"/>
              <a:t> → wheezing, cough, </a:t>
            </a:r>
            <a:r>
              <a:rPr lang="en-IN" sz="1600" dirty="0" err="1"/>
              <a:t>dyspnea</a:t>
            </a:r>
            <a:r>
              <a:rPr lang="en-IN" sz="1600" dirty="0"/>
              <a:t>, chest pain, dysphagia</a:t>
            </a:r>
          </a:p>
          <a:p>
            <a:pPr marL="285750" indent="-285750">
              <a:buFont typeface="Arial" panose="020B0604020202020204" pitchFamily="34" charset="0"/>
              <a:buChar char="•"/>
            </a:pPr>
            <a:r>
              <a:rPr lang="en-IN" sz="1600" b="1" dirty="0"/>
              <a:t>Paraneoplastic syndrome (10 weeks)</a:t>
            </a:r>
            <a:r>
              <a:rPr lang="en-IN" sz="1600" dirty="0"/>
              <a:t> → strong cancer association</a:t>
            </a:r>
          </a:p>
          <a:p>
            <a:pPr marL="285750" indent="-285750">
              <a:buFont typeface="Arial" panose="020B0604020202020204" pitchFamily="34" charset="0"/>
              <a:buChar char="•"/>
            </a:pPr>
            <a:r>
              <a:rPr lang="en-IN" sz="1600" b="1" dirty="0"/>
              <a:t>SVC syndrome (5 weeks)</a:t>
            </a:r>
            <a:r>
              <a:rPr lang="en-IN" sz="1600" dirty="0"/>
              <a:t> → mediastinal </a:t>
            </a:r>
            <a:r>
              <a:rPr lang="en-IN" sz="1600" dirty="0" err="1"/>
              <a:t>tumor</a:t>
            </a:r>
            <a:r>
              <a:rPr lang="en-IN" sz="1600" dirty="0"/>
              <a:t> compression</a:t>
            </a:r>
          </a:p>
          <a:p>
            <a:pPr marL="285750" indent="-285750">
              <a:buFont typeface="Arial" panose="020B0604020202020204" pitchFamily="34" charset="0"/>
              <a:buChar char="•"/>
            </a:pPr>
            <a:r>
              <a:rPr lang="en-IN" sz="1600" b="1" dirty="0"/>
              <a:t>Night sweats (4 years)</a:t>
            </a:r>
            <a:r>
              <a:rPr lang="en-IN" sz="1600" dirty="0"/>
              <a:t> → chronic systemic symptom, possible malignancy marker</a:t>
            </a:r>
          </a:p>
          <a:p>
            <a:pPr marL="285750" indent="-285750">
              <a:buFont typeface="Arial" panose="020B0604020202020204" pitchFamily="34" charset="0"/>
              <a:buChar char="•"/>
            </a:pPr>
            <a:r>
              <a:rPr lang="en-IN" sz="1600" b="1" dirty="0"/>
              <a:t>Chest pain (2 years)</a:t>
            </a:r>
            <a:r>
              <a:rPr lang="en-IN" sz="1600" dirty="0"/>
              <a:t> → local </a:t>
            </a:r>
            <a:r>
              <a:rPr lang="en-IN" sz="1600" dirty="0" err="1"/>
              <a:t>tumor</a:t>
            </a:r>
            <a:r>
              <a:rPr lang="en-IN" sz="1600" dirty="0"/>
              <a:t>/pleural involvement</a:t>
            </a:r>
          </a:p>
          <a:p>
            <a:pPr marL="285750" indent="-285750">
              <a:buFont typeface="Arial" panose="020B0604020202020204" pitchFamily="34" charset="0"/>
              <a:buChar char="•"/>
            </a:pPr>
            <a:r>
              <a:rPr lang="en-IN" sz="1600" b="1" dirty="0"/>
              <a:t>Shoulder pain (3 years)</a:t>
            </a:r>
            <a:r>
              <a:rPr lang="en-IN" sz="1600" dirty="0"/>
              <a:t> → possible Pancoast </a:t>
            </a:r>
            <a:r>
              <a:rPr lang="en-IN" sz="1600" dirty="0" err="1"/>
              <a:t>tumor</a:t>
            </a:r>
            <a:r>
              <a:rPr lang="en-IN" sz="1600" dirty="0"/>
              <a:t> involvement</a:t>
            </a:r>
          </a:p>
          <a:p>
            <a:pPr marL="285750" indent="-285750">
              <a:buFont typeface="Arial" panose="020B0604020202020204" pitchFamily="34" charset="0"/>
              <a:buChar char="•"/>
            </a:pPr>
            <a:r>
              <a:rPr lang="en-IN" sz="1600" b="1" dirty="0"/>
              <a:t>Peripheral </a:t>
            </a:r>
            <a:r>
              <a:rPr lang="en-IN" sz="1600" b="1" dirty="0" err="1"/>
              <a:t>edema</a:t>
            </a:r>
            <a:r>
              <a:rPr lang="en-IN" sz="1600" b="1" dirty="0"/>
              <a:t> (11 months)</a:t>
            </a:r>
            <a:r>
              <a:rPr lang="en-IN" sz="1600" dirty="0"/>
              <a:t> → venous/lymphatic obstruction</a:t>
            </a:r>
          </a:p>
          <a:p>
            <a:pPr marL="285750" indent="-285750">
              <a:buFont typeface="Arial" panose="020B0604020202020204" pitchFamily="34" charset="0"/>
              <a:buChar char="•"/>
            </a:pPr>
            <a:r>
              <a:rPr lang="en-IN" sz="1600" b="1" dirty="0"/>
              <a:t>Shortness of breath (5 months)</a:t>
            </a:r>
            <a:r>
              <a:rPr lang="en-IN" sz="1600" dirty="0"/>
              <a:t> → progressive respiratory compromise</a:t>
            </a:r>
          </a:p>
          <a:p>
            <a:pPr marL="285750" indent="-285750">
              <a:buFont typeface="Arial" panose="020B0604020202020204" pitchFamily="34" charset="0"/>
              <a:buChar char="•"/>
            </a:pPr>
            <a:r>
              <a:rPr lang="en-IN" sz="1600" b="1" dirty="0"/>
              <a:t>Confirmed advanced lung cancer</a:t>
            </a:r>
            <a:r>
              <a:rPr lang="en-IN" sz="1600" dirty="0"/>
              <a:t> ✅</a:t>
            </a:r>
          </a:p>
          <a:p>
            <a:endParaRPr lang="en-IN" dirty="0"/>
          </a:p>
        </p:txBody>
      </p:sp>
      <p:sp>
        <p:nvSpPr>
          <p:cNvPr id="7" name="Freeform 2">
            <a:extLst>
              <a:ext uri="{FF2B5EF4-FFF2-40B4-BE49-F238E27FC236}">
                <a16:creationId xmlns:a16="http://schemas.microsoft.com/office/drawing/2014/main" id="{D5AEE18E-38FC-8C43-0B0B-845F7D5B922A}"/>
              </a:ext>
            </a:extLst>
          </p:cNvPr>
          <p:cNvSpPr/>
          <p:nvPr/>
        </p:nvSpPr>
        <p:spPr>
          <a:xfrm>
            <a:off x="9173708" y="0"/>
            <a:ext cx="2778804" cy="876300"/>
          </a:xfrm>
          <a:custGeom>
            <a:avLst/>
            <a:gdLst/>
            <a:ahLst/>
            <a:cxnLst/>
            <a:rect l="l" t="t" r="r" b="b"/>
            <a:pathLst>
              <a:path w="4181470" h="1517647">
                <a:moveTo>
                  <a:pt x="0" y="0"/>
                </a:moveTo>
                <a:lnTo>
                  <a:pt x="4181470" y="0"/>
                </a:lnTo>
                <a:lnTo>
                  <a:pt x="4181470" y="1517646"/>
                </a:lnTo>
                <a:lnTo>
                  <a:pt x="0" y="1517646"/>
                </a:lnTo>
                <a:lnTo>
                  <a:pt x="0" y="0"/>
                </a:lnTo>
                <a:close/>
              </a:path>
            </a:pathLst>
          </a:custGeom>
          <a:blipFill>
            <a:blip r:embed="rId2">
              <a:alphaModFix amt="76000"/>
            </a:blip>
            <a:stretch>
              <a:fillRect t="-13733" b="-13733"/>
            </a:stretch>
          </a:blipFill>
        </p:spPr>
      </p:sp>
      <p:sp>
        <p:nvSpPr>
          <p:cNvPr id="5" name="TextBox 4">
            <a:extLst>
              <a:ext uri="{FF2B5EF4-FFF2-40B4-BE49-F238E27FC236}">
                <a16:creationId xmlns:a16="http://schemas.microsoft.com/office/drawing/2014/main" id="{2AA59A1B-81EC-2DEF-7483-2E7AFC5E3FE4}"/>
              </a:ext>
            </a:extLst>
          </p:cNvPr>
          <p:cNvSpPr txBox="1"/>
          <p:nvPr/>
        </p:nvSpPr>
        <p:spPr>
          <a:xfrm>
            <a:off x="518712" y="5748536"/>
            <a:ext cx="10751544" cy="923330"/>
          </a:xfrm>
          <a:prstGeom prst="rect">
            <a:avLst/>
          </a:prstGeom>
          <a:noFill/>
        </p:spPr>
        <p:txBody>
          <a:bodyPr wrap="square">
            <a:spAutoFit/>
          </a:bodyPr>
          <a:lstStyle/>
          <a:p>
            <a:pPr algn="just"/>
            <a:r>
              <a:rPr lang="en-IN" b="1" dirty="0"/>
              <a:t>Takeaway:</a:t>
            </a:r>
            <a:r>
              <a:rPr lang="en-IN" dirty="0"/>
              <a:t> Combination of </a:t>
            </a:r>
            <a:r>
              <a:rPr lang="en-IN" b="1" dirty="0"/>
              <a:t>paraneoplastic features, vascular compression (SVC syndrome, </a:t>
            </a:r>
            <a:r>
              <a:rPr lang="en-IN" b="1" dirty="0" err="1"/>
              <a:t>edema</a:t>
            </a:r>
            <a:r>
              <a:rPr lang="en-IN" b="1" dirty="0"/>
              <a:t>), systemic red flags (night sweats, weight loss, fatigue)</a:t>
            </a:r>
            <a:r>
              <a:rPr lang="en-IN" dirty="0"/>
              <a:t>, and </a:t>
            </a:r>
            <a:r>
              <a:rPr lang="en-IN" b="1" dirty="0"/>
              <a:t>chronic pain (chest, shoulder)</a:t>
            </a:r>
            <a:r>
              <a:rPr lang="en-IN" dirty="0"/>
              <a:t> → points to </a:t>
            </a:r>
            <a:r>
              <a:rPr lang="en-IN" b="1" dirty="0"/>
              <a:t>advanced lung cancer with multi-system involvement</a:t>
            </a:r>
            <a:r>
              <a:rPr lang="en-IN" dirty="0"/>
              <a:t>, despite patient being a </a:t>
            </a:r>
            <a:r>
              <a:rPr lang="en-IN" b="1" dirty="0"/>
              <a:t>never-smoker</a:t>
            </a:r>
            <a:r>
              <a:rPr lang="en-IN" dirty="0"/>
              <a:t>.</a:t>
            </a:r>
          </a:p>
        </p:txBody>
      </p:sp>
    </p:spTree>
    <p:extLst>
      <p:ext uri="{BB962C8B-B14F-4D97-AF65-F5344CB8AC3E}">
        <p14:creationId xmlns:p14="http://schemas.microsoft.com/office/powerpoint/2010/main" val="7656820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CE8A15-E3B5-D632-1DAA-DE2172051088}"/>
            </a:ext>
          </a:extLst>
        </p:cNvPr>
        <p:cNvGrpSpPr/>
        <p:nvPr/>
      </p:nvGrpSpPr>
      <p:grpSpPr>
        <a:xfrm>
          <a:off x="0" y="0"/>
          <a:ext cx="0" cy="0"/>
          <a:chOff x="0" y="0"/>
          <a:chExt cx="0" cy="0"/>
        </a:xfrm>
      </p:grpSpPr>
      <p:sp>
        <p:nvSpPr>
          <p:cNvPr id="2" name="Title 5">
            <a:extLst>
              <a:ext uri="{FF2B5EF4-FFF2-40B4-BE49-F238E27FC236}">
                <a16:creationId xmlns:a16="http://schemas.microsoft.com/office/drawing/2014/main" id="{029BA7F8-20F4-6E2E-960C-61D4D36DE8A4}"/>
              </a:ext>
            </a:extLst>
          </p:cNvPr>
          <p:cNvSpPr txBox="1">
            <a:spLocks/>
          </p:cNvSpPr>
          <p:nvPr/>
        </p:nvSpPr>
        <p:spPr>
          <a:xfrm>
            <a:off x="332621" y="308832"/>
            <a:ext cx="11263311" cy="87629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latin typeface="Garamond" panose="02020404030301010803" pitchFamily="18" charset="0"/>
              </a:rPr>
              <a:t>Model Architecture </a:t>
            </a:r>
            <a:endParaRPr lang="en-US" dirty="0">
              <a:latin typeface="Garamond" panose="02020404030301010803" pitchFamily="18" charset="0"/>
            </a:endParaRPr>
          </a:p>
        </p:txBody>
      </p:sp>
      <p:sp>
        <p:nvSpPr>
          <p:cNvPr id="3" name="Rectangle: Rounded Corners 2">
            <a:extLst>
              <a:ext uri="{FF2B5EF4-FFF2-40B4-BE49-F238E27FC236}">
                <a16:creationId xmlns:a16="http://schemas.microsoft.com/office/drawing/2014/main" id="{E584FAED-16A8-D963-EE57-B94E3A13BF31}"/>
              </a:ext>
            </a:extLst>
          </p:cNvPr>
          <p:cNvSpPr/>
          <p:nvPr/>
        </p:nvSpPr>
        <p:spPr>
          <a:xfrm>
            <a:off x="327237" y="1415963"/>
            <a:ext cx="1585681" cy="1502228"/>
          </a:xfrm>
          <a:prstGeom prst="round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Dataset Collection</a:t>
            </a:r>
          </a:p>
        </p:txBody>
      </p:sp>
      <p:sp>
        <p:nvSpPr>
          <p:cNvPr id="4" name="Rectangle: Rounded Corners 3">
            <a:extLst>
              <a:ext uri="{FF2B5EF4-FFF2-40B4-BE49-F238E27FC236}">
                <a16:creationId xmlns:a16="http://schemas.microsoft.com/office/drawing/2014/main" id="{E46C726F-D2D5-C102-5E25-3D193EF48802}"/>
              </a:ext>
            </a:extLst>
          </p:cNvPr>
          <p:cNvSpPr/>
          <p:nvPr/>
        </p:nvSpPr>
        <p:spPr>
          <a:xfrm>
            <a:off x="2198444" y="1415963"/>
            <a:ext cx="1585682" cy="1502228"/>
          </a:xfrm>
          <a:prstGeom prst="round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t>Agent 1: </a:t>
            </a:r>
            <a:r>
              <a:rPr lang="en-IN" sz="2000" dirty="0"/>
              <a:t>Symptom &amp; Timeline Extractor</a:t>
            </a:r>
            <a:endParaRPr lang="en-IN" sz="2400" dirty="0"/>
          </a:p>
        </p:txBody>
      </p:sp>
      <p:sp>
        <p:nvSpPr>
          <p:cNvPr id="5" name="Rectangle: Rounded Corners 4">
            <a:extLst>
              <a:ext uri="{FF2B5EF4-FFF2-40B4-BE49-F238E27FC236}">
                <a16:creationId xmlns:a16="http://schemas.microsoft.com/office/drawing/2014/main" id="{62A23446-9736-6134-5DD1-35EF3A21F3E7}"/>
              </a:ext>
            </a:extLst>
          </p:cNvPr>
          <p:cNvSpPr/>
          <p:nvPr/>
        </p:nvSpPr>
        <p:spPr>
          <a:xfrm>
            <a:off x="4148123" y="1415963"/>
            <a:ext cx="1585682" cy="1502228"/>
          </a:xfrm>
          <a:prstGeom prst="round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t>Agent 2: </a:t>
            </a:r>
          </a:p>
          <a:p>
            <a:pPr algn="ctr"/>
            <a:r>
              <a:rPr lang="en-IN" sz="2000" dirty="0"/>
              <a:t>Gene Matcher</a:t>
            </a:r>
            <a:endParaRPr lang="en-IN" sz="2400" dirty="0"/>
          </a:p>
        </p:txBody>
      </p:sp>
      <p:sp>
        <p:nvSpPr>
          <p:cNvPr id="6" name="Rectangle: Rounded Corners 5">
            <a:extLst>
              <a:ext uri="{FF2B5EF4-FFF2-40B4-BE49-F238E27FC236}">
                <a16:creationId xmlns:a16="http://schemas.microsoft.com/office/drawing/2014/main" id="{98F55B55-F9D6-12B4-9F18-EB6AB5ACD11A}"/>
              </a:ext>
            </a:extLst>
          </p:cNvPr>
          <p:cNvSpPr/>
          <p:nvPr/>
        </p:nvSpPr>
        <p:spPr>
          <a:xfrm>
            <a:off x="8047197" y="1415963"/>
            <a:ext cx="1585683" cy="1502228"/>
          </a:xfrm>
          <a:prstGeom prst="round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Risk Scoring</a:t>
            </a:r>
            <a:endParaRPr lang="en-IN" sz="2400" dirty="0"/>
          </a:p>
        </p:txBody>
      </p:sp>
      <p:cxnSp>
        <p:nvCxnSpPr>
          <p:cNvPr id="9" name="Straight Arrow Connector 8">
            <a:extLst>
              <a:ext uri="{FF2B5EF4-FFF2-40B4-BE49-F238E27FC236}">
                <a16:creationId xmlns:a16="http://schemas.microsoft.com/office/drawing/2014/main" id="{C1FBA52F-114A-17AF-1B89-171FF6E4C2C2}"/>
              </a:ext>
            </a:extLst>
          </p:cNvPr>
          <p:cNvCxnSpPr>
            <a:cxnSpLocks/>
            <a:stCxn id="3" idx="3"/>
            <a:endCxn id="4" idx="1"/>
          </p:cNvCxnSpPr>
          <p:nvPr/>
        </p:nvCxnSpPr>
        <p:spPr>
          <a:xfrm>
            <a:off x="1912918" y="2167077"/>
            <a:ext cx="28552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0" name="Straight Arrow Connector 9">
            <a:extLst>
              <a:ext uri="{FF2B5EF4-FFF2-40B4-BE49-F238E27FC236}">
                <a16:creationId xmlns:a16="http://schemas.microsoft.com/office/drawing/2014/main" id="{1994E378-D218-95D2-47F3-403BFCC9B9F5}"/>
              </a:ext>
            </a:extLst>
          </p:cNvPr>
          <p:cNvCxnSpPr>
            <a:cxnSpLocks/>
            <a:stCxn id="4" idx="3"/>
            <a:endCxn id="5" idx="1"/>
          </p:cNvCxnSpPr>
          <p:nvPr/>
        </p:nvCxnSpPr>
        <p:spPr>
          <a:xfrm>
            <a:off x="3784126" y="2167077"/>
            <a:ext cx="363997"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 name="Straight Arrow Connector 10">
            <a:extLst>
              <a:ext uri="{FF2B5EF4-FFF2-40B4-BE49-F238E27FC236}">
                <a16:creationId xmlns:a16="http://schemas.microsoft.com/office/drawing/2014/main" id="{AFB2357B-DDD4-E050-43EF-66E338F3E7F7}"/>
              </a:ext>
            </a:extLst>
          </p:cNvPr>
          <p:cNvCxnSpPr>
            <a:cxnSpLocks/>
            <a:stCxn id="5" idx="3"/>
            <a:endCxn id="31" idx="1"/>
          </p:cNvCxnSpPr>
          <p:nvPr/>
        </p:nvCxnSpPr>
        <p:spPr>
          <a:xfrm>
            <a:off x="5733805" y="2167077"/>
            <a:ext cx="36385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5" name="TextBox 14">
            <a:extLst>
              <a:ext uri="{FF2B5EF4-FFF2-40B4-BE49-F238E27FC236}">
                <a16:creationId xmlns:a16="http://schemas.microsoft.com/office/drawing/2014/main" id="{F1317C9D-40E0-1103-ABEC-DA573ECBA062}"/>
              </a:ext>
            </a:extLst>
          </p:cNvPr>
          <p:cNvSpPr txBox="1"/>
          <p:nvPr/>
        </p:nvSpPr>
        <p:spPr>
          <a:xfrm>
            <a:off x="343508" y="4011851"/>
            <a:ext cx="5419052" cy="2123658"/>
          </a:xfrm>
          <a:prstGeom prst="rect">
            <a:avLst/>
          </a:prstGeom>
          <a:noFill/>
        </p:spPr>
        <p:txBody>
          <a:bodyPr wrap="square">
            <a:spAutoFit/>
          </a:bodyPr>
          <a:lstStyle/>
          <a:p>
            <a:pPr algn="just"/>
            <a:r>
              <a:rPr lang="en-IN" sz="1600" b="1" dirty="0"/>
              <a:t>Tools: </a:t>
            </a:r>
            <a:r>
              <a:rPr lang="en-IN" sz="1600" dirty="0" err="1"/>
              <a:t>LangChain</a:t>
            </a:r>
            <a:r>
              <a:rPr lang="en-IN" sz="1600" dirty="0"/>
              <a:t> + </a:t>
            </a:r>
            <a:r>
              <a:rPr lang="en-IN" sz="1600" dirty="0" err="1"/>
              <a:t>Ollama</a:t>
            </a:r>
            <a:r>
              <a:rPr lang="en-IN" sz="1600" dirty="0"/>
              <a:t> + Python</a:t>
            </a:r>
          </a:p>
          <a:p>
            <a:pPr algn="just"/>
            <a:endParaRPr lang="en-IN" sz="1600" dirty="0"/>
          </a:p>
          <a:p>
            <a:pPr algn="just"/>
            <a:r>
              <a:rPr lang="en-IN" sz="1600" b="1" dirty="0"/>
              <a:t>Input: </a:t>
            </a:r>
            <a:r>
              <a:rPr lang="en-IN" sz="1600" dirty="0"/>
              <a:t>Clinical notes from multiple patient visits</a:t>
            </a:r>
          </a:p>
          <a:p>
            <a:pPr algn="just"/>
            <a:endParaRPr lang="en-IN" sz="1600" dirty="0"/>
          </a:p>
          <a:p>
            <a:pPr algn="just"/>
            <a:r>
              <a:rPr lang="en-IN" sz="1600" b="1" dirty="0"/>
              <a:t>Output: </a:t>
            </a:r>
            <a:r>
              <a:rPr lang="en-IN" sz="1600" dirty="0"/>
              <a:t>Extracted symptoms with timestamp metadata</a:t>
            </a:r>
          </a:p>
          <a:p>
            <a:pPr algn="just"/>
            <a:endParaRPr lang="en-IN" sz="1600" dirty="0"/>
          </a:p>
          <a:p>
            <a:pPr marL="285750" indent="-285750" algn="just">
              <a:buFont typeface="Arial" panose="020B0604020202020204" pitchFamily="34" charset="0"/>
              <a:buChar char="•"/>
            </a:pPr>
            <a:r>
              <a:rPr lang="en-IN" sz="1600" dirty="0"/>
              <a:t>Builds a Patient Journey Graph showing symptom evolution over time</a:t>
            </a:r>
          </a:p>
        </p:txBody>
      </p:sp>
      <p:sp>
        <p:nvSpPr>
          <p:cNvPr id="19" name="TextBox 18">
            <a:extLst>
              <a:ext uri="{FF2B5EF4-FFF2-40B4-BE49-F238E27FC236}">
                <a16:creationId xmlns:a16="http://schemas.microsoft.com/office/drawing/2014/main" id="{07BE5815-D37C-0284-CD8F-18D07211DCF8}"/>
              </a:ext>
            </a:extLst>
          </p:cNvPr>
          <p:cNvSpPr txBox="1"/>
          <p:nvPr/>
        </p:nvSpPr>
        <p:spPr>
          <a:xfrm>
            <a:off x="327237" y="3429000"/>
            <a:ext cx="6096000" cy="400110"/>
          </a:xfrm>
          <a:prstGeom prst="rect">
            <a:avLst/>
          </a:prstGeom>
          <a:noFill/>
        </p:spPr>
        <p:txBody>
          <a:bodyPr wrap="square">
            <a:spAutoFit/>
          </a:bodyPr>
          <a:lstStyle/>
          <a:p>
            <a:r>
              <a:rPr lang="en-IN" sz="2000" b="1" dirty="0"/>
              <a:t>Agent 1: Symptom &amp; Timeline Extractor</a:t>
            </a:r>
          </a:p>
        </p:txBody>
      </p:sp>
      <p:cxnSp>
        <p:nvCxnSpPr>
          <p:cNvPr id="21" name="Straight Connector 20">
            <a:extLst>
              <a:ext uri="{FF2B5EF4-FFF2-40B4-BE49-F238E27FC236}">
                <a16:creationId xmlns:a16="http://schemas.microsoft.com/office/drawing/2014/main" id="{E40C6236-79E3-DD26-8E40-F8079AB004DF}"/>
              </a:ext>
            </a:extLst>
          </p:cNvPr>
          <p:cNvCxnSpPr/>
          <p:nvPr/>
        </p:nvCxnSpPr>
        <p:spPr>
          <a:xfrm>
            <a:off x="5894140" y="3694556"/>
            <a:ext cx="0" cy="2533746"/>
          </a:xfrm>
          <a:prstGeom prst="line">
            <a:avLst/>
          </a:prstGeom>
        </p:spPr>
        <p:style>
          <a:lnRef idx="3">
            <a:schemeClr val="dk1"/>
          </a:lnRef>
          <a:fillRef idx="0">
            <a:schemeClr val="dk1"/>
          </a:fillRef>
          <a:effectRef idx="2">
            <a:schemeClr val="dk1"/>
          </a:effectRef>
          <a:fontRef idx="minor">
            <a:schemeClr val="tx1"/>
          </a:fontRef>
        </p:style>
      </p:cxnSp>
      <p:sp>
        <p:nvSpPr>
          <p:cNvPr id="23" name="TextBox 22">
            <a:extLst>
              <a:ext uri="{FF2B5EF4-FFF2-40B4-BE49-F238E27FC236}">
                <a16:creationId xmlns:a16="http://schemas.microsoft.com/office/drawing/2014/main" id="{0178E18A-B392-CA21-466A-EE10A96F6E7A}"/>
              </a:ext>
            </a:extLst>
          </p:cNvPr>
          <p:cNvSpPr txBox="1"/>
          <p:nvPr/>
        </p:nvSpPr>
        <p:spPr>
          <a:xfrm>
            <a:off x="5964276" y="3438472"/>
            <a:ext cx="6096000" cy="400110"/>
          </a:xfrm>
          <a:prstGeom prst="rect">
            <a:avLst/>
          </a:prstGeom>
          <a:noFill/>
        </p:spPr>
        <p:txBody>
          <a:bodyPr wrap="square">
            <a:spAutoFit/>
          </a:bodyPr>
          <a:lstStyle/>
          <a:p>
            <a:r>
              <a:rPr lang="en-US" sz="2000" b="1" dirty="0"/>
              <a:t>Agent 2: Gene Matcher </a:t>
            </a:r>
            <a:r>
              <a:rPr lang="en-US" b="1" dirty="0"/>
              <a:t>(Knowledge Graph-Based)</a:t>
            </a:r>
            <a:endParaRPr lang="en-IN" sz="2000" b="1" dirty="0"/>
          </a:p>
        </p:txBody>
      </p:sp>
      <p:sp>
        <p:nvSpPr>
          <p:cNvPr id="24" name="TextBox 23">
            <a:extLst>
              <a:ext uri="{FF2B5EF4-FFF2-40B4-BE49-F238E27FC236}">
                <a16:creationId xmlns:a16="http://schemas.microsoft.com/office/drawing/2014/main" id="{AACB722A-72D7-480C-B38D-2AFDC361F740}"/>
              </a:ext>
            </a:extLst>
          </p:cNvPr>
          <p:cNvSpPr txBox="1"/>
          <p:nvPr/>
        </p:nvSpPr>
        <p:spPr>
          <a:xfrm>
            <a:off x="5964276" y="3890665"/>
            <a:ext cx="5839579" cy="2062103"/>
          </a:xfrm>
          <a:prstGeom prst="rect">
            <a:avLst/>
          </a:prstGeom>
          <a:noFill/>
        </p:spPr>
        <p:txBody>
          <a:bodyPr wrap="square">
            <a:spAutoFit/>
          </a:bodyPr>
          <a:lstStyle/>
          <a:p>
            <a:pPr marL="285750" indent="-285750" algn="just">
              <a:buFont typeface="Arial" panose="020B0604020202020204" pitchFamily="34" charset="0"/>
              <a:buChar char="•"/>
            </a:pPr>
            <a:r>
              <a:rPr lang="en-IN" sz="1600" dirty="0"/>
              <a:t>Uses a Lung Cancer Knowledge Graph (e.g., gene–symptom–disease relationships from </a:t>
            </a:r>
            <a:r>
              <a:rPr lang="en-IN" sz="1600" dirty="0" err="1"/>
              <a:t>DisGeNET</a:t>
            </a:r>
            <a:r>
              <a:rPr lang="en-IN" sz="1600" dirty="0"/>
              <a:t>, UMLS, etc.)</a:t>
            </a:r>
          </a:p>
          <a:p>
            <a:pPr marL="285750" indent="-285750" algn="just">
              <a:buFont typeface="Arial" panose="020B0604020202020204" pitchFamily="34" charset="0"/>
              <a:buChar char="•"/>
            </a:pPr>
            <a:endParaRPr lang="en-IN" sz="1600" dirty="0"/>
          </a:p>
          <a:p>
            <a:pPr marL="285750" indent="-285750" algn="just">
              <a:buFont typeface="Arial" panose="020B0604020202020204" pitchFamily="34" charset="0"/>
              <a:buChar char="•"/>
            </a:pPr>
            <a:r>
              <a:rPr lang="en-IN" sz="1600" dirty="0"/>
              <a:t>Maps extracted symptoms to relevant lung cancer-associated genes.</a:t>
            </a:r>
          </a:p>
          <a:p>
            <a:pPr marL="285750" indent="-285750" algn="just">
              <a:buFont typeface="Arial" panose="020B0604020202020204" pitchFamily="34" charset="0"/>
              <a:buChar char="•"/>
            </a:pPr>
            <a:endParaRPr lang="en-IN" sz="1600" dirty="0"/>
          </a:p>
          <a:p>
            <a:pPr marL="285750" indent="-285750" algn="just">
              <a:buFont typeface="Arial" panose="020B0604020202020204" pitchFamily="34" charset="0"/>
              <a:buChar char="•"/>
            </a:pPr>
            <a:r>
              <a:rPr lang="en-IN" sz="1600" dirty="0"/>
              <a:t>Captures multi-hop biological relationships (e.g., Symptom → Disease → Gene)</a:t>
            </a:r>
          </a:p>
        </p:txBody>
      </p:sp>
      <p:sp>
        <p:nvSpPr>
          <p:cNvPr id="7" name="Slide Number Placeholder 6">
            <a:extLst>
              <a:ext uri="{FF2B5EF4-FFF2-40B4-BE49-F238E27FC236}">
                <a16:creationId xmlns:a16="http://schemas.microsoft.com/office/drawing/2014/main" id="{489BCFA8-0147-6C0F-CFBF-7943CAC08C70}"/>
              </a:ext>
            </a:extLst>
          </p:cNvPr>
          <p:cNvSpPr>
            <a:spLocks noGrp="1"/>
          </p:cNvSpPr>
          <p:nvPr>
            <p:ph type="sldNum" sz="quarter" idx="12"/>
          </p:nvPr>
        </p:nvSpPr>
        <p:spPr/>
        <p:txBody>
          <a:bodyPr/>
          <a:lstStyle/>
          <a:p>
            <a:fld id="{ECBCDBC5-4E49-49CB-B926-A54925945C9F}" type="slidenum">
              <a:rPr lang="en-IN" smtClean="0"/>
              <a:t>7</a:t>
            </a:fld>
            <a:endParaRPr lang="en-IN"/>
          </a:p>
        </p:txBody>
      </p:sp>
      <p:sp>
        <p:nvSpPr>
          <p:cNvPr id="8" name="Freeform 2">
            <a:extLst>
              <a:ext uri="{FF2B5EF4-FFF2-40B4-BE49-F238E27FC236}">
                <a16:creationId xmlns:a16="http://schemas.microsoft.com/office/drawing/2014/main" id="{D6E57DD3-9048-32C1-430C-B931500CFD45}"/>
              </a:ext>
            </a:extLst>
          </p:cNvPr>
          <p:cNvSpPr/>
          <p:nvPr/>
        </p:nvSpPr>
        <p:spPr>
          <a:xfrm>
            <a:off x="9149374" y="208336"/>
            <a:ext cx="2778804" cy="876300"/>
          </a:xfrm>
          <a:custGeom>
            <a:avLst/>
            <a:gdLst/>
            <a:ahLst/>
            <a:cxnLst/>
            <a:rect l="l" t="t" r="r" b="b"/>
            <a:pathLst>
              <a:path w="4181470" h="1517647">
                <a:moveTo>
                  <a:pt x="0" y="0"/>
                </a:moveTo>
                <a:lnTo>
                  <a:pt x="4181470" y="0"/>
                </a:lnTo>
                <a:lnTo>
                  <a:pt x="4181470" y="1517646"/>
                </a:lnTo>
                <a:lnTo>
                  <a:pt x="0" y="1517646"/>
                </a:lnTo>
                <a:lnTo>
                  <a:pt x="0" y="0"/>
                </a:lnTo>
                <a:close/>
              </a:path>
            </a:pathLst>
          </a:custGeom>
          <a:blipFill>
            <a:blip r:embed="rId2">
              <a:alphaModFix amt="76000"/>
            </a:blip>
            <a:stretch>
              <a:fillRect t="-13733" b="-13733"/>
            </a:stretch>
          </a:blipFill>
        </p:spPr>
      </p:sp>
      <p:sp>
        <p:nvSpPr>
          <p:cNvPr id="31" name="Rectangle: Rounded Corners 4">
            <a:extLst>
              <a:ext uri="{FF2B5EF4-FFF2-40B4-BE49-F238E27FC236}">
                <a16:creationId xmlns:a16="http://schemas.microsoft.com/office/drawing/2014/main" id="{7F2C1FAF-2AE3-FDFD-6DC8-1B6743871D37}"/>
              </a:ext>
            </a:extLst>
          </p:cNvPr>
          <p:cNvSpPr/>
          <p:nvPr/>
        </p:nvSpPr>
        <p:spPr>
          <a:xfrm>
            <a:off x="6097660" y="1415963"/>
            <a:ext cx="1585682" cy="1502228"/>
          </a:xfrm>
          <a:prstGeom prst="round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t>Agent 3: </a:t>
            </a:r>
          </a:p>
          <a:p>
            <a:pPr algn="ctr"/>
            <a:r>
              <a:rPr lang="en-IN" sz="2000" dirty="0"/>
              <a:t>Causal Inference Reasoning</a:t>
            </a:r>
          </a:p>
        </p:txBody>
      </p:sp>
      <p:cxnSp>
        <p:nvCxnSpPr>
          <p:cNvPr id="32" name="Straight Arrow Connector 31">
            <a:extLst>
              <a:ext uri="{FF2B5EF4-FFF2-40B4-BE49-F238E27FC236}">
                <a16:creationId xmlns:a16="http://schemas.microsoft.com/office/drawing/2014/main" id="{355E35C9-2ACC-2867-1ED9-A84E2AD0BCB9}"/>
              </a:ext>
            </a:extLst>
          </p:cNvPr>
          <p:cNvCxnSpPr>
            <a:cxnSpLocks/>
            <a:stCxn id="31" idx="3"/>
          </p:cNvCxnSpPr>
          <p:nvPr/>
        </p:nvCxnSpPr>
        <p:spPr>
          <a:xfrm>
            <a:off x="7683342" y="2167077"/>
            <a:ext cx="37781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6" name="Rectangle: Rounded Corners 4">
            <a:extLst>
              <a:ext uri="{FF2B5EF4-FFF2-40B4-BE49-F238E27FC236}">
                <a16:creationId xmlns:a16="http://schemas.microsoft.com/office/drawing/2014/main" id="{72B01705-E0A6-A2A8-6373-4E409F010A40}"/>
              </a:ext>
            </a:extLst>
          </p:cNvPr>
          <p:cNvSpPr/>
          <p:nvPr/>
        </p:nvSpPr>
        <p:spPr>
          <a:xfrm>
            <a:off x="9928103" y="1415963"/>
            <a:ext cx="1585682" cy="1502228"/>
          </a:xfrm>
          <a:prstGeom prst="round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t>Agent 2: </a:t>
            </a:r>
          </a:p>
          <a:p>
            <a:pPr algn="ctr"/>
            <a:r>
              <a:rPr lang="en-IN" sz="2000" dirty="0"/>
              <a:t>Gene Matcher</a:t>
            </a:r>
            <a:endParaRPr lang="en-IN" sz="2400" dirty="0"/>
          </a:p>
        </p:txBody>
      </p:sp>
      <p:cxnSp>
        <p:nvCxnSpPr>
          <p:cNvPr id="46" name="Straight Arrow Connector 45">
            <a:extLst>
              <a:ext uri="{FF2B5EF4-FFF2-40B4-BE49-F238E27FC236}">
                <a16:creationId xmlns:a16="http://schemas.microsoft.com/office/drawing/2014/main" id="{778A1CAE-41CE-B4A8-1264-0364A12288D9}"/>
              </a:ext>
            </a:extLst>
          </p:cNvPr>
          <p:cNvCxnSpPr>
            <a:cxnSpLocks/>
            <a:stCxn id="6" idx="3"/>
          </p:cNvCxnSpPr>
          <p:nvPr/>
        </p:nvCxnSpPr>
        <p:spPr>
          <a:xfrm>
            <a:off x="9632880" y="2167077"/>
            <a:ext cx="281262" cy="2342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48" name="Rectangle: Rounded Corners 4">
            <a:extLst>
              <a:ext uri="{FF2B5EF4-FFF2-40B4-BE49-F238E27FC236}">
                <a16:creationId xmlns:a16="http://schemas.microsoft.com/office/drawing/2014/main" id="{44060D4F-A649-3BCC-068F-8C5E97C17C41}"/>
              </a:ext>
            </a:extLst>
          </p:cNvPr>
          <p:cNvSpPr/>
          <p:nvPr/>
        </p:nvSpPr>
        <p:spPr>
          <a:xfrm>
            <a:off x="9914143" y="1415963"/>
            <a:ext cx="1889712" cy="1502228"/>
          </a:xfrm>
          <a:prstGeom prst="round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t>Agent 4:</a:t>
            </a:r>
          </a:p>
          <a:p>
            <a:pPr algn="ctr"/>
            <a:r>
              <a:rPr lang="en-IN" sz="2000" dirty="0"/>
              <a:t>Personalized Risk Calibration</a:t>
            </a:r>
          </a:p>
        </p:txBody>
      </p:sp>
    </p:spTree>
    <p:extLst>
      <p:ext uri="{BB962C8B-B14F-4D97-AF65-F5344CB8AC3E}">
        <p14:creationId xmlns:p14="http://schemas.microsoft.com/office/powerpoint/2010/main" val="41197445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7F5B3-B8C2-FAED-481C-27AE1CB96DBB}"/>
            </a:ext>
          </a:extLst>
        </p:cNvPr>
        <p:cNvGrpSpPr/>
        <p:nvPr/>
      </p:nvGrpSpPr>
      <p:grpSpPr>
        <a:xfrm>
          <a:off x="0" y="0"/>
          <a:ext cx="0" cy="0"/>
          <a:chOff x="0" y="0"/>
          <a:chExt cx="0" cy="0"/>
        </a:xfrm>
      </p:grpSpPr>
      <p:sp>
        <p:nvSpPr>
          <p:cNvPr id="2" name="Title 5">
            <a:extLst>
              <a:ext uri="{FF2B5EF4-FFF2-40B4-BE49-F238E27FC236}">
                <a16:creationId xmlns:a16="http://schemas.microsoft.com/office/drawing/2014/main" id="{F43897AF-145E-1999-B3FB-29EB62A2F445}"/>
              </a:ext>
            </a:extLst>
          </p:cNvPr>
          <p:cNvSpPr txBox="1">
            <a:spLocks/>
          </p:cNvSpPr>
          <p:nvPr/>
        </p:nvSpPr>
        <p:spPr>
          <a:xfrm>
            <a:off x="332621" y="308832"/>
            <a:ext cx="11263311" cy="87629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latin typeface="Garamond" panose="02020404030301010803" pitchFamily="18" charset="0"/>
              </a:rPr>
              <a:t>Model Architecture </a:t>
            </a:r>
            <a:endParaRPr lang="en-US" dirty="0">
              <a:latin typeface="Garamond" panose="02020404030301010803" pitchFamily="18" charset="0"/>
            </a:endParaRPr>
          </a:p>
        </p:txBody>
      </p:sp>
      <p:sp>
        <p:nvSpPr>
          <p:cNvPr id="3" name="Rectangle: Rounded Corners 2">
            <a:extLst>
              <a:ext uri="{FF2B5EF4-FFF2-40B4-BE49-F238E27FC236}">
                <a16:creationId xmlns:a16="http://schemas.microsoft.com/office/drawing/2014/main" id="{D07F457B-D17F-550E-BFA5-B0A9C4975598}"/>
              </a:ext>
            </a:extLst>
          </p:cNvPr>
          <p:cNvSpPr/>
          <p:nvPr/>
        </p:nvSpPr>
        <p:spPr>
          <a:xfrm>
            <a:off x="327237" y="1415963"/>
            <a:ext cx="1585681" cy="1502228"/>
          </a:xfrm>
          <a:prstGeom prst="round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Dataset Collection</a:t>
            </a:r>
          </a:p>
        </p:txBody>
      </p:sp>
      <p:sp>
        <p:nvSpPr>
          <p:cNvPr id="4" name="Rectangle: Rounded Corners 3">
            <a:extLst>
              <a:ext uri="{FF2B5EF4-FFF2-40B4-BE49-F238E27FC236}">
                <a16:creationId xmlns:a16="http://schemas.microsoft.com/office/drawing/2014/main" id="{74B9E117-2158-29CD-653D-1A72072D0332}"/>
              </a:ext>
            </a:extLst>
          </p:cNvPr>
          <p:cNvSpPr/>
          <p:nvPr/>
        </p:nvSpPr>
        <p:spPr>
          <a:xfrm>
            <a:off x="2198444" y="1415963"/>
            <a:ext cx="1585682" cy="1502228"/>
          </a:xfrm>
          <a:prstGeom prst="round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t>Agent 1: </a:t>
            </a:r>
            <a:r>
              <a:rPr lang="en-IN" sz="2000" dirty="0"/>
              <a:t>Symptom &amp; Timeline Extractor</a:t>
            </a:r>
            <a:endParaRPr lang="en-IN" sz="2400" dirty="0"/>
          </a:p>
        </p:txBody>
      </p:sp>
      <p:sp>
        <p:nvSpPr>
          <p:cNvPr id="5" name="Rectangle: Rounded Corners 4">
            <a:extLst>
              <a:ext uri="{FF2B5EF4-FFF2-40B4-BE49-F238E27FC236}">
                <a16:creationId xmlns:a16="http://schemas.microsoft.com/office/drawing/2014/main" id="{C387FC3F-12FC-E779-9073-067103C95705}"/>
              </a:ext>
            </a:extLst>
          </p:cNvPr>
          <p:cNvSpPr/>
          <p:nvPr/>
        </p:nvSpPr>
        <p:spPr>
          <a:xfrm>
            <a:off x="4148123" y="1415963"/>
            <a:ext cx="1585682" cy="1502228"/>
          </a:xfrm>
          <a:prstGeom prst="round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t>Agent 2: </a:t>
            </a:r>
          </a:p>
          <a:p>
            <a:pPr algn="ctr"/>
            <a:r>
              <a:rPr lang="en-IN" sz="2000" dirty="0"/>
              <a:t>Gene Matcher</a:t>
            </a:r>
            <a:endParaRPr lang="en-IN" sz="2400" dirty="0"/>
          </a:p>
        </p:txBody>
      </p:sp>
      <p:sp>
        <p:nvSpPr>
          <p:cNvPr id="6" name="Rectangle: Rounded Corners 5">
            <a:extLst>
              <a:ext uri="{FF2B5EF4-FFF2-40B4-BE49-F238E27FC236}">
                <a16:creationId xmlns:a16="http://schemas.microsoft.com/office/drawing/2014/main" id="{0A6D606E-8AB8-C881-C2FD-D01D05DB7103}"/>
              </a:ext>
            </a:extLst>
          </p:cNvPr>
          <p:cNvSpPr/>
          <p:nvPr/>
        </p:nvSpPr>
        <p:spPr>
          <a:xfrm>
            <a:off x="8047197" y="1415963"/>
            <a:ext cx="1585683" cy="1502228"/>
          </a:xfrm>
          <a:prstGeom prst="round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Risk Scoring</a:t>
            </a:r>
            <a:endParaRPr lang="en-IN" sz="2400" dirty="0"/>
          </a:p>
        </p:txBody>
      </p:sp>
      <p:cxnSp>
        <p:nvCxnSpPr>
          <p:cNvPr id="9" name="Straight Arrow Connector 8">
            <a:extLst>
              <a:ext uri="{FF2B5EF4-FFF2-40B4-BE49-F238E27FC236}">
                <a16:creationId xmlns:a16="http://schemas.microsoft.com/office/drawing/2014/main" id="{06E9773D-E7AE-39D0-9809-9EE7B26B3100}"/>
              </a:ext>
            </a:extLst>
          </p:cNvPr>
          <p:cNvCxnSpPr>
            <a:cxnSpLocks/>
            <a:stCxn id="3" idx="3"/>
            <a:endCxn id="4" idx="1"/>
          </p:cNvCxnSpPr>
          <p:nvPr/>
        </p:nvCxnSpPr>
        <p:spPr>
          <a:xfrm>
            <a:off x="1912918" y="2167077"/>
            <a:ext cx="28552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0" name="Straight Arrow Connector 9">
            <a:extLst>
              <a:ext uri="{FF2B5EF4-FFF2-40B4-BE49-F238E27FC236}">
                <a16:creationId xmlns:a16="http://schemas.microsoft.com/office/drawing/2014/main" id="{4AEBC2FE-46EA-EF94-E14B-3A5DFC31DA2E}"/>
              </a:ext>
            </a:extLst>
          </p:cNvPr>
          <p:cNvCxnSpPr>
            <a:cxnSpLocks/>
            <a:stCxn id="4" idx="3"/>
            <a:endCxn id="5" idx="1"/>
          </p:cNvCxnSpPr>
          <p:nvPr/>
        </p:nvCxnSpPr>
        <p:spPr>
          <a:xfrm>
            <a:off x="3784126" y="2167077"/>
            <a:ext cx="363997"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 name="Straight Arrow Connector 10">
            <a:extLst>
              <a:ext uri="{FF2B5EF4-FFF2-40B4-BE49-F238E27FC236}">
                <a16:creationId xmlns:a16="http://schemas.microsoft.com/office/drawing/2014/main" id="{C34C6545-4283-0508-FEFD-5D0CD7889EB9}"/>
              </a:ext>
            </a:extLst>
          </p:cNvPr>
          <p:cNvCxnSpPr>
            <a:cxnSpLocks/>
            <a:stCxn id="5" idx="3"/>
            <a:endCxn id="31" idx="1"/>
          </p:cNvCxnSpPr>
          <p:nvPr/>
        </p:nvCxnSpPr>
        <p:spPr>
          <a:xfrm>
            <a:off x="5733805" y="2167077"/>
            <a:ext cx="36385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5" name="TextBox 14">
            <a:extLst>
              <a:ext uri="{FF2B5EF4-FFF2-40B4-BE49-F238E27FC236}">
                <a16:creationId xmlns:a16="http://schemas.microsoft.com/office/drawing/2014/main" id="{1B0E01F6-69DD-E06D-2D81-E6584E2676F8}"/>
              </a:ext>
            </a:extLst>
          </p:cNvPr>
          <p:cNvSpPr txBox="1"/>
          <p:nvPr/>
        </p:nvSpPr>
        <p:spPr>
          <a:xfrm>
            <a:off x="343508" y="4011851"/>
            <a:ext cx="5419052" cy="2800767"/>
          </a:xfrm>
          <a:prstGeom prst="rect">
            <a:avLst/>
          </a:prstGeom>
          <a:noFill/>
        </p:spPr>
        <p:txBody>
          <a:bodyPr wrap="square">
            <a:spAutoFit/>
          </a:bodyPr>
          <a:lstStyle/>
          <a:p>
            <a:pPr algn="just"/>
            <a:r>
              <a:rPr lang="en-IN" sz="1600" b="1" dirty="0"/>
              <a:t>Tools: </a:t>
            </a:r>
            <a:r>
              <a:rPr lang="en-IN" sz="1600" dirty="0"/>
              <a:t>Python + </a:t>
            </a:r>
            <a:r>
              <a:rPr lang="en-IN" sz="1600" dirty="0" err="1"/>
              <a:t>DoWhy</a:t>
            </a:r>
            <a:r>
              <a:rPr lang="en-IN" sz="1600" dirty="0"/>
              <a:t> / </a:t>
            </a:r>
            <a:r>
              <a:rPr lang="en-IN" sz="1600" dirty="0" err="1"/>
              <a:t>CausalNex</a:t>
            </a:r>
            <a:r>
              <a:rPr lang="en-IN" sz="1600" dirty="0"/>
              <a:t> + </a:t>
            </a:r>
            <a:r>
              <a:rPr lang="en-IN" sz="1600" dirty="0" err="1"/>
              <a:t>NetworkX</a:t>
            </a:r>
            <a:endParaRPr lang="en-IN" sz="1600" dirty="0"/>
          </a:p>
          <a:p>
            <a:r>
              <a:rPr lang="en-IN" sz="1600" b="1" dirty="0"/>
              <a:t>Input: </a:t>
            </a:r>
          </a:p>
          <a:p>
            <a:pPr marL="285750" indent="-285750">
              <a:buFont typeface="Arial" panose="020B0604020202020204" pitchFamily="34" charset="0"/>
              <a:buChar char="•"/>
            </a:pPr>
            <a:r>
              <a:rPr lang="en-IN" sz="1600" dirty="0"/>
              <a:t>Mapped symptom–gene associations from Agent 2</a:t>
            </a:r>
          </a:p>
          <a:p>
            <a:pPr marL="285750" indent="-285750">
              <a:buFont typeface="Arial" panose="020B0604020202020204" pitchFamily="34" charset="0"/>
              <a:buChar char="•"/>
            </a:pPr>
            <a:r>
              <a:rPr lang="en-IN" sz="1600" dirty="0"/>
              <a:t>Patient demographics (age, gender)</a:t>
            </a:r>
          </a:p>
          <a:p>
            <a:pPr marL="285750" indent="-285750">
              <a:buFont typeface="Arial" panose="020B0604020202020204" pitchFamily="34" charset="0"/>
              <a:buChar char="•"/>
            </a:pPr>
            <a:r>
              <a:rPr lang="en-IN" sz="1600" dirty="0"/>
              <a:t>Environmental exposure factors (air pollution, radon, occupation)</a:t>
            </a:r>
          </a:p>
          <a:p>
            <a:r>
              <a:rPr lang="en-IN" sz="1600" b="1" dirty="0"/>
              <a:t>Output:</a:t>
            </a:r>
          </a:p>
          <a:p>
            <a:pPr marL="285750" indent="-285750">
              <a:buFont typeface="Arial" panose="020B0604020202020204" pitchFamily="34" charset="0"/>
              <a:buChar char="•"/>
            </a:pPr>
            <a:r>
              <a:rPr lang="en-IN" sz="1600" dirty="0"/>
              <a:t>Causal-weighted gene risk factors</a:t>
            </a:r>
          </a:p>
          <a:p>
            <a:pPr marL="285750" indent="-285750">
              <a:buFont typeface="Arial" panose="020B0604020202020204" pitchFamily="34" charset="0"/>
              <a:buChar char="•"/>
            </a:pPr>
            <a:r>
              <a:rPr lang="en-IN" sz="1600" dirty="0"/>
              <a:t>Confounder-adjusted causal effect scores</a:t>
            </a:r>
          </a:p>
          <a:p>
            <a:pPr marL="285750" indent="-285750">
              <a:buFont typeface="Arial" panose="020B0604020202020204" pitchFamily="34" charset="0"/>
              <a:buChar char="•"/>
            </a:pPr>
            <a:r>
              <a:rPr lang="en-IN" sz="1600" dirty="0"/>
              <a:t>Causal explanation graphs</a:t>
            </a:r>
          </a:p>
          <a:p>
            <a:pPr algn="just"/>
            <a:endParaRPr lang="en-IN" sz="1600" dirty="0"/>
          </a:p>
        </p:txBody>
      </p:sp>
      <p:sp>
        <p:nvSpPr>
          <p:cNvPr id="19" name="TextBox 18">
            <a:extLst>
              <a:ext uri="{FF2B5EF4-FFF2-40B4-BE49-F238E27FC236}">
                <a16:creationId xmlns:a16="http://schemas.microsoft.com/office/drawing/2014/main" id="{392EB38E-5A79-97EC-1E81-B0698F5714FB}"/>
              </a:ext>
            </a:extLst>
          </p:cNvPr>
          <p:cNvSpPr txBox="1"/>
          <p:nvPr/>
        </p:nvSpPr>
        <p:spPr>
          <a:xfrm>
            <a:off x="327237" y="3429000"/>
            <a:ext cx="6096000" cy="707886"/>
          </a:xfrm>
          <a:prstGeom prst="rect">
            <a:avLst/>
          </a:prstGeom>
          <a:noFill/>
        </p:spPr>
        <p:txBody>
          <a:bodyPr wrap="square">
            <a:spAutoFit/>
          </a:bodyPr>
          <a:lstStyle/>
          <a:p>
            <a:r>
              <a:rPr lang="en-IN" sz="2000" b="1" dirty="0">
                <a:solidFill>
                  <a:srgbClr val="00B050"/>
                </a:solidFill>
              </a:rPr>
              <a:t>Agent 3: </a:t>
            </a:r>
            <a:r>
              <a:rPr lang="en-IN" sz="2000" b="1" dirty="0"/>
              <a:t>Causal Inference Reasoning Agent</a:t>
            </a:r>
          </a:p>
          <a:p>
            <a:endParaRPr lang="en-IN" sz="2000" b="1" dirty="0"/>
          </a:p>
        </p:txBody>
      </p:sp>
      <p:cxnSp>
        <p:nvCxnSpPr>
          <p:cNvPr id="21" name="Straight Connector 20">
            <a:extLst>
              <a:ext uri="{FF2B5EF4-FFF2-40B4-BE49-F238E27FC236}">
                <a16:creationId xmlns:a16="http://schemas.microsoft.com/office/drawing/2014/main" id="{9C1CA3C0-3004-8DA6-F2A5-DA5DE89BFECF}"/>
              </a:ext>
            </a:extLst>
          </p:cNvPr>
          <p:cNvCxnSpPr/>
          <p:nvPr/>
        </p:nvCxnSpPr>
        <p:spPr>
          <a:xfrm>
            <a:off x="5894140" y="3694556"/>
            <a:ext cx="0" cy="2533746"/>
          </a:xfrm>
          <a:prstGeom prst="line">
            <a:avLst/>
          </a:prstGeom>
        </p:spPr>
        <p:style>
          <a:lnRef idx="3">
            <a:schemeClr val="dk1"/>
          </a:lnRef>
          <a:fillRef idx="0">
            <a:schemeClr val="dk1"/>
          </a:fillRef>
          <a:effectRef idx="2">
            <a:schemeClr val="dk1"/>
          </a:effectRef>
          <a:fontRef idx="minor">
            <a:schemeClr val="tx1"/>
          </a:fontRef>
        </p:style>
      </p:cxnSp>
      <p:sp>
        <p:nvSpPr>
          <p:cNvPr id="23" name="TextBox 22">
            <a:extLst>
              <a:ext uri="{FF2B5EF4-FFF2-40B4-BE49-F238E27FC236}">
                <a16:creationId xmlns:a16="http://schemas.microsoft.com/office/drawing/2014/main" id="{1FA4A977-E424-E0CD-33D3-15F8243CCAD9}"/>
              </a:ext>
            </a:extLst>
          </p:cNvPr>
          <p:cNvSpPr txBox="1"/>
          <p:nvPr/>
        </p:nvSpPr>
        <p:spPr>
          <a:xfrm>
            <a:off x="5964276" y="3438472"/>
            <a:ext cx="6096000" cy="707886"/>
          </a:xfrm>
          <a:prstGeom prst="rect">
            <a:avLst/>
          </a:prstGeom>
          <a:noFill/>
          <a:ln>
            <a:solidFill>
              <a:srgbClr val="00B050"/>
            </a:solidFill>
          </a:ln>
        </p:spPr>
        <p:txBody>
          <a:bodyPr wrap="square">
            <a:spAutoFit/>
          </a:bodyPr>
          <a:lstStyle/>
          <a:p>
            <a:r>
              <a:rPr lang="en-US" sz="2000" b="1" dirty="0">
                <a:solidFill>
                  <a:srgbClr val="00B050"/>
                </a:solidFill>
              </a:rPr>
              <a:t>Agent 4:</a:t>
            </a:r>
            <a:r>
              <a:rPr lang="en-US" sz="2000" b="1" dirty="0"/>
              <a:t> </a:t>
            </a:r>
            <a:r>
              <a:rPr lang="en-IN" sz="2000" b="1" dirty="0"/>
              <a:t>Personalized Risk Calibration Agent</a:t>
            </a:r>
          </a:p>
          <a:p>
            <a:endParaRPr lang="en-IN" sz="2000" b="1" dirty="0"/>
          </a:p>
        </p:txBody>
      </p:sp>
      <p:sp>
        <p:nvSpPr>
          <p:cNvPr id="24" name="TextBox 23">
            <a:extLst>
              <a:ext uri="{FF2B5EF4-FFF2-40B4-BE49-F238E27FC236}">
                <a16:creationId xmlns:a16="http://schemas.microsoft.com/office/drawing/2014/main" id="{1399103D-F31B-CBDB-E0CB-1CE0306FB579}"/>
              </a:ext>
            </a:extLst>
          </p:cNvPr>
          <p:cNvSpPr txBox="1"/>
          <p:nvPr/>
        </p:nvSpPr>
        <p:spPr>
          <a:xfrm>
            <a:off x="5964276" y="3890665"/>
            <a:ext cx="5839579" cy="2646878"/>
          </a:xfrm>
          <a:prstGeom prst="rect">
            <a:avLst/>
          </a:prstGeom>
          <a:noFill/>
        </p:spPr>
        <p:txBody>
          <a:bodyPr wrap="square">
            <a:spAutoFit/>
          </a:bodyPr>
          <a:lstStyle/>
          <a:p>
            <a:pPr algn="just"/>
            <a:r>
              <a:rPr lang="en-IN" sz="1600" b="1" dirty="0"/>
              <a:t>Tools: </a:t>
            </a:r>
            <a:r>
              <a:rPr lang="en-IN" sz="1600" dirty="0"/>
              <a:t>Python + Bayesian </a:t>
            </a:r>
            <a:r>
              <a:rPr lang="en-IN" sz="1600" dirty="0" err="1"/>
              <a:t>Modeling</a:t>
            </a:r>
            <a:r>
              <a:rPr lang="en-IN" sz="1600" dirty="0"/>
              <a:t> + Calibration Techniques (Platt Scaling / Isotonic Regression)</a:t>
            </a:r>
          </a:p>
          <a:p>
            <a:r>
              <a:rPr lang="en-IN" sz="1600" b="1" dirty="0"/>
              <a:t>Input: </a:t>
            </a:r>
          </a:p>
          <a:p>
            <a:pPr marL="285750" indent="-285750">
              <a:buFont typeface="Arial" panose="020B0604020202020204" pitchFamily="34" charset="0"/>
              <a:buChar char="•"/>
            </a:pPr>
            <a:r>
              <a:rPr lang="en-IN" sz="1600" dirty="0"/>
              <a:t>Raw lung cancer risk score</a:t>
            </a:r>
          </a:p>
          <a:p>
            <a:pPr marL="285750" indent="-285750">
              <a:buFont typeface="Arial" panose="020B0604020202020204" pitchFamily="34" charset="0"/>
              <a:buChar char="•"/>
            </a:pPr>
            <a:r>
              <a:rPr lang="en-IN" sz="1600" dirty="0"/>
              <a:t>Causal-weighted outputs from Agent 4</a:t>
            </a:r>
          </a:p>
          <a:p>
            <a:pPr marL="285750" indent="-285750">
              <a:buFont typeface="Arial" panose="020B0604020202020204" pitchFamily="34" charset="0"/>
              <a:buChar char="•"/>
            </a:pPr>
            <a:r>
              <a:rPr lang="en-IN" sz="1600" dirty="0"/>
              <a:t>Patient demographic and population-level attributes</a:t>
            </a:r>
          </a:p>
          <a:p>
            <a:r>
              <a:rPr lang="en-IN" sz="1600" b="1" dirty="0"/>
              <a:t>Output:</a:t>
            </a:r>
          </a:p>
          <a:p>
            <a:pPr marL="285750" indent="-285750">
              <a:buFont typeface="Arial" panose="020B0604020202020204" pitchFamily="34" charset="0"/>
              <a:buChar char="•"/>
            </a:pPr>
            <a:r>
              <a:rPr lang="en-IN" sz="1600" dirty="0"/>
              <a:t>Personalized, calibrated lung cancer risk score</a:t>
            </a:r>
          </a:p>
          <a:p>
            <a:pPr marL="285750" indent="-285750">
              <a:buFont typeface="Arial" panose="020B0604020202020204" pitchFamily="34" charset="0"/>
              <a:buChar char="•"/>
            </a:pPr>
            <a:r>
              <a:rPr lang="en-IN" sz="1600" dirty="0"/>
              <a:t>Population-aware screening thresholds</a:t>
            </a:r>
          </a:p>
          <a:p>
            <a:pPr marL="285750" indent="-285750">
              <a:buFont typeface="Arial" panose="020B0604020202020204" pitchFamily="34" charset="0"/>
              <a:buChar char="•"/>
            </a:pPr>
            <a:r>
              <a:rPr lang="en-IN" sz="1600" dirty="0"/>
              <a:t>Bias-adjusted risk interpretation</a:t>
            </a:r>
          </a:p>
        </p:txBody>
      </p:sp>
      <p:sp>
        <p:nvSpPr>
          <p:cNvPr id="7" name="Slide Number Placeholder 6">
            <a:extLst>
              <a:ext uri="{FF2B5EF4-FFF2-40B4-BE49-F238E27FC236}">
                <a16:creationId xmlns:a16="http://schemas.microsoft.com/office/drawing/2014/main" id="{5030D9E3-5365-03C0-A51F-C7C0B215CE06}"/>
              </a:ext>
            </a:extLst>
          </p:cNvPr>
          <p:cNvSpPr>
            <a:spLocks noGrp="1"/>
          </p:cNvSpPr>
          <p:nvPr>
            <p:ph type="sldNum" sz="quarter" idx="12"/>
          </p:nvPr>
        </p:nvSpPr>
        <p:spPr/>
        <p:txBody>
          <a:bodyPr/>
          <a:lstStyle/>
          <a:p>
            <a:fld id="{ECBCDBC5-4E49-49CB-B926-A54925945C9F}" type="slidenum">
              <a:rPr lang="en-IN" smtClean="0"/>
              <a:t>8</a:t>
            </a:fld>
            <a:endParaRPr lang="en-IN"/>
          </a:p>
        </p:txBody>
      </p:sp>
      <p:sp>
        <p:nvSpPr>
          <p:cNvPr id="8" name="Freeform 2">
            <a:extLst>
              <a:ext uri="{FF2B5EF4-FFF2-40B4-BE49-F238E27FC236}">
                <a16:creationId xmlns:a16="http://schemas.microsoft.com/office/drawing/2014/main" id="{F02A9583-DCE6-634C-A3FE-9B324E41A8B3}"/>
              </a:ext>
            </a:extLst>
          </p:cNvPr>
          <p:cNvSpPr/>
          <p:nvPr/>
        </p:nvSpPr>
        <p:spPr>
          <a:xfrm>
            <a:off x="9149374" y="208336"/>
            <a:ext cx="2778804" cy="876300"/>
          </a:xfrm>
          <a:custGeom>
            <a:avLst/>
            <a:gdLst/>
            <a:ahLst/>
            <a:cxnLst/>
            <a:rect l="l" t="t" r="r" b="b"/>
            <a:pathLst>
              <a:path w="4181470" h="1517647">
                <a:moveTo>
                  <a:pt x="0" y="0"/>
                </a:moveTo>
                <a:lnTo>
                  <a:pt x="4181470" y="0"/>
                </a:lnTo>
                <a:lnTo>
                  <a:pt x="4181470" y="1517646"/>
                </a:lnTo>
                <a:lnTo>
                  <a:pt x="0" y="1517646"/>
                </a:lnTo>
                <a:lnTo>
                  <a:pt x="0" y="0"/>
                </a:lnTo>
                <a:close/>
              </a:path>
            </a:pathLst>
          </a:custGeom>
          <a:blipFill>
            <a:blip r:embed="rId2">
              <a:alphaModFix amt="76000"/>
            </a:blip>
            <a:stretch>
              <a:fillRect t="-13733" b="-13733"/>
            </a:stretch>
          </a:blipFill>
        </p:spPr>
      </p:sp>
      <p:sp>
        <p:nvSpPr>
          <p:cNvPr id="31" name="Rectangle: Rounded Corners 4">
            <a:extLst>
              <a:ext uri="{FF2B5EF4-FFF2-40B4-BE49-F238E27FC236}">
                <a16:creationId xmlns:a16="http://schemas.microsoft.com/office/drawing/2014/main" id="{92EF8056-776C-549E-77A8-9A9037595176}"/>
              </a:ext>
            </a:extLst>
          </p:cNvPr>
          <p:cNvSpPr/>
          <p:nvPr/>
        </p:nvSpPr>
        <p:spPr>
          <a:xfrm>
            <a:off x="6097660" y="1415963"/>
            <a:ext cx="1585682" cy="1502228"/>
          </a:xfrm>
          <a:prstGeom prst="round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t>Agent 3: </a:t>
            </a:r>
          </a:p>
          <a:p>
            <a:pPr algn="ctr"/>
            <a:r>
              <a:rPr lang="en-IN" sz="2000" dirty="0"/>
              <a:t>Causal Inference Reasoning</a:t>
            </a:r>
          </a:p>
        </p:txBody>
      </p:sp>
      <p:cxnSp>
        <p:nvCxnSpPr>
          <p:cNvPr id="32" name="Straight Arrow Connector 31">
            <a:extLst>
              <a:ext uri="{FF2B5EF4-FFF2-40B4-BE49-F238E27FC236}">
                <a16:creationId xmlns:a16="http://schemas.microsoft.com/office/drawing/2014/main" id="{4937DCE8-62C5-A90D-7E0F-60F62D4B1C01}"/>
              </a:ext>
            </a:extLst>
          </p:cNvPr>
          <p:cNvCxnSpPr>
            <a:cxnSpLocks/>
            <a:stCxn id="31" idx="3"/>
          </p:cNvCxnSpPr>
          <p:nvPr/>
        </p:nvCxnSpPr>
        <p:spPr>
          <a:xfrm>
            <a:off x="7683342" y="2167077"/>
            <a:ext cx="37781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6" name="Rectangle: Rounded Corners 4">
            <a:extLst>
              <a:ext uri="{FF2B5EF4-FFF2-40B4-BE49-F238E27FC236}">
                <a16:creationId xmlns:a16="http://schemas.microsoft.com/office/drawing/2014/main" id="{F9DF3D33-13BD-C6E1-A305-947C079FC836}"/>
              </a:ext>
            </a:extLst>
          </p:cNvPr>
          <p:cNvSpPr/>
          <p:nvPr/>
        </p:nvSpPr>
        <p:spPr>
          <a:xfrm>
            <a:off x="9928103" y="1415963"/>
            <a:ext cx="1585682" cy="1502228"/>
          </a:xfrm>
          <a:prstGeom prst="round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t>Agent 2: </a:t>
            </a:r>
          </a:p>
          <a:p>
            <a:pPr algn="ctr"/>
            <a:r>
              <a:rPr lang="en-IN" sz="2000" dirty="0"/>
              <a:t>Gene Matcher</a:t>
            </a:r>
            <a:endParaRPr lang="en-IN" sz="2400" dirty="0"/>
          </a:p>
        </p:txBody>
      </p:sp>
      <p:cxnSp>
        <p:nvCxnSpPr>
          <p:cNvPr id="46" name="Straight Arrow Connector 45">
            <a:extLst>
              <a:ext uri="{FF2B5EF4-FFF2-40B4-BE49-F238E27FC236}">
                <a16:creationId xmlns:a16="http://schemas.microsoft.com/office/drawing/2014/main" id="{9FB04C2E-D8AB-1B9B-CF9D-513BE3172518}"/>
              </a:ext>
            </a:extLst>
          </p:cNvPr>
          <p:cNvCxnSpPr>
            <a:cxnSpLocks/>
            <a:stCxn id="6" idx="3"/>
          </p:cNvCxnSpPr>
          <p:nvPr/>
        </p:nvCxnSpPr>
        <p:spPr>
          <a:xfrm>
            <a:off x="9632880" y="2167077"/>
            <a:ext cx="281262" cy="2342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48" name="Rectangle: Rounded Corners 4">
            <a:extLst>
              <a:ext uri="{FF2B5EF4-FFF2-40B4-BE49-F238E27FC236}">
                <a16:creationId xmlns:a16="http://schemas.microsoft.com/office/drawing/2014/main" id="{E09ED65E-DAE1-FB05-5BDD-F9735D10C944}"/>
              </a:ext>
            </a:extLst>
          </p:cNvPr>
          <p:cNvSpPr/>
          <p:nvPr/>
        </p:nvSpPr>
        <p:spPr>
          <a:xfrm>
            <a:off x="9914143" y="1415963"/>
            <a:ext cx="1889712" cy="1502228"/>
          </a:xfrm>
          <a:prstGeom prst="round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t>Agent 4:</a:t>
            </a:r>
          </a:p>
          <a:p>
            <a:pPr algn="ctr"/>
            <a:r>
              <a:rPr lang="en-IN" sz="2000" dirty="0"/>
              <a:t>Personalized Risk Calibration</a:t>
            </a:r>
          </a:p>
        </p:txBody>
      </p:sp>
    </p:spTree>
    <p:extLst>
      <p:ext uri="{BB962C8B-B14F-4D97-AF65-F5344CB8AC3E}">
        <p14:creationId xmlns:p14="http://schemas.microsoft.com/office/powerpoint/2010/main" val="15922101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D04B268-5428-C473-7829-20934495CD18}"/>
              </a:ext>
            </a:extLst>
          </p:cNvPr>
          <p:cNvSpPr>
            <a:spLocks noGrp="1"/>
          </p:cNvSpPr>
          <p:nvPr>
            <p:ph type="sldNum" sz="quarter" idx="12"/>
          </p:nvPr>
        </p:nvSpPr>
        <p:spPr/>
        <p:txBody>
          <a:bodyPr/>
          <a:lstStyle/>
          <a:p>
            <a:fld id="{ECBCDBC5-4E49-49CB-B926-A54925945C9F}" type="slidenum">
              <a:rPr lang="en-IN" smtClean="0"/>
              <a:t>9</a:t>
            </a:fld>
            <a:endParaRPr lang="en-IN"/>
          </a:p>
        </p:txBody>
      </p:sp>
      <p:sp>
        <p:nvSpPr>
          <p:cNvPr id="6" name="TextBox 5">
            <a:extLst>
              <a:ext uri="{FF2B5EF4-FFF2-40B4-BE49-F238E27FC236}">
                <a16:creationId xmlns:a16="http://schemas.microsoft.com/office/drawing/2014/main" id="{F949AA3F-AD11-CBF4-9435-9F72735774D2}"/>
              </a:ext>
            </a:extLst>
          </p:cNvPr>
          <p:cNvSpPr txBox="1"/>
          <p:nvPr/>
        </p:nvSpPr>
        <p:spPr>
          <a:xfrm>
            <a:off x="0" y="1"/>
            <a:ext cx="12192000" cy="6740307"/>
          </a:xfrm>
          <a:prstGeom prst="rect">
            <a:avLst/>
          </a:prstGeom>
          <a:noFill/>
        </p:spPr>
        <p:txBody>
          <a:bodyPr wrap="square">
            <a:spAutoFit/>
          </a:bodyPr>
          <a:lstStyle/>
          <a:p>
            <a:pPr algn="ctr">
              <a:buNone/>
            </a:pPr>
            <a:r>
              <a:rPr lang="en-IN" sz="3600" dirty="0"/>
              <a:t>METHODOLOGY</a:t>
            </a:r>
          </a:p>
          <a:p>
            <a:pPr>
              <a:buNone/>
            </a:pPr>
            <a:endParaRPr lang="en-IN" dirty="0"/>
          </a:p>
          <a:p>
            <a:r>
              <a:rPr lang="en-IN" b="1" dirty="0"/>
              <a:t>AGENT 3</a:t>
            </a:r>
            <a:r>
              <a:rPr lang="en-IN" dirty="0"/>
              <a:t>:</a:t>
            </a:r>
            <a:r>
              <a:rPr lang="en-IN" b="1" dirty="0"/>
              <a:t>Causal Inference Reasoning Agent</a:t>
            </a:r>
          </a:p>
          <a:p>
            <a:pPr>
              <a:buNone/>
            </a:pPr>
            <a:endParaRPr lang="en-IN" dirty="0"/>
          </a:p>
          <a:p>
            <a:pPr>
              <a:buNone/>
            </a:pPr>
            <a:r>
              <a:rPr lang="en-IN" dirty="0"/>
              <a:t>Purpose:</a:t>
            </a:r>
          </a:p>
          <a:p>
            <a:pPr marL="285750" indent="-285750">
              <a:buFont typeface="Arial" panose="020B0604020202020204" pitchFamily="34" charset="0"/>
              <a:buChar char="•"/>
            </a:pPr>
            <a:r>
              <a:rPr lang="en-IN" dirty="0"/>
              <a:t>Introduces causal reasoning to distinguish true lung cancer risk factors from mere correlations.</a:t>
            </a:r>
          </a:p>
          <a:p>
            <a:pPr>
              <a:buNone/>
            </a:pPr>
            <a:r>
              <a:rPr lang="en-IN" dirty="0"/>
              <a:t>Structural Causal Model (SCM):</a:t>
            </a:r>
          </a:p>
          <a:p>
            <a:pPr marL="285750" indent="-285750">
              <a:buFont typeface="Arial" panose="020B0604020202020204" pitchFamily="34" charset="0"/>
              <a:buChar char="•"/>
            </a:pPr>
            <a:r>
              <a:rPr lang="en-IN" dirty="0"/>
              <a:t>Constructs a Directed Acyclic Graph (DAG) representing causal relationships.</a:t>
            </a:r>
          </a:p>
          <a:p>
            <a:pPr marL="285750" indent="-285750">
              <a:buFont typeface="Arial" panose="020B0604020202020204" pitchFamily="34" charset="0"/>
              <a:buChar char="•"/>
            </a:pPr>
            <a:r>
              <a:rPr lang="en-IN" dirty="0"/>
              <a:t>Models interactions between environmental exposure, gene mutations, symptoms, and lung cancer.</a:t>
            </a:r>
          </a:p>
          <a:p>
            <a:pPr marL="285750" indent="-285750">
              <a:buFont typeface="Arial" panose="020B0604020202020204" pitchFamily="34" charset="0"/>
              <a:buChar char="•"/>
            </a:pPr>
            <a:r>
              <a:rPr lang="en-IN" dirty="0"/>
              <a:t>Adjusts for confounders such as age and gender.</a:t>
            </a:r>
          </a:p>
          <a:p>
            <a:pPr>
              <a:buNone/>
            </a:pPr>
            <a:r>
              <a:rPr lang="en-IN" dirty="0"/>
              <a:t>Causal Effect Estimation:</a:t>
            </a:r>
          </a:p>
          <a:p>
            <a:pPr marL="285750" indent="-285750">
              <a:buFont typeface="Arial" panose="020B0604020202020204" pitchFamily="34" charset="0"/>
              <a:buChar char="•"/>
            </a:pPr>
            <a:r>
              <a:rPr lang="en-IN" dirty="0"/>
              <a:t>Estimates causal impact of specific gene mutations on lung cancer risk.</a:t>
            </a:r>
          </a:p>
          <a:p>
            <a:pPr marL="285750" indent="-285750">
              <a:buFont typeface="Arial" panose="020B0604020202020204" pitchFamily="34" charset="0"/>
              <a:buChar char="•"/>
            </a:pPr>
            <a:r>
              <a:rPr lang="en-IN" dirty="0"/>
              <a:t>Answers counterfactual queries (e.g., effect of removing a gene mutation).</a:t>
            </a:r>
          </a:p>
          <a:p>
            <a:pPr marL="285750" indent="-285750">
              <a:buFont typeface="Arial" panose="020B0604020202020204" pitchFamily="34" charset="0"/>
              <a:buChar char="•"/>
            </a:pPr>
            <a:r>
              <a:rPr lang="en-IN" dirty="0"/>
              <a:t>Uses intervention-based reasoning to ensure unbiased inference.</a:t>
            </a:r>
          </a:p>
          <a:p>
            <a:pPr>
              <a:buNone/>
            </a:pPr>
            <a:r>
              <a:rPr lang="en-IN" dirty="0"/>
              <a:t>Techniques Used:</a:t>
            </a:r>
          </a:p>
          <a:p>
            <a:pPr marL="285750" indent="-285750">
              <a:buFont typeface="Arial" panose="020B0604020202020204" pitchFamily="34" charset="0"/>
              <a:buChar char="•"/>
            </a:pPr>
            <a:r>
              <a:rPr lang="en-IN" dirty="0"/>
              <a:t>Backdoor adjustment</a:t>
            </a:r>
          </a:p>
          <a:p>
            <a:pPr marL="285750" indent="-285750">
              <a:buFont typeface="Arial" panose="020B0604020202020204" pitchFamily="34" charset="0"/>
              <a:buChar char="•"/>
            </a:pPr>
            <a:r>
              <a:rPr lang="en-IN" dirty="0"/>
              <a:t>Propensity score matching</a:t>
            </a:r>
          </a:p>
          <a:p>
            <a:pPr marL="285750" indent="-285750">
              <a:buFont typeface="Arial" panose="020B0604020202020204" pitchFamily="34" charset="0"/>
              <a:buChar char="•"/>
            </a:pPr>
            <a:r>
              <a:rPr lang="en-IN" dirty="0"/>
              <a:t>Do-calculus–based intervention analysis</a:t>
            </a:r>
          </a:p>
          <a:p>
            <a:r>
              <a:rPr lang="en-IN" dirty="0"/>
              <a:t>Tools &amp; Frameworks:</a:t>
            </a:r>
          </a:p>
          <a:p>
            <a:pPr marL="285750" indent="-285750">
              <a:buFont typeface="Arial" panose="020B0604020202020204" pitchFamily="34" charset="0"/>
              <a:buChar char="•"/>
            </a:pPr>
            <a:r>
              <a:rPr lang="en-IN" dirty="0" err="1"/>
              <a:t>DoWhy</a:t>
            </a:r>
            <a:r>
              <a:rPr lang="en-IN" dirty="0"/>
              <a:t> – causal estimation</a:t>
            </a:r>
          </a:p>
          <a:p>
            <a:pPr marL="285750" indent="-285750">
              <a:buFont typeface="Arial" panose="020B0604020202020204" pitchFamily="34" charset="0"/>
              <a:buChar char="•"/>
            </a:pPr>
            <a:r>
              <a:rPr lang="en-IN" dirty="0" err="1"/>
              <a:t>CausalNex</a:t>
            </a:r>
            <a:r>
              <a:rPr lang="en-IN" dirty="0"/>
              <a:t> – causal graph </a:t>
            </a:r>
            <a:r>
              <a:rPr lang="en-IN" dirty="0" err="1"/>
              <a:t>modeling</a:t>
            </a:r>
            <a:endParaRPr lang="en-IN" dirty="0"/>
          </a:p>
          <a:p>
            <a:pPr marL="285750" indent="-285750">
              <a:buFont typeface="Arial" panose="020B0604020202020204" pitchFamily="34" charset="0"/>
              <a:buChar char="•"/>
            </a:pPr>
            <a:r>
              <a:rPr lang="en-IN" dirty="0" err="1"/>
              <a:t>NetworkX</a:t>
            </a:r>
            <a:r>
              <a:rPr lang="en-IN" dirty="0"/>
              <a:t> – DAG representation</a:t>
            </a:r>
          </a:p>
          <a:p>
            <a:endParaRPr lang="en-IN" dirty="0"/>
          </a:p>
        </p:txBody>
      </p:sp>
    </p:spTree>
    <p:extLst>
      <p:ext uri="{BB962C8B-B14F-4D97-AF65-F5344CB8AC3E}">
        <p14:creationId xmlns:p14="http://schemas.microsoft.com/office/powerpoint/2010/main" val="32582976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05EC767-4AF2-F81D-CB53-3ACAF87803B7}"/>
              </a:ext>
            </a:extLst>
          </p:cNvPr>
          <p:cNvSpPr>
            <a:spLocks noGrp="1"/>
          </p:cNvSpPr>
          <p:nvPr>
            <p:ph type="sldNum" sz="quarter" idx="12"/>
          </p:nvPr>
        </p:nvSpPr>
        <p:spPr/>
        <p:txBody>
          <a:bodyPr/>
          <a:lstStyle/>
          <a:p>
            <a:fld id="{ECBCDBC5-4E49-49CB-B926-A54925945C9F}" type="slidenum">
              <a:rPr lang="en-IN" smtClean="0"/>
              <a:t>10</a:t>
            </a:fld>
            <a:endParaRPr lang="en-IN"/>
          </a:p>
        </p:txBody>
      </p:sp>
      <p:sp>
        <p:nvSpPr>
          <p:cNvPr id="4" name="TextBox 3">
            <a:extLst>
              <a:ext uri="{FF2B5EF4-FFF2-40B4-BE49-F238E27FC236}">
                <a16:creationId xmlns:a16="http://schemas.microsoft.com/office/drawing/2014/main" id="{4B21B78B-F471-ED13-A21A-7CA3249953DA}"/>
              </a:ext>
            </a:extLst>
          </p:cNvPr>
          <p:cNvSpPr txBox="1"/>
          <p:nvPr/>
        </p:nvSpPr>
        <p:spPr>
          <a:xfrm>
            <a:off x="0" y="0"/>
            <a:ext cx="12192000" cy="4247317"/>
          </a:xfrm>
          <a:prstGeom prst="rect">
            <a:avLst/>
          </a:prstGeom>
          <a:noFill/>
        </p:spPr>
        <p:txBody>
          <a:bodyPr wrap="square">
            <a:spAutoFit/>
          </a:bodyPr>
          <a:lstStyle/>
          <a:p>
            <a:pPr algn="ctr"/>
            <a:r>
              <a:rPr lang="en-IN" sz="3600" dirty="0"/>
              <a:t>METHODOLOGY</a:t>
            </a:r>
          </a:p>
          <a:p>
            <a:pPr>
              <a:buNone/>
            </a:pPr>
            <a:endParaRPr lang="en-IN" dirty="0"/>
          </a:p>
          <a:p>
            <a:pPr>
              <a:buNone/>
            </a:pPr>
            <a:r>
              <a:rPr lang="en-IN" dirty="0"/>
              <a:t>Explainability:</a:t>
            </a:r>
          </a:p>
          <a:p>
            <a:pPr marL="285750" indent="-285750">
              <a:buFont typeface="Arial" panose="020B0604020202020204" pitchFamily="34" charset="0"/>
              <a:buChar char="•"/>
            </a:pPr>
            <a:r>
              <a:rPr lang="en-IN" dirty="0"/>
              <a:t>Provides causal explanations instead of correlation-based reasoning.</a:t>
            </a:r>
          </a:p>
          <a:p>
            <a:pPr marL="285750" indent="-285750">
              <a:buFont typeface="Arial" panose="020B0604020202020204" pitchFamily="34" charset="0"/>
              <a:buChar char="•"/>
            </a:pPr>
            <a:r>
              <a:rPr lang="en-IN" dirty="0"/>
              <a:t>Quantifies independent contribution of genes after confounder adjustment.</a:t>
            </a:r>
          </a:p>
          <a:p>
            <a:pPr marL="285750" indent="-285750">
              <a:buFont typeface="Arial" panose="020B0604020202020204" pitchFamily="34" charset="0"/>
              <a:buChar char="•"/>
            </a:pPr>
            <a:r>
              <a:rPr lang="en-IN" dirty="0"/>
              <a:t>Enhances clinical interpretability and trust.</a:t>
            </a:r>
          </a:p>
          <a:p>
            <a:pPr>
              <a:buNone/>
            </a:pPr>
            <a:r>
              <a:rPr lang="en-IN" dirty="0"/>
              <a:t>Output to Risk Scoring Module:</a:t>
            </a:r>
          </a:p>
          <a:p>
            <a:pPr marL="285750" indent="-285750">
              <a:buFont typeface="Arial" panose="020B0604020202020204" pitchFamily="34" charset="0"/>
              <a:buChar char="•"/>
            </a:pPr>
            <a:r>
              <a:rPr lang="en-IN" dirty="0"/>
              <a:t>Causal-weighted gene risk scores</a:t>
            </a:r>
          </a:p>
          <a:p>
            <a:pPr marL="285750" indent="-285750">
              <a:buFont typeface="Arial" panose="020B0604020202020204" pitchFamily="34" charset="0"/>
              <a:buChar char="•"/>
            </a:pPr>
            <a:r>
              <a:rPr lang="en-IN" dirty="0"/>
              <a:t>Confidence estimates for each causal factor</a:t>
            </a:r>
          </a:p>
          <a:p>
            <a:pPr marL="285750" indent="-285750">
              <a:buFont typeface="Arial" panose="020B0604020202020204" pitchFamily="34" charset="0"/>
              <a:buChar char="•"/>
            </a:pPr>
            <a:r>
              <a:rPr lang="en-IN" dirty="0"/>
              <a:t>Filtered, bias-reduced inputs for final risk computation.</a:t>
            </a:r>
          </a:p>
          <a:p>
            <a:r>
              <a:rPr lang="en-IN" dirty="0"/>
              <a:t>Output to Downstream Agent:</a:t>
            </a:r>
          </a:p>
          <a:p>
            <a:pPr marL="285750" indent="-285750">
              <a:buFont typeface="Arial" panose="020B0604020202020204" pitchFamily="34" charset="0"/>
              <a:buChar char="•"/>
            </a:pPr>
            <a:r>
              <a:rPr lang="en-IN" b="1" dirty="0"/>
              <a:t>Final Risk = </a:t>
            </a:r>
            <a:r>
              <a:rPr lang="el-GR" b="1" dirty="0"/>
              <a:t>Σ (</a:t>
            </a:r>
            <a:r>
              <a:rPr lang="en-IN" b="1" dirty="0"/>
              <a:t>Causal Effect × Symptom Evidence × Temporal Weight)</a:t>
            </a:r>
          </a:p>
          <a:p>
            <a:r>
              <a:rPr lang="en-IN" dirty="0"/>
              <a:t>Key Advantages:</a:t>
            </a:r>
          </a:p>
          <a:p>
            <a:endParaRPr lang="en-IN" dirty="0"/>
          </a:p>
        </p:txBody>
      </p:sp>
      <p:graphicFrame>
        <p:nvGraphicFramePr>
          <p:cNvPr id="5" name="Table 4">
            <a:extLst>
              <a:ext uri="{FF2B5EF4-FFF2-40B4-BE49-F238E27FC236}">
                <a16:creationId xmlns:a16="http://schemas.microsoft.com/office/drawing/2014/main" id="{20522E8C-1AB0-44C0-75F8-3D5233E9BE54}"/>
              </a:ext>
            </a:extLst>
          </p:cNvPr>
          <p:cNvGraphicFramePr>
            <a:graphicFrameLocks noGrp="1"/>
          </p:cNvGraphicFramePr>
          <p:nvPr>
            <p:extLst>
              <p:ext uri="{D42A27DB-BD31-4B8C-83A1-F6EECF244321}">
                <p14:modId xmlns:p14="http://schemas.microsoft.com/office/powerpoint/2010/main" val="2374655041"/>
              </p:ext>
            </p:extLst>
          </p:nvPr>
        </p:nvGraphicFramePr>
        <p:xfrm>
          <a:off x="573505" y="3970421"/>
          <a:ext cx="10515600" cy="1847640"/>
        </p:xfrm>
        <a:graphic>
          <a:graphicData uri="http://schemas.openxmlformats.org/drawingml/2006/table">
            <a:tbl>
              <a:tblPr/>
              <a:tblGrid>
                <a:gridCol w="5257800">
                  <a:extLst>
                    <a:ext uri="{9D8B030D-6E8A-4147-A177-3AD203B41FA5}">
                      <a16:colId xmlns:a16="http://schemas.microsoft.com/office/drawing/2014/main" val="2715260869"/>
                    </a:ext>
                  </a:extLst>
                </a:gridCol>
                <a:gridCol w="5257800">
                  <a:extLst>
                    <a:ext uri="{9D8B030D-6E8A-4147-A177-3AD203B41FA5}">
                      <a16:colId xmlns:a16="http://schemas.microsoft.com/office/drawing/2014/main" val="629445746"/>
                    </a:ext>
                  </a:extLst>
                </a:gridCol>
              </a:tblGrid>
              <a:tr h="369528">
                <a:tc>
                  <a:txBody>
                    <a:bodyPr/>
                    <a:lstStyle/>
                    <a:p>
                      <a:pPr>
                        <a:buNone/>
                      </a:pPr>
                      <a:r>
                        <a:rPr lang="en-IN"/>
                        <a:t>Aspect</a:t>
                      </a:r>
                    </a:p>
                  </a:txBody>
                  <a:tcPr anchor="ctr">
                    <a:lnL>
                      <a:noFill/>
                    </a:lnL>
                    <a:lnR>
                      <a:noFill/>
                    </a:lnR>
                    <a:lnT>
                      <a:noFill/>
                    </a:lnT>
                    <a:lnB>
                      <a:noFill/>
                    </a:lnB>
                    <a:noFill/>
                  </a:tcPr>
                </a:tc>
                <a:tc>
                  <a:txBody>
                    <a:bodyPr/>
                    <a:lstStyle/>
                    <a:p>
                      <a:pPr>
                        <a:buNone/>
                      </a:pPr>
                      <a:r>
                        <a:rPr lang="en-IN"/>
                        <a:t>Improvement</a:t>
                      </a:r>
                    </a:p>
                  </a:txBody>
                  <a:tcPr anchor="ctr">
                    <a:lnL>
                      <a:noFill/>
                    </a:lnL>
                    <a:lnR>
                      <a:noFill/>
                    </a:lnR>
                    <a:lnT>
                      <a:noFill/>
                    </a:lnT>
                    <a:lnB>
                      <a:noFill/>
                    </a:lnB>
                    <a:noFill/>
                  </a:tcPr>
                </a:tc>
                <a:extLst>
                  <a:ext uri="{0D108BD9-81ED-4DB2-BD59-A6C34878D82A}">
                    <a16:rowId xmlns:a16="http://schemas.microsoft.com/office/drawing/2014/main" val="1723532825"/>
                  </a:ext>
                </a:extLst>
              </a:tr>
              <a:tr h="369528">
                <a:tc>
                  <a:txBody>
                    <a:bodyPr/>
                    <a:lstStyle/>
                    <a:p>
                      <a:pPr>
                        <a:buNone/>
                      </a:pPr>
                      <a:r>
                        <a:rPr lang="en-IN"/>
                        <a:t>Clinical trust</a:t>
                      </a:r>
                    </a:p>
                  </a:txBody>
                  <a:tcPr anchor="ctr">
                    <a:lnL>
                      <a:noFill/>
                    </a:lnL>
                    <a:lnR>
                      <a:noFill/>
                    </a:lnR>
                    <a:lnT>
                      <a:noFill/>
                    </a:lnT>
                    <a:lnB>
                      <a:noFill/>
                    </a:lnB>
                    <a:noFill/>
                  </a:tcPr>
                </a:tc>
                <a:tc>
                  <a:txBody>
                    <a:bodyPr/>
                    <a:lstStyle/>
                    <a:p>
                      <a:pPr>
                        <a:buNone/>
                      </a:pPr>
                      <a:r>
                        <a:rPr lang="en-IN"/>
                        <a:t>Very high</a:t>
                      </a:r>
                    </a:p>
                  </a:txBody>
                  <a:tcPr anchor="ctr">
                    <a:lnL>
                      <a:noFill/>
                    </a:lnL>
                    <a:lnR>
                      <a:noFill/>
                    </a:lnR>
                    <a:lnT>
                      <a:noFill/>
                    </a:lnT>
                    <a:lnB>
                      <a:noFill/>
                    </a:lnB>
                    <a:noFill/>
                  </a:tcPr>
                </a:tc>
                <a:extLst>
                  <a:ext uri="{0D108BD9-81ED-4DB2-BD59-A6C34878D82A}">
                    <a16:rowId xmlns:a16="http://schemas.microsoft.com/office/drawing/2014/main" val="3987825677"/>
                  </a:ext>
                </a:extLst>
              </a:tr>
              <a:tr h="369528">
                <a:tc>
                  <a:txBody>
                    <a:bodyPr/>
                    <a:lstStyle/>
                    <a:p>
                      <a:pPr>
                        <a:buNone/>
                      </a:pPr>
                      <a:r>
                        <a:rPr lang="en-IN"/>
                        <a:t>False positives</a:t>
                      </a:r>
                    </a:p>
                  </a:txBody>
                  <a:tcPr anchor="ctr">
                    <a:lnL>
                      <a:noFill/>
                    </a:lnL>
                    <a:lnR>
                      <a:noFill/>
                    </a:lnR>
                    <a:lnT>
                      <a:noFill/>
                    </a:lnT>
                    <a:lnB>
                      <a:noFill/>
                    </a:lnB>
                    <a:noFill/>
                  </a:tcPr>
                </a:tc>
                <a:tc>
                  <a:txBody>
                    <a:bodyPr/>
                    <a:lstStyle/>
                    <a:p>
                      <a:pPr>
                        <a:buNone/>
                      </a:pPr>
                      <a:r>
                        <a:rPr lang="en-IN"/>
                        <a:t>Reduced</a:t>
                      </a:r>
                    </a:p>
                  </a:txBody>
                  <a:tcPr anchor="ctr">
                    <a:lnL>
                      <a:noFill/>
                    </a:lnL>
                    <a:lnR>
                      <a:noFill/>
                    </a:lnR>
                    <a:lnT>
                      <a:noFill/>
                    </a:lnT>
                    <a:lnB>
                      <a:noFill/>
                    </a:lnB>
                    <a:noFill/>
                  </a:tcPr>
                </a:tc>
                <a:extLst>
                  <a:ext uri="{0D108BD9-81ED-4DB2-BD59-A6C34878D82A}">
                    <a16:rowId xmlns:a16="http://schemas.microsoft.com/office/drawing/2014/main" val="2103870372"/>
                  </a:ext>
                </a:extLst>
              </a:tr>
              <a:tr h="369528">
                <a:tc>
                  <a:txBody>
                    <a:bodyPr/>
                    <a:lstStyle/>
                    <a:p>
                      <a:pPr>
                        <a:buNone/>
                      </a:pPr>
                      <a:r>
                        <a:rPr lang="en-IN"/>
                        <a:t>Scientific rigor</a:t>
                      </a:r>
                    </a:p>
                  </a:txBody>
                  <a:tcPr anchor="ctr">
                    <a:lnL>
                      <a:noFill/>
                    </a:lnL>
                    <a:lnR>
                      <a:noFill/>
                    </a:lnR>
                    <a:lnT>
                      <a:noFill/>
                    </a:lnT>
                    <a:lnB>
                      <a:noFill/>
                    </a:lnB>
                    <a:noFill/>
                  </a:tcPr>
                </a:tc>
                <a:tc>
                  <a:txBody>
                    <a:bodyPr/>
                    <a:lstStyle/>
                    <a:p>
                      <a:pPr>
                        <a:buNone/>
                      </a:pPr>
                      <a:r>
                        <a:rPr lang="en-IN"/>
                        <a:t>Strong</a:t>
                      </a:r>
                    </a:p>
                  </a:txBody>
                  <a:tcPr anchor="ctr">
                    <a:lnL>
                      <a:noFill/>
                    </a:lnL>
                    <a:lnR>
                      <a:noFill/>
                    </a:lnR>
                    <a:lnT>
                      <a:noFill/>
                    </a:lnT>
                    <a:lnB>
                      <a:noFill/>
                    </a:lnB>
                    <a:noFill/>
                  </a:tcPr>
                </a:tc>
                <a:extLst>
                  <a:ext uri="{0D108BD9-81ED-4DB2-BD59-A6C34878D82A}">
                    <a16:rowId xmlns:a16="http://schemas.microsoft.com/office/drawing/2014/main" val="3895921967"/>
                  </a:ext>
                </a:extLst>
              </a:tr>
              <a:tr h="369528">
                <a:tc>
                  <a:txBody>
                    <a:bodyPr/>
                    <a:lstStyle/>
                    <a:p>
                      <a:pPr>
                        <a:buNone/>
                      </a:pPr>
                      <a:r>
                        <a:rPr lang="en-IN" dirty="0"/>
                        <a:t>Publication value</a:t>
                      </a:r>
                    </a:p>
                  </a:txBody>
                  <a:tcPr anchor="ctr">
                    <a:lnL>
                      <a:noFill/>
                    </a:lnL>
                    <a:lnR>
                      <a:noFill/>
                    </a:lnR>
                    <a:lnT>
                      <a:noFill/>
                    </a:lnT>
                    <a:lnB>
                      <a:noFill/>
                    </a:lnB>
                    <a:noFill/>
                  </a:tcPr>
                </a:tc>
                <a:tc>
                  <a:txBody>
                    <a:bodyPr/>
                    <a:lstStyle/>
                    <a:p>
                      <a:pPr>
                        <a:buNone/>
                      </a:pPr>
                      <a:r>
                        <a:rPr lang="en-IN" dirty="0"/>
                        <a:t>Excellent</a:t>
                      </a:r>
                    </a:p>
                  </a:txBody>
                  <a:tcPr anchor="ctr">
                    <a:lnL>
                      <a:noFill/>
                    </a:lnL>
                    <a:lnR>
                      <a:noFill/>
                    </a:lnR>
                    <a:lnT>
                      <a:noFill/>
                    </a:lnT>
                    <a:lnB>
                      <a:noFill/>
                    </a:lnB>
                    <a:noFill/>
                  </a:tcPr>
                </a:tc>
                <a:extLst>
                  <a:ext uri="{0D108BD9-81ED-4DB2-BD59-A6C34878D82A}">
                    <a16:rowId xmlns:a16="http://schemas.microsoft.com/office/drawing/2014/main" val="3220080991"/>
                  </a:ext>
                </a:extLst>
              </a:tr>
            </a:tbl>
          </a:graphicData>
        </a:graphic>
      </p:graphicFrame>
    </p:spTree>
    <p:extLst>
      <p:ext uri="{BB962C8B-B14F-4D97-AF65-F5344CB8AC3E}">
        <p14:creationId xmlns:p14="http://schemas.microsoft.com/office/powerpoint/2010/main" val="40825397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DF3F6-5598-7646-0CE5-5B958989B5F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B6CE852-9659-937A-9ABD-E93886C6F539}"/>
              </a:ext>
            </a:extLst>
          </p:cNvPr>
          <p:cNvSpPr>
            <a:spLocks noGrp="1"/>
          </p:cNvSpPr>
          <p:nvPr>
            <p:ph type="sldNum" sz="quarter" idx="12"/>
          </p:nvPr>
        </p:nvSpPr>
        <p:spPr/>
        <p:txBody>
          <a:bodyPr/>
          <a:lstStyle/>
          <a:p>
            <a:fld id="{ECBCDBC5-4E49-49CB-B926-A54925945C9F}" type="slidenum">
              <a:rPr lang="en-IN" smtClean="0"/>
              <a:t>11</a:t>
            </a:fld>
            <a:endParaRPr lang="en-IN"/>
          </a:p>
        </p:txBody>
      </p:sp>
      <p:sp>
        <p:nvSpPr>
          <p:cNvPr id="6" name="TextBox 5">
            <a:extLst>
              <a:ext uri="{FF2B5EF4-FFF2-40B4-BE49-F238E27FC236}">
                <a16:creationId xmlns:a16="http://schemas.microsoft.com/office/drawing/2014/main" id="{F8D7511B-C4C4-4CA9-C05F-CA1F53EB7380}"/>
              </a:ext>
            </a:extLst>
          </p:cNvPr>
          <p:cNvSpPr txBox="1"/>
          <p:nvPr/>
        </p:nvSpPr>
        <p:spPr>
          <a:xfrm>
            <a:off x="0" y="1"/>
            <a:ext cx="12192000" cy="6186309"/>
          </a:xfrm>
          <a:prstGeom prst="rect">
            <a:avLst/>
          </a:prstGeom>
          <a:noFill/>
        </p:spPr>
        <p:txBody>
          <a:bodyPr wrap="square">
            <a:spAutoFit/>
          </a:bodyPr>
          <a:lstStyle/>
          <a:p>
            <a:pPr algn="ctr">
              <a:buNone/>
            </a:pPr>
            <a:r>
              <a:rPr lang="en-IN" sz="3600" dirty="0"/>
              <a:t>METHODOLOGY</a:t>
            </a:r>
          </a:p>
          <a:p>
            <a:pPr>
              <a:buNone/>
            </a:pPr>
            <a:endParaRPr lang="en-IN" dirty="0"/>
          </a:p>
          <a:p>
            <a:r>
              <a:rPr lang="en-IN" b="1" dirty="0"/>
              <a:t>AGENT 4</a:t>
            </a:r>
            <a:r>
              <a:rPr lang="en-IN" dirty="0"/>
              <a:t>: </a:t>
            </a:r>
            <a:r>
              <a:rPr lang="en-IN" b="1" dirty="0"/>
              <a:t>Personalized Risk Calibration Agent</a:t>
            </a:r>
          </a:p>
          <a:p>
            <a:pPr>
              <a:buNone/>
            </a:pPr>
            <a:endParaRPr lang="en-IN" dirty="0"/>
          </a:p>
          <a:p>
            <a:r>
              <a:rPr lang="en-IN" dirty="0"/>
              <a:t>Purpose:</a:t>
            </a:r>
          </a:p>
          <a:p>
            <a:pPr marL="285750" indent="-285750">
              <a:buFont typeface="Arial" panose="020B0604020202020204" pitchFamily="34" charset="0"/>
              <a:buChar char="•"/>
            </a:pPr>
            <a:r>
              <a:rPr lang="en-IN" dirty="0"/>
              <a:t>Converts generic lung cancer risk scores into patient-specific and population-aware predictions.</a:t>
            </a:r>
          </a:p>
          <a:p>
            <a:endParaRPr lang="en-IN" dirty="0"/>
          </a:p>
          <a:p>
            <a:r>
              <a:rPr lang="en-IN" dirty="0"/>
              <a:t>Need for Calibration:</a:t>
            </a:r>
          </a:p>
          <a:p>
            <a:pPr marL="285750" indent="-285750">
              <a:buFont typeface="Arial" panose="020B0604020202020204" pitchFamily="34" charset="0"/>
              <a:buChar char="•"/>
            </a:pPr>
            <a:r>
              <a:rPr lang="en-IN" dirty="0"/>
              <a:t>Raw risk scores may not reflect true risk across different demographic groups.</a:t>
            </a:r>
          </a:p>
          <a:p>
            <a:pPr marL="285750" indent="-285750">
              <a:buFont typeface="Arial" panose="020B0604020202020204" pitchFamily="34" charset="0"/>
              <a:buChar char="•"/>
            </a:pPr>
            <a:r>
              <a:rPr lang="en-IN" dirty="0"/>
              <a:t>Never-smoker lung cancer risk varies significantly with age, gender, and exposure history.</a:t>
            </a:r>
          </a:p>
          <a:p>
            <a:endParaRPr lang="en-IN" dirty="0"/>
          </a:p>
          <a:p>
            <a:r>
              <a:rPr lang="en-IN" dirty="0"/>
              <a:t>Calibration Approach:</a:t>
            </a:r>
          </a:p>
          <a:p>
            <a:pPr marL="285750" indent="-285750">
              <a:buFont typeface="Arial" panose="020B0604020202020204" pitchFamily="34" charset="0"/>
              <a:buChar char="•"/>
            </a:pPr>
            <a:r>
              <a:rPr lang="en-IN" dirty="0"/>
              <a:t>Incorporates demographic and environmental priors into risk estimation.</a:t>
            </a:r>
          </a:p>
          <a:p>
            <a:pPr marL="285750" indent="-285750">
              <a:buFont typeface="Arial" panose="020B0604020202020204" pitchFamily="34" charset="0"/>
              <a:buChar char="•"/>
            </a:pPr>
            <a:r>
              <a:rPr lang="en-IN" dirty="0"/>
              <a:t>Uses Bayesian updating to adjust risk scores based on subgroup prevalence.</a:t>
            </a:r>
          </a:p>
          <a:p>
            <a:pPr marL="285750" indent="-285750">
              <a:buFont typeface="Arial" panose="020B0604020202020204" pitchFamily="34" charset="0"/>
              <a:buChar char="•"/>
            </a:pPr>
            <a:r>
              <a:rPr lang="en-IN" dirty="0"/>
              <a:t>Performs subgroup-aware calibration to ensure consistent interpretation across populations.</a:t>
            </a:r>
          </a:p>
          <a:p>
            <a:endParaRPr lang="en-IN" dirty="0"/>
          </a:p>
          <a:p>
            <a:r>
              <a:rPr lang="en-IN" dirty="0"/>
              <a:t>Techniques Used:</a:t>
            </a:r>
          </a:p>
          <a:p>
            <a:pPr marL="285750" indent="-285750">
              <a:buFont typeface="Arial" panose="020B0604020202020204" pitchFamily="34" charset="0"/>
              <a:buChar char="•"/>
            </a:pPr>
            <a:r>
              <a:rPr lang="en-IN" dirty="0"/>
              <a:t>Bayesian risk </a:t>
            </a:r>
            <a:r>
              <a:rPr lang="en-IN" dirty="0" err="1"/>
              <a:t>modeling</a:t>
            </a:r>
            <a:endParaRPr lang="en-IN" dirty="0"/>
          </a:p>
          <a:p>
            <a:pPr marL="285750" indent="-285750">
              <a:buFont typeface="Arial" panose="020B0604020202020204" pitchFamily="34" charset="0"/>
              <a:buChar char="•"/>
            </a:pPr>
            <a:r>
              <a:rPr lang="en-IN" dirty="0"/>
              <a:t>Platt scaling and isotonic regression</a:t>
            </a:r>
          </a:p>
          <a:p>
            <a:pPr marL="285750" indent="-285750">
              <a:buFont typeface="Arial" panose="020B0604020202020204" pitchFamily="34" charset="0"/>
              <a:buChar char="•"/>
            </a:pPr>
            <a:r>
              <a:rPr lang="en-IN" dirty="0"/>
              <a:t>Population-level prior adjustment</a:t>
            </a:r>
          </a:p>
          <a:p>
            <a:endParaRPr lang="en-IN" dirty="0"/>
          </a:p>
        </p:txBody>
      </p:sp>
    </p:spTree>
    <p:extLst>
      <p:ext uri="{BB962C8B-B14F-4D97-AF65-F5344CB8AC3E}">
        <p14:creationId xmlns:p14="http://schemas.microsoft.com/office/powerpoint/2010/main" val="32604496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68D275C-B636-19DB-2C7C-9DB6EA81F028}"/>
              </a:ext>
            </a:extLst>
          </p:cNvPr>
          <p:cNvSpPr>
            <a:spLocks noGrp="1"/>
          </p:cNvSpPr>
          <p:nvPr>
            <p:ph type="sldNum" sz="quarter" idx="12"/>
          </p:nvPr>
        </p:nvSpPr>
        <p:spPr/>
        <p:txBody>
          <a:bodyPr/>
          <a:lstStyle/>
          <a:p>
            <a:fld id="{ECBCDBC5-4E49-49CB-B926-A54925945C9F}" type="slidenum">
              <a:rPr lang="en-IN" smtClean="0"/>
              <a:t>12</a:t>
            </a:fld>
            <a:endParaRPr lang="en-IN"/>
          </a:p>
        </p:txBody>
      </p:sp>
      <p:sp>
        <p:nvSpPr>
          <p:cNvPr id="4" name="TextBox 3">
            <a:extLst>
              <a:ext uri="{FF2B5EF4-FFF2-40B4-BE49-F238E27FC236}">
                <a16:creationId xmlns:a16="http://schemas.microsoft.com/office/drawing/2014/main" id="{E3A914A7-27B7-E2A5-DBF6-85A22F73CB4A}"/>
              </a:ext>
            </a:extLst>
          </p:cNvPr>
          <p:cNvSpPr txBox="1"/>
          <p:nvPr/>
        </p:nvSpPr>
        <p:spPr>
          <a:xfrm>
            <a:off x="0" y="0"/>
            <a:ext cx="12192000" cy="6463308"/>
          </a:xfrm>
          <a:prstGeom prst="rect">
            <a:avLst/>
          </a:prstGeom>
          <a:noFill/>
        </p:spPr>
        <p:txBody>
          <a:bodyPr wrap="square">
            <a:spAutoFit/>
          </a:bodyPr>
          <a:lstStyle/>
          <a:p>
            <a:pPr algn="ctr">
              <a:buNone/>
            </a:pPr>
            <a:r>
              <a:rPr lang="en-IN" sz="3600" dirty="0"/>
              <a:t>METHODOLOGY</a:t>
            </a:r>
          </a:p>
          <a:p>
            <a:pPr>
              <a:buNone/>
            </a:pPr>
            <a:endParaRPr lang="en-IN" dirty="0"/>
          </a:p>
          <a:p>
            <a:pPr>
              <a:buNone/>
            </a:pPr>
            <a:r>
              <a:rPr lang="en-IN" dirty="0"/>
              <a:t>Outputs:</a:t>
            </a:r>
          </a:p>
          <a:p>
            <a:pPr marL="285750" indent="-285750">
              <a:buFont typeface="Arial" panose="020B0604020202020204" pitchFamily="34" charset="0"/>
              <a:buChar char="•"/>
            </a:pPr>
            <a:r>
              <a:rPr lang="en-IN" dirty="0"/>
              <a:t>Personalized and calibrated lung cancer risk score</a:t>
            </a:r>
          </a:p>
          <a:p>
            <a:pPr marL="285750" indent="-285750">
              <a:buFont typeface="Arial" panose="020B0604020202020204" pitchFamily="34" charset="0"/>
              <a:buChar char="•"/>
            </a:pPr>
            <a:r>
              <a:rPr lang="en-IN" dirty="0"/>
              <a:t>Demographic-adjusted screening relevance</a:t>
            </a:r>
          </a:p>
          <a:p>
            <a:pPr marL="285750" indent="-285750">
              <a:buFont typeface="Arial" panose="020B0604020202020204" pitchFamily="34" charset="0"/>
              <a:buChar char="•"/>
            </a:pPr>
            <a:r>
              <a:rPr lang="en-IN" dirty="0"/>
              <a:t>Bias-aware risk interpretation</a:t>
            </a:r>
          </a:p>
          <a:p>
            <a:pPr>
              <a:buNone/>
            </a:pPr>
            <a:r>
              <a:rPr lang="en-IN" dirty="0"/>
              <a:t>Fairness &amp; Bias Mitigation:</a:t>
            </a:r>
          </a:p>
          <a:p>
            <a:pPr marL="285750" indent="-285750">
              <a:buFont typeface="Arial" panose="020B0604020202020204" pitchFamily="34" charset="0"/>
              <a:buChar char="•"/>
            </a:pPr>
            <a:r>
              <a:rPr lang="en-IN" dirty="0"/>
              <a:t>Evaluates risk calibration across demographic subgroups.</a:t>
            </a:r>
          </a:p>
          <a:p>
            <a:pPr marL="285750" indent="-285750">
              <a:buFont typeface="Arial" panose="020B0604020202020204" pitchFamily="34" charset="0"/>
              <a:buChar char="•"/>
            </a:pPr>
            <a:r>
              <a:rPr lang="en-IN" dirty="0"/>
              <a:t>Reduces overestimation and underestimation caused by dataset imbalance.</a:t>
            </a:r>
          </a:p>
          <a:p>
            <a:pPr marL="285750" indent="-285750">
              <a:buFont typeface="Arial" panose="020B0604020202020204" pitchFamily="34" charset="0"/>
              <a:buChar char="•"/>
            </a:pPr>
            <a:r>
              <a:rPr lang="en-IN" dirty="0"/>
              <a:t>Ensures equitable decision support for never-smoker populations.</a:t>
            </a:r>
          </a:p>
          <a:p>
            <a:pPr>
              <a:buNone/>
            </a:pPr>
            <a:r>
              <a:rPr lang="en-IN" dirty="0"/>
              <a:t>Clinical Impact:</a:t>
            </a:r>
          </a:p>
          <a:p>
            <a:pPr marL="285750" indent="-285750">
              <a:buFont typeface="Arial" panose="020B0604020202020204" pitchFamily="34" charset="0"/>
              <a:buChar char="•"/>
            </a:pPr>
            <a:r>
              <a:rPr lang="en-IN" dirty="0"/>
              <a:t>Improves reliability of early screening recommendations.</a:t>
            </a:r>
          </a:p>
          <a:p>
            <a:pPr marL="285750" indent="-285750">
              <a:buFont typeface="Arial" panose="020B0604020202020204" pitchFamily="34" charset="0"/>
              <a:buChar char="•"/>
            </a:pPr>
            <a:r>
              <a:rPr lang="en-IN" dirty="0"/>
              <a:t>Enhances trustworthiness of AI-assisted diagnosis.</a:t>
            </a:r>
          </a:p>
          <a:p>
            <a:pPr marL="285750" indent="-285750">
              <a:buFont typeface="Arial" panose="020B0604020202020204" pitchFamily="34" charset="0"/>
              <a:buChar char="•"/>
            </a:pPr>
            <a:r>
              <a:rPr lang="en-IN" dirty="0"/>
              <a:t>Supports ethical and responsible deployment in real-world healthcare settings.</a:t>
            </a:r>
          </a:p>
          <a:p>
            <a:r>
              <a:rPr lang="en-IN" dirty="0"/>
              <a:t>Example Output Instead of:</a:t>
            </a:r>
          </a:p>
          <a:p>
            <a:pPr marL="285750" indent="-285750">
              <a:buFont typeface="Arial" panose="020B0604020202020204" pitchFamily="34" charset="0"/>
              <a:buChar char="•"/>
            </a:pPr>
            <a:r>
              <a:rPr lang="en-IN" dirty="0"/>
              <a:t>Risk = 0.72 (High)</a:t>
            </a:r>
          </a:p>
          <a:p>
            <a:pPr marL="285750" indent="-285750">
              <a:buFont typeface="Arial" panose="020B0604020202020204" pitchFamily="34" charset="0"/>
              <a:buChar char="•"/>
            </a:pPr>
            <a:r>
              <a:rPr lang="en-IN" dirty="0"/>
              <a:t>System reports:</a:t>
            </a:r>
          </a:p>
          <a:p>
            <a:pPr marL="285750" indent="-285750">
              <a:buFont typeface="Arial" panose="020B0604020202020204" pitchFamily="34" charset="0"/>
              <a:buChar char="•"/>
            </a:pPr>
            <a:r>
              <a:rPr lang="en-IN" dirty="0"/>
              <a:t>Risk = 0.68 (High for 35–45 year female never-smokers)</a:t>
            </a:r>
          </a:p>
          <a:p>
            <a:pPr marL="285750" indent="-285750">
              <a:buFont typeface="Arial" panose="020B0604020202020204" pitchFamily="34" charset="0"/>
              <a:buChar char="•"/>
            </a:pPr>
            <a:r>
              <a:rPr lang="en-IN" dirty="0"/>
              <a:t>This prevents:</a:t>
            </a:r>
          </a:p>
          <a:p>
            <a:pPr marL="742950" lvl="1" indent="-285750">
              <a:buFont typeface="Arial" panose="020B0604020202020204" pitchFamily="34" charset="0"/>
              <a:buChar char="•"/>
            </a:pPr>
            <a:r>
              <a:rPr lang="en-IN" dirty="0"/>
              <a:t>Over-screening low-risk groups.</a:t>
            </a:r>
          </a:p>
          <a:p>
            <a:pPr marL="742950" lvl="1" indent="-285750">
              <a:buFont typeface="Arial" panose="020B0604020202020204" pitchFamily="34" charset="0"/>
              <a:buChar char="•"/>
            </a:pPr>
            <a:r>
              <a:rPr lang="en-IN" dirty="0"/>
              <a:t>Under-screening vulnerable populations.</a:t>
            </a:r>
          </a:p>
          <a:p>
            <a:endParaRPr lang="en-IN" dirty="0"/>
          </a:p>
        </p:txBody>
      </p:sp>
    </p:spTree>
    <p:extLst>
      <p:ext uri="{BB962C8B-B14F-4D97-AF65-F5344CB8AC3E}">
        <p14:creationId xmlns:p14="http://schemas.microsoft.com/office/powerpoint/2010/main" val="9560596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8F6240-D2F2-F067-5388-472132D857F4}"/>
              </a:ext>
            </a:extLst>
          </p:cNvPr>
          <p:cNvSpPr>
            <a:spLocks noGrp="1"/>
          </p:cNvSpPr>
          <p:nvPr>
            <p:ph type="sldNum" sz="quarter" idx="12"/>
          </p:nvPr>
        </p:nvSpPr>
        <p:spPr/>
        <p:txBody>
          <a:bodyPr/>
          <a:lstStyle/>
          <a:p>
            <a:fld id="{ECBCDBC5-4E49-49CB-B926-A54925945C9F}" type="slidenum">
              <a:rPr lang="en-IN" smtClean="0"/>
              <a:t>13</a:t>
            </a:fld>
            <a:endParaRPr lang="en-IN"/>
          </a:p>
        </p:txBody>
      </p:sp>
      <p:sp>
        <p:nvSpPr>
          <p:cNvPr id="3" name="TextBox 2"/>
          <p:cNvSpPr txBox="1"/>
          <p:nvPr/>
        </p:nvSpPr>
        <p:spPr>
          <a:xfrm>
            <a:off x="260306" y="1378405"/>
            <a:ext cx="10910492" cy="1404936"/>
          </a:xfrm>
          <a:prstGeom prst="rect">
            <a:avLst/>
          </a:prstGeom>
        </p:spPr>
        <p:txBody>
          <a:bodyPr lIns="0" tIns="0" rIns="0" bIns="0" rtlCol="0" anchor="t">
            <a:spAutoFit/>
          </a:bodyPr>
          <a:lstStyle/>
          <a:p>
            <a:pPr algn="just">
              <a:lnSpc>
                <a:spcPts val="2800"/>
              </a:lnSpc>
            </a:pPr>
            <a:r>
              <a:rPr lang="en-US" sz="2000" dirty="0">
                <a:solidFill>
                  <a:srgbClr val="000000"/>
                </a:solidFill>
                <a:ea typeface="Canva Sans"/>
                <a:cs typeface="Canva Sans"/>
                <a:sym typeface="Canva Sans"/>
              </a:rPr>
              <a:t> [1] Chen, C.-Y., Kuo-Yen, &amp; Yang, P.-C. (2024). The role of PM2.5 exposure in lung cancer: mechanisms, genetic factors, and clinical implications. EMBO Molecular Medicine. </a:t>
            </a:r>
            <a:r>
              <a:rPr lang="en-US" sz="2000" u="sng" dirty="0">
                <a:solidFill>
                  <a:srgbClr val="000000"/>
                </a:solidFill>
                <a:ea typeface="Canva Sans"/>
                <a:cs typeface="Canva Sans"/>
                <a:sym typeface="Canva Sans"/>
                <a:hlinkClick r:id="rId2" tooltip="https://www.embopress.org/doi/full/10.1038/s44321-024-00175-2"/>
              </a:rPr>
              <a:t>https://www.embopress.org/doi/full/10.1038/s44321-024-00175-2</a:t>
            </a:r>
          </a:p>
          <a:p>
            <a:pPr algn="just">
              <a:lnSpc>
                <a:spcPts val="2800"/>
              </a:lnSpc>
              <a:spcBef>
                <a:spcPct val="0"/>
              </a:spcBef>
            </a:pPr>
            <a:endParaRPr lang="en-US" sz="2000" u="sng" dirty="0">
              <a:solidFill>
                <a:srgbClr val="000000"/>
              </a:solidFill>
              <a:ea typeface="Canva Sans"/>
              <a:cs typeface="Canva Sans"/>
              <a:sym typeface="Canva Sans"/>
              <a:hlinkClick r:id="rId2" tooltip="https://www.embopress.org/doi/full/10.1038/s44321-024-00175-2"/>
            </a:endParaRPr>
          </a:p>
        </p:txBody>
      </p:sp>
      <p:sp>
        <p:nvSpPr>
          <p:cNvPr id="4" name="TextBox 3"/>
          <p:cNvSpPr txBox="1"/>
          <p:nvPr/>
        </p:nvSpPr>
        <p:spPr>
          <a:xfrm>
            <a:off x="260306" y="2705100"/>
            <a:ext cx="11632033" cy="1055161"/>
          </a:xfrm>
          <a:prstGeom prst="rect">
            <a:avLst/>
          </a:prstGeom>
        </p:spPr>
        <p:txBody>
          <a:bodyPr lIns="0" tIns="0" rIns="0" bIns="0" rtlCol="0" anchor="t">
            <a:spAutoFit/>
          </a:bodyPr>
          <a:lstStyle/>
          <a:p>
            <a:pPr>
              <a:lnSpc>
                <a:spcPts val="2800"/>
              </a:lnSpc>
            </a:pPr>
            <a:r>
              <a:rPr lang="en-US" sz="2000" dirty="0">
                <a:solidFill>
                  <a:srgbClr val="000000"/>
                </a:solidFill>
                <a:ea typeface="Canva Sans"/>
                <a:cs typeface="Canva Sans"/>
                <a:sym typeface="Canva Sans"/>
              </a:rPr>
              <a:t> [2] Chiu, C.-H., &amp; Yang, P.-C. (2024). Challenges of lung cancer control in Asia. The Lancet </a:t>
            </a:r>
            <a:r>
              <a:rPr lang="en-US" sz="2000" dirty="0" err="1">
                <a:solidFill>
                  <a:srgbClr val="000000"/>
                </a:solidFill>
                <a:ea typeface="Canva Sans"/>
                <a:cs typeface="Canva Sans"/>
                <a:sym typeface="Canva Sans"/>
              </a:rPr>
              <a:t>eClinicalMedicine</a:t>
            </a:r>
            <a:r>
              <a:rPr lang="en-US" sz="2000" dirty="0">
                <a:solidFill>
                  <a:srgbClr val="000000"/>
                </a:solidFill>
                <a:ea typeface="Canva Sans"/>
                <a:cs typeface="Canva Sans"/>
                <a:sym typeface="Canva Sans"/>
              </a:rPr>
              <a:t>, 72, Article 102942. </a:t>
            </a:r>
            <a:r>
              <a:rPr lang="en-US" sz="2000" u="sng" dirty="0">
                <a:solidFill>
                  <a:srgbClr val="000000"/>
                </a:solidFill>
                <a:ea typeface="Canva Sans"/>
                <a:cs typeface="Canva Sans"/>
                <a:sym typeface="Canva Sans"/>
                <a:hlinkClick r:id="rId3" tooltip="https://www.thelancet.com/journals/eclinm/article/PIIS2589-5370(24)00285-2/fulltext"/>
              </a:rPr>
              <a:t>https://www.thelancet.com/journals/eclinm/article/PIIS2589-5370(24)00285-2/fulltext</a:t>
            </a:r>
          </a:p>
          <a:p>
            <a:pPr algn="just">
              <a:lnSpc>
                <a:spcPts val="2800"/>
              </a:lnSpc>
              <a:spcBef>
                <a:spcPct val="0"/>
              </a:spcBef>
            </a:pPr>
            <a:endParaRPr lang="en-US" sz="2000" u="sng" dirty="0">
              <a:solidFill>
                <a:srgbClr val="000000"/>
              </a:solidFill>
              <a:ea typeface="Canva Sans"/>
              <a:cs typeface="Canva Sans"/>
              <a:sym typeface="Canva Sans"/>
              <a:hlinkClick r:id="rId3" tooltip="https://www.thelancet.com/journals/eclinm/article/PIIS2589-5370(24)00285-2/fulltext"/>
            </a:endParaRPr>
          </a:p>
        </p:txBody>
      </p:sp>
      <p:sp>
        <p:nvSpPr>
          <p:cNvPr id="5" name="TextBox 4"/>
          <p:cNvSpPr txBox="1"/>
          <p:nvPr/>
        </p:nvSpPr>
        <p:spPr>
          <a:xfrm>
            <a:off x="260306" y="3924300"/>
            <a:ext cx="11632033" cy="1764009"/>
          </a:xfrm>
          <a:prstGeom prst="rect">
            <a:avLst/>
          </a:prstGeom>
        </p:spPr>
        <p:txBody>
          <a:bodyPr lIns="0" tIns="0" rIns="0" bIns="0" rtlCol="0" anchor="t">
            <a:spAutoFit/>
          </a:bodyPr>
          <a:lstStyle/>
          <a:p>
            <a:pPr algn="just">
              <a:lnSpc>
                <a:spcPts val="2800"/>
              </a:lnSpc>
            </a:pPr>
            <a:r>
              <a:rPr lang="en-US" sz="2000" dirty="0">
                <a:solidFill>
                  <a:srgbClr val="000000"/>
                </a:solidFill>
                <a:ea typeface="Canva Sans"/>
                <a:cs typeface="Canva Sans"/>
                <a:sym typeface="Canva Sans"/>
              </a:rPr>
              <a:t> [3] Zheng, H., Zhang, Q., Gong, Y., Liu, Z., &amp; Chen, S. (2024). Identification of prognostic biomarkers for stage III non-small cell lung carcinoma in female nonsmokers using machine learning. In 2024 10th International Conference on Biomedical Engineering and Informatics (BMEI). </a:t>
            </a:r>
            <a:r>
              <a:rPr lang="en-US" sz="2000" u="sng" dirty="0">
                <a:solidFill>
                  <a:srgbClr val="000000"/>
                </a:solidFill>
                <a:ea typeface="Canva Sans"/>
                <a:cs typeface="Canva Sans"/>
                <a:sym typeface="Canva Sans"/>
                <a:hlinkClick r:id="rId4" tooltip="https://ieeexplore.ieee.org/abstract/document/10762221"/>
              </a:rPr>
              <a:t>https://ieeexplore.ieee.org/abstract/document/10762221</a:t>
            </a:r>
          </a:p>
          <a:p>
            <a:pPr algn="just">
              <a:lnSpc>
                <a:spcPts val="2800"/>
              </a:lnSpc>
              <a:spcBef>
                <a:spcPct val="0"/>
              </a:spcBef>
            </a:pPr>
            <a:endParaRPr lang="en-US" sz="2000" u="sng" dirty="0">
              <a:solidFill>
                <a:srgbClr val="000000"/>
              </a:solidFill>
              <a:ea typeface="Canva Sans"/>
              <a:cs typeface="Canva Sans"/>
              <a:sym typeface="Canva Sans"/>
              <a:hlinkClick r:id="rId4" tooltip="https://ieeexplore.ieee.org/abstract/document/10762221"/>
            </a:endParaRPr>
          </a:p>
        </p:txBody>
      </p:sp>
      <p:sp>
        <p:nvSpPr>
          <p:cNvPr id="6" name="Freeform 6"/>
          <p:cNvSpPr/>
          <p:nvPr/>
        </p:nvSpPr>
        <p:spPr>
          <a:xfrm>
            <a:off x="9224141" y="404740"/>
            <a:ext cx="2787647" cy="1011765"/>
          </a:xfrm>
          <a:custGeom>
            <a:avLst/>
            <a:gdLst/>
            <a:ahLst/>
            <a:cxnLst/>
            <a:rect l="l" t="t" r="r" b="b"/>
            <a:pathLst>
              <a:path w="4181470" h="1517647">
                <a:moveTo>
                  <a:pt x="0" y="0"/>
                </a:moveTo>
                <a:lnTo>
                  <a:pt x="4181470" y="0"/>
                </a:lnTo>
                <a:lnTo>
                  <a:pt x="4181470" y="1517647"/>
                </a:lnTo>
                <a:lnTo>
                  <a:pt x="0" y="1517647"/>
                </a:lnTo>
                <a:lnTo>
                  <a:pt x="0" y="0"/>
                </a:lnTo>
                <a:close/>
              </a:path>
            </a:pathLst>
          </a:custGeom>
          <a:blipFill>
            <a:blip r:embed="rId5">
              <a:alphaModFix amt="76000"/>
            </a:blip>
            <a:stretch>
              <a:fillRect t="-13733" b="-13733"/>
            </a:stretch>
          </a:blipFill>
        </p:spPr>
      </p:sp>
      <p:sp>
        <p:nvSpPr>
          <p:cNvPr id="7" name="TextBox 5"/>
          <p:cNvSpPr txBox="1"/>
          <p:nvPr/>
        </p:nvSpPr>
        <p:spPr>
          <a:xfrm>
            <a:off x="260306" y="5651500"/>
            <a:ext cx="11632033" cy="1055161"/>
          </a:xfrm>
          <a:prstGeom prst="rect">
            <a:avLst/>
          </a:prstGeom>
        </p:spPr>
        <p:txBody>
          <a:bodyPr lIns="0" tIns="0" rIns="0" bIns="0" rtlCol="0" anchor="t">
            <a:spAutoFit/>
          </a:bodyPr>
          <a:lstStyle/>
          <a:p>
            <a:pPr algn="just">
              <a:lnSpc>
                <a:spcPts val="2800"/>
              </a:lnSpc>
              <a:spcBef>
                <a:spcPct val="0"/>
              </a:spcBef>
            </a:pPr>
            <a:r>
              <a:rPr lang="en-US" sz="2000" dirty="0">
                <a:solidFill>
                  <a:srgbClr val="000000"/>
                </a:solidFill>
                <a:ea typeface="Canva Sans"/>
                <a:cs typeface="Canva Sans"/>
                <a:sym typeface="Canva Sans"/>
              </a:rPr>
              <a:t> [4] Hendriks, L. E. L., Remon, J., Faivre-Finn, C., </a:t>
            </a:r>
            <a:r>
              <a:rPr lang="en-US" sz="2000" dirty="0" err="1">
                <a:solidFill>
                  <a:srgbClr val="000000"/>
                </a:solidFill>
                <a:ea typeface="Canva Sans"/>
                <a:cs typeface="Canva Sans"/>
                <a:sym typeface="Canva Sans"/>
              </a:rPr>
              <a:t>Garassino</a:t>
            </a:r>
            <a:r>
              <a:rPr lang="en-US" sz="2000" dirty="0">
                <a:solidFill>
                  <a:srgbClr val="000000"/>
                </a:solidFill>
                <a:ea typeface="Canva Sans"/>
                <a:cs typeface="Canva Sans"/>
                <a:sym typeface="Canva Sans"/>
              </a:rPr>
              <a:t>, M. C., </a:t>
            </a:r>
            <a:r>
              <a:rPr lang="en-US" sz="2000" dirty="0" err="1">
                <a:solidFill>
                  <a:srgbClr val="000000"/>
                </a:solidFill>
                <a:ea typeface="Canva Sans"/>
                <a:cs typeface="Canva Sans"/>
                <a:sym typeface="Canva Sans"/>
              </a:rPr>
              <a:t>Heymach</a:t>
            </a:r>
            <a:r>
              <a:rPr lang="en-US" sz="2000" dirty="0">
                <a:solidFill>
                  <a:srgbClr val="000000"/>
                </a:solidFill>
                <a:ea typeface="Canva Sans"/>
                <a:cs typeface="Canva Sans"/>
                <a:sym typeface="Canva Sans"/>
              </a:rPr>
              <a:t>, J. V., Kerr, K. M., Tan, D. S. W., Veronesi, G., &amp; Reck, M. (2024). Non-small-cell lung cancer. Nature Reviews Disease Primers, 10, Article 43.</a:t>
            </a:r>
          </a:p>
          <a:p>
            <a:pPr algn="just">
              <a:lnSpc>
                <a:spcPts val="2800"/>
              </a:lnSpc>
              <a:spcBef>
                <a:spcPct val="0"/>
              </a:spcBef>
            </a:pPr>
            <a:endParaRPr lang="en-US" sz="2000" dirty="0">
              <a:solidFill>
                <a:srgbClr val="000000"/>
              </a:solidFill>
              <a:ea typeface="Canva Sans"/>
              <a:cs typeface="Canva Sans"/>
              <a:sym typeface="Canva Sans"/>
            </a:endParaRPr>
          </a:p>
        </p:txBody>
      </p:sp>
      <p:sp>
        <p:nvSpPr>
          <p:cNvPr id="8" name="Title 5">
            <a:extLst>
              <a:ext uri="{FF2B5EF4-FFF2-40B4-BE49-F238E27FC236}">
                <a16:creationId xmlns:a16="http://schemas.microsoft.com/office/drawing/2014/main" id="{DCF8DCEC-4573-3A26-0024-A5D6D488ED2A}"/>
              </a:ext>
            </a:extLst>
          </p:cNvPr>
          <p:cNvSpPr txBox="1">
            <a:spLocks/>
          </p:cNvSpPr>
          <p:nvPr/>
        </p:nvSpPr>
        <p:spPr>
          <a:xfrm>
            <a:off x="332621" y="308832"/>
            <a:ext cx="11263311" cy="87629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latin typeface="Garamond" panose="02020404030301010803" pitchFamily="18" charset="0"/>
              </a:rPr>
              <a:t>Key References</a:t>
            </a:r>
            <a:endParaRPr lang="en-US" dirty="0">
              <a:latin typeface="Garamond" panose="02020404030301010803" pitchFamily="18" charset="0"/>
            </a:endParaRPr>
          </a:p>
        </p:txBody>
      </p:sp>
    </p:spTree>
    <p:extLst>
      <p:ext uri="{BB962C8B-B14F-4D97-AF65-F5344CB8AC3E}">
        <p14:creationId xmlns:p14="http://schemas.microsoft.com/office/powerpoint/2010/main" val="2936898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16416FD-D21F-6641-E6F9-10F764890149}"/>
              </a:ext>
            </a:extLst>
          </p:cNvPr>
          <p:cNvSpPr>
            <a:spLocks noGrp="1"/>
          </p:cNvSpPr>
          <p:nvPr>
            <p:ph type="sldNum" sz="quarter" idx="12"/>
          </p:nvPr>
        </p:nvSpPr>
        <p:spPr/>
        <p:txBody>
          <a:bodyPr/>
          <a:lstStyle/>
          <a:p>
            <a:fld id="{ECBCDBC5-4E49-49CB-B926-A54925945C9F}" type="slidenum">
              <a:rPr lang="en-IN" smtClean="0"/>
              <a:t>14</a:t>
            </a:fld>
            <a:endParaRPr lang="en-IN"/>
          </a:p>
        </p:txBody>
      </p:sp>
      <p:sp>
        <p:nvSpPr>
          <p:cNvPr id="13" name="TextBox 2"/>
          <p:cNvSpPr txBox="1"/>
          <p:nvPr/>
        </p:nvSpPr>
        <p:spPr>
          <a:xfrm>
            <a:off x="205242" y="1378405"/>
            <a:ext cx="11781517" cy="1404936"/>
          </a:xfrm>
          <a:prstGeom prst="rect">
            <a:avLst/>
          </a:prstGeom>
        </p:spPr>
        <p:txBody>
          <a:bodyPr lIns="0" tIns="0" rIns="0" bIns="0" rtlCol="0" anchor="t">
            <a:spAutoFit/>
          </a:bodyPr>
          <a:lstStyle/>
          <a:p>
            <a:pPr algn="just">
              <a:lnSpc>
                <a:spcPts val="2800"/>
              </a:lnSpc>
            </a:pPr>
            <a:r>
              <a:rPr lang="en-US" sz="2000" dirty="0">
                <a:solidFill>
                  <a:srgbClr val="000000"/>
                </a:solidFill>
                <a:ea typeface="Canva Sans"/>
                <a:cs typeface="Canva Sans"/>
                <a:sym typeface="Canva Sans"/>
              </a:rPr>
              <a:t>[5] Buana, I., Soeroso, N. N., </a:t>
            </a:r>
            <a:r>
              <a:rPr lang="en-US" sz="2000" dirty="0" err="1">
                <a:solidFill>
                  <a:srgbClr val="000000"/>
                </a:solidFill>
                <a:ea typeface="Canva Sans"/>
                <a:cs typeface="Canva Sans"/>
                <a:sym typeface="Canva Sans"/>
              </a:rPr>
              <a:t>Tarigan</a:t>
            </a:r>
            <a:r>
              <a:rPr lang="en-US" sz="2000" dirty="0">
                <a:solidFill>
                  <a:srgbClr val="000000"/>
                </a:solidFill>
                <a:ea typeface="Canva Sans"/>
                <a:cs typeface="Canva Sans"/>
                <a:sym typeface="Canva Sans"/>
              </a:rPr>
              <a:t>, S. P., &amp; </a:t>
            </a:r>
            <a:r>
              <a:rPr lang="en-US" sz="2000" dirty="0" err="1">
                <a:solidFill>
                  <a:srgbClr val="000000"/>
                </a:solidFill>
                <a:ea typeface="Canva Sans"/>
                <a:cs typeface="Canva Sans"/>
                <a:sym typeface="Canva Sans"/>
              </a:rPr>
              <a:t>Syahruddin</a:t>
            </a:r>
            <a:r>
              <a:rPr lang="en-US" sz="2000" dirty="0">
                <a:solidFill>
                  <a:srgbClr val="000000"/>
                </a:solidFill>
                <a:ea typeface="Canva Sans"/>
                <a:cs typeface="Canva Sans"/>
                <a:sym typeface="Canva Sans"/>
              </a:rPr>
              <a:t>, E. (2022). Risk factors for lung cancer in non-smoking women, North Sumatera, Indonesia. Sumatera Medical Journal, 8(1), 28–34. </a:t>
            </a:r>
            <a:r>
              <a:rPr lang="en-US" sz="2000" u="sng" dirty="0">
                <a:solidFill>
                  <a:srgbClr val="000000"/>
                </a:solidFill>
                <a:ea typeface="Canva Sans"/>
                <a:cs typeface="Canva Sans"/>
                <a:sym typeface="Canva Sans"/>
                <a:hlinkClick r:id="rId2" tooltip="https://doi.org/10.32734/sumej.v8i1.18763"/>
              </a:rPr>
              <a:t>https://doi.org/10.32734/sumej.v8i1.18763</a:t>
            </a:r>
          </a:p>
          <a:p>
            <a:pPr algn="just">
              <a:lnSpc>
                <a:spcPts val="2800"/>
              </a:lnSpc>
              <a:spcBef>
                <a:spcPct val="0"/>
              </a:spcBef>
            </a:pPr>
            <a:endParaRPr lang="en-US" sz="2000" u="sng" dirty="0">
              <a:solidFill>
                <a:srgbClr val="000000"/>
              </a:solidFill>
              <a:ea typeface="Canva Sans"/>
              <a:cs typeface="Canva Sans"/>
              <a:sym typeface="Canva Sans"/>
              <a:hlinkClick r:id="rId2" tooltip="https://doi.org/10.32734/sumej.v8i1.18763"/>
            </a:endParaRPr>
          </a:p>
        </p:txBody>
      </p:sp>
      <p:sp>
        <p:nvSpPr>
          <p:cNvPr id="14" name="TextBox 3"/>
          <p:cNvSpPr txBox="1"/>
          <p:nvPr/>
        </p:nvSpPr>
        <p:spPr>
          <a:xfrm>
            <a:off x="205242" y="2608464"/>
            <a:ext cx="11951717" cy="1045864"/>
          </a:xfrm>
          <a:prstGeom prst="rect">
            <a:avLst/>
          </a:prstGeom>
        </p:spPr>
        <p:txBody>
          <a:bodyPr lIns="0" tIns="0" rIns="0" bIns="0" rtlCol="0" anchor="t">
            <a:spAutoFit/>
          </a:bodyPr>
          <a:lstStyle/>
          <a:p>
            <a:pPr algn="just">
              <a:lnSpc>
                <a:spcPts val="2800"/>
              </a:lnSpc>
              <a:spcBef>
                <a:spcPct val="0"/>
              </a:spcBef>
            </a:pPr>
            <a:r>
              <a:rPr lang="en-US" sz="2000" dirty="0">
                <a:solidFill>
                  <a:srgbClr val="000000"/>
                </a:solidFill>
                <a:ea typeface="Canva Sans"/>
                <a:cs typeface="Canva Sans"/>
                <a:sym typeface="Canva Sans"/>
              </a:rPr>
              <a:t> [6] Győrffy, B. (2024). Transcriptome-level discovery of survival-associated biomarkers and therapy targets in non-small-cell lung cancer. British Journal of Pharmacology, 181(5), 1007–1022. </a:t>
            </a:r>
          </a:p>
          <a:p>
            <a:pPr algn="just">
              <a:lnSpc>
                <a:spcPts val="2800"/>
              </a:lnSpc>
              <a:spcBef>
                <a:spcPct val="0"/>
              </a:spcBef>
            </a:pPr>
            <a:endParaRPr lang="en-US" sz="2000" dirty="0">
              <a:solidFill>
                <a:srgbClr val="000000"/>
              </a:solidFill>
              <a:ea typeface="Canva Sans"/>
              <a:cs typeface="Canva Sans"/>
              <a:sym typeface="Canva Sans"/>
            </a:endParaRPr>
          </a:p>
        </p:txBody>
      </p:sp>
      <p:sp>
        <p:nvSpPr>
          <p:cNvPr id="15" name="TextBox 4"/>
          <p:cNvSpPr txBox="1"/>
          <p:nvPr/>
        </p:nvSpPr>
        <p:spPr>
          <a:xfrm>
            <a:off x="205241" y="3624464"/>
            <a:ext cx="11806547" cy="1055161"/>
          </a:xfrm>
          <a:prstGeom prst="rect">
            <a:avLst/>
          </a:prstGeom>
        </p:spPr>
        <p:txBody>
          <a:bodyPr lIns="0" tIns="0" rIns="0" bIns="0" rtlCol="0" anchor="t">
            <a:spAutoFit/>
          </a:bodyPr>
          <a:lstStyle/>
          <a:p>
            <a:pPr>
              <a:lnSpc>
                <a:spcPts val="2800"/>
              </a:lnSpc>
            </a:pPr>
            <a:r>
              <a:rPr lang="en-US" sz="2000" dirty="0">
                <a:solidFill>
                  <a:srgbClr val="000000"/>
                </a:solidFill>
                <a:ea typeface="Canva Sans"/>
                <a:cs typeface="Canva Sans"/>
                <a:sym typeface="Canva Sans"/>
              </a:rPr>
              <a:t>[7]Lam, S. (2025). Lung cancer screening in never-smokers. Current Opinion in Oncology, 37(1), 54–58. </a:t>
            </a:r>
            <a:r>
              <a:rPr lang="en-US" sz="2000" u="sng" dirty="0">
                <a:solidFill>
                  <a:srgbClr val="000000"/>
                </a:solidFill>
                <a:ea typeface="Canva Sans"/>
                <a:cs typeface="Canva Sans"/>
                <a:sym typeface="Canva Sans"/>
                <a:hlinkClick r:id="rId3" tooltip="https://journals.lww.com/co-oncology/abstract/2025/01000/lung_cancer_screening_in_never_smokers.13.aspx"/>
              </a:rPr>
              <a:t>https://journals.lww.com/co-oncology/abstract/2025/01000/lung_cancer_screening_in_never_smokers.13.aspx</a:t>
            </a:r>
          </a:p>
          <a:p>
            <a:pPr>
              <a:lnSpc>
                <a:spcPts val="2800"/>
              </a:lnSpc>
              <a:spcBef>
                <a:spcPct val="0"/>
              </a:spcBef>
            </a:pPr>
            <a:endParaRPr lang="en-US" sz="2000" u="sng" dirty="0">
              <a:solidFill>
                <a:srgbClr val="000000"/>
              </a:solidFill>
              <a:ea typeface="Canva Sans"/>
              <a:cs typeface="Canva Sans"/>
              <a:sym typeface="Canva Sans"/>
              <a:hlinkClick r:id="rId3" tooltip="https://journals.lww.com/co-oncology/abstract/2025/01000/lung_cancer_screening_in_never_smokers.13.aspx"/>
            </a:endParaRPr>
          </a:p>
        </p:txBody>
      </p:sp>
      <p:sp>
        <p:nvSpPr>
          <p:cNvPr id="16" name="TextBox 5"/>
          <p:cNvSpPr txBox="1"/>
          <p:nvPr/>
        </p:nvSpPr>
        <p:spPr>
          <a:xfrm>
            <a:off x="205242" y="4856364"/>
            <a:ext cx="11781517" cy="1404936"/>
          </a:xfrm>
          <a:prstGeom prst="rect">
            <a:avLst/>
          </a:prstGeom>
        </p:spPr>
        <p:txBody>
          <a:bodyPr lIns="0" tIns="0" rIns="0" bIns="0" rtlCol="0" anchor="t">
            <a:spAutoFit/>
          </a:bodyPr>
          <a:lstStyle/>
          <a:p>
            <a:pPr algn="just">
              <a:lnSpc>
                <a:spcPts val="2800"/>
              </a:lnSpc>
              <a:spcBef>
                <a:spcPct val="0"/>
              </a:spcBef>
            </a:pPr>
            <a:r>
              <a:rPr lang="en-US" sz="2000" dirty="0">
                <a:solidFill>
                  <a:srgbClr val="000000"/>
                </a:solidFill>
                <a:ea typeface="Canva Sans"/>
                <a:cs typeface="Canva Sans"/>
                <a:sym typeface="Canva Sans"/>
              </a:rPr>
              <a:t>[8]Kang, H.-R., Cho, J. Y., Lee, S. H., Lee, Y. J., Park, J. S., Cho, Y.-J., Yoon, H. I., Lee, K. W., Lee, J. H., &amp; Lee, C.-T. (2019). Role of low-dose computerized tomography in lung cancer screening among never-smokers. Journal of Thoracic Oncology, 14(10), 1649–1657. </a:t>
            </a:r>
          </a:p>
          <a:p>
            <a:pPr algn="just">
              <a:lnSpc>
                <a:spcPts val="2800"/>
              </a:lnSpc>
              <a:spcBef>
                <a:spcPct val="0"/>
              </a:spcBef>
            </a:pPr>
            <a:endParaRPr lang="en-US" sz="2000" dirty="0">
              <a:solidFill>
                <a:srgbClr val="000000"/>
              </a:solidFill>
              <a:ea typeface="Canva Sans"/>
              <a:cs typeface="Canva Sans"/>
              <a:sym typeface="Canva Sans"/>
            </a:endParaRPr>
          </a:p>
        </p:txBody>
      </p:sp>
      <p:sp>
        <p:nvSpPr>
          <p:cNvPr id="17" name="Freeform 6"/>
          <p:cNvSpPr/>
          <p:nvPr/>
        </p:nvSpPr>
        <p:spPr>
          <a:xfrm>
            <a:off x="9224141" y="404740"/>
            <a:ext cx="2787647" cy="1011765"/>
          </a:xfrm>
          <a:custGeom>
            <a:avLst/>
            <a:gdLst/>
            <a:ahLst/>
            <a:cxnLst/>
            <a:rect l="l" t="t" r="r" b="b"/>
            <a:pathLst>
              <a:path w="4181470" h="1517647">
                <a:moveTo>
                  <a:pt x="0" y="0"/>
                </a:moveTo>
                <a:lnTo>
                  <a:pt x="4181470" y="0"/>
                </a:lnTo>
                <a:lnTo>
                  <a:pt x="4181470" y="1517647"/>
                </a:lnTo>
                <a:lnTo>
                  <a:pt x="0" y="1517647"/>
                </a:lnTo>
                <a:lnTo>
                  <a:pt x="0" y="0"/>
                </a:lnTo>
                <a:close/>
              </a:path>
            </a:pathLst>
          </a:custGeom>
          <a:blipFill>
            <a:blip r:embed="rId4">
              <a:alphaModFix amt="76000"/>
            </a:blip>
            <a:stretch>
              <a:fillRect t="-13733" b="-13733"/>
            </a:stretch>
          </a:blipFill>
        </p:spPr>
      </p:sp>
    </p:spTree>
    <p:extLst>
      <p:ext uri="{BB962C8B-B14F-4D97-AF65-F5344CB8AC3E}">
        <p14:creationId xmlns:p14="http://schemas.microsoft.com/office/powerpoint/2010/main" val="26221109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72CC909-6DAB-874C-BF81-1FFC6F1C36E2}"/>
              </a:ext>
            </a:extLst>
          </p:cNvPr>
          <p:cNvSpPr>
            <a:spLocks noGrp="1"/>
          </p:cNvSpPr>
          <p:nvPr>
            <p:ph type="sldNum" sz="quarter" idx="12"/>
          </p:nvPr>
        </p:nvSpPr>
        <p:spPr/>
        <p:txBody>
          <a:bodyPr/>
          <a:lstStyle/>
          <a:p>
            <a:fld id="{ECBCDBC5-4E49-49CB-B926-A54925945C9F}" type="slidenum">
              <a:rPr lang="en-IN" smtClean="0"/>
              <a:t>15</a:t>
            </a:fld>
            <a:endParaRPr lang="en-IN"/>
          </a:p>
        </p:txBody>
      </p:sp>
      <p:sp>
        <p:nvSpPr>
          <p:cNvPr id="3" name="TextBox 2"/>
          <p:cNvSpPr txBox="1"/>
          <p:nvPr/>
        </p:nvSpPr>
        <p:spPr>
          <a:xfrm>
            <a:off x="272831" y="1614377"/>
            <a:ext cx="11315976" cy="2123082"/>
          </a:xfrm>
          <a:prstGeom prst="rect">
            <a:avLst/>
          </a:prstGeom>
        </p:spPr>
        <p:txBody>
          <a:bodyPr lIns="0" tIns="0" rIns="0" bIns="0" rtlCol="0" anchor="t">
            <a:spAutoFit/>
          </a:bodyPr>
          <a:lstStyle/>
          <a:p>
            <a:pPr algn="just">
              <a:lnSpc>
                <a:spcPts val="2800"/>
              </a:lnSpc>
            </a:pP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sym typeface="Canva Sans"/>
              </a:rPr>
              <a:t>[9] Kerpel-Fronius, A., Tammemägi, M., Cavic, M., Henschke, C., Jiang, L., </a:t>
            </a:r>
            <a:r>
              <a:rPr lang="en-US" sz="2000" dirty="0" err="1">
                <a:solidFill>
                  <a:srgbClr val="000000"/>
                </a:solidFill>
                <a:latin typeface="Calibri" panose="020F0502020204030204" pitchFamily="34" charset="0"/>
                <a:ea typeface="Calibri" panose="020F0502020204030204" pitchFamily="34" charset="0"/>
                <a:cs typeface="Calibri" panose="020F0502020204030204" pitchFamily="34" charset="0"/>
                <a:sym typeface="Canva Sans"/>
              </a:rPr>
              <a:t>Kazerooni</a:t>
            </a: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sym typeface="Canva Sans"/>
              </a:rPr>
              <a:t>, E., Lee, C.-T., Ventura, L., Yang, D., Lam, S., Huber, R. M., et al. (2022). Screening for lung cancer in individuals who never smoked: An International Association for the Study of Lung Cancer Early Detection and Screening Committee report. Journal of Thoracic Oncology, 17(2), 188–205. </a:t>
            </a:r>
            <a:r>
              <a:rPr lang="en-US" sz="2000" u="sng" dirty="0">
                <a:solidFill>
                  <a:srgbClr val="000000"/>
                </a:solidFill>
                <a:latin typeface="Calibri" panose="020F0502020204030204" pitchFamily="34" charset="0"/>
                <a:ea typeface="Calibri" panose="020F0502020204030204" pitchFamily="34" charset="0"/>
                <a:cs typeface="Calibri" panose="020F0502020204030204" pitchFamily="34" charset="0"/>
                <a:sym typeface="Canva Sans"/>
                <a:hlinkClick r:id="rId2" tooltip="https://www.sciencedirect.com/science/article/pii/S1556086421023911"/>
              </a:rPr>
              <a:t>https://www.sciencedirect.com/science/article/pii/S1556086421023911</a:t>
            </a:r>
          </a:p>
          <a:p>
            <a:pPr algn="just">
              <a:lnSpc>
                <a:spcPts val="2800"/>
              </a:lnSpc>
              <a:spcBef>
                <a:spcPct val="0"/>
              </a:spcBef>
            </a:pPr>
            <a:endParaRPr lang="en-US" sz="2000" u="sng" dirty="0">
              <a:solidFill>
                <a:srgbClr val="000000"/>
              </a:solidFill>
              <a:latin typeface="Calibri" panose="020F0502020204030204" pitchFamily="34" charset="0"/>
              <a:ea typeface="Calibri" panose="020F0502020204030204" pitchFamily="34" charset="0"/>
              <a:cs typeface="Calibri" panose="020F0502020204030204" pitchFamily="34" charset="0"/>
              <a:sym typeface="Canva Sans"/>
              <a:hlinkClick r:id="rId2" tooltip="https://www.sciencedirect.com/science/article/pii/S1556086421023911"/>
            </a:endParaRPr>
          </a:p>
        </p:txBody>
      </p:sp>
      <p:sp>
        <p:nvSpPr>
          <p:cNvPr id="4" name="TextBox 3"/>
          <p:cNvSpPr txBox="1"/>
          <p:nvPr/>
        </p:nvSpPr>
        <p:spPr>
          <a:xfrm>
            <a:off x="272832" y="3933149"/>
            <a:ext cx="11233369" cy="1404936"/>
          </a:xfrm>
          <a:prstGeom prst="rect">
            <a:avLst/>
          </a:prstGeom>
        </p:spPr>
        <p:txBody>
          <a:bodyPr lIns="0" tIns="0" rIns="0" bIns="0" rtlCol="0" anchor="t">
            <a:spAutoFit/>
          </a:bodyPr>
          <a:lstStyle/>
          <a:p>
            <a:pPr algn="just">
              <a:lnSpc>
                <a:spcPts val="2800"/>
              </a:lnSpc>
              <a:spcBef>
                <a:spcPct val="0"/>
              </a:spcBef>
            </a:pPr>
            <a:r>
              <a:rPr lang="en-US" sz="2000" dirty="0">
                <a:solidFill>
                  <a:srgbClr val="000000"/>
                </a:solidFill>
                <a:ea typeface="Canva Sans"/>
                <a:cs typeface="Canva Sans"/>
                <a:sym typeface="Canva Sans"/>
              </a:rPr>
              <a:t>[10] Wang, P., Sun, S., Lam, S., &amp; Lockwood, W. W. (2023). New insights into the biology and development of lung cancer in never smokers—Implications for early detection and treatment. Journal of Translational Medicine, 21(1), Article 484.</a:t>
            </a:r>
          </a:p>
          <a:p>
            <a:pPr algn="just">
              <a:lnSpc>
                <a:spcPts val="2800"/>
              </a:lnSpc>
              <a:spcBef>
                <a:spcPct val="0"/>
              </a:spcBef>
            </a:pPr>
            <a:endParaRPr lang="en-US" sz="2000" dirty="0">
              <a:solidFill>
                <a:srgbClr val="000000"/>
              </a:solidFill>
              <a:ea typeface="Canva Sans"/>
              <a:cs typeface="Canva Sans"/>
              <a:sym typeface="Canva Sans"/>
            </a:endParaRPr>
          </a:p>
        </p:txBody>
      </p:sp>
      <p:sp>
        <p:nvSpPr>
          <p:cNvPr id="5" name="Freeform 4"/>
          <p:cNvSpPr/>
          <p:nvPr/>
        </p:nvSpPr>
        <p:spPr>
          <a:xfrm>
            <a:off x="9224141" y="404740"/>
            <a:ext cx="2787647" cy="1011765"/>
          </a:xfrm>
          <a:custGeom>
            <a:avLst/>
            <a:gdLst/>
            <a:ahLst/>
            <a:cxnLst/>
            <a:rect l="l" t="t" r="r" b="b"/>
            <a:pathLst>
              <a:path w="4181470" h="1517647">
                <a:moveTo>
                  <a:pt x="0" y="0"/>
                </a:moveTo>
                <a:lnTo>
                  <a:pt x="4181470" y="0"/>
                </a:lnTo>
                <a:lnTo>
                  <a:pt x="4181470" y="1517647"/>
                </a:lnTo>
                <a:lnTo>
                  <a:pt x="0" y="1517647"/>
                </a:lnTo>
                <a:lnTo>
                  <a:pt x="0" y="0"/>
                </a:lnTo>
                <a:close/>
              </a:path>
            </a:pathLst>
          </a:custGeom>
          <a:blipFill>
            <a:blip r:embed="rId3">
              <a:alphaModFix amt="76000"/>
            </a:blip>
            <a:stretch>
              <a:fillRect t="-13733" b="-13733"/>
            </a:stretch>
          </a:blipFill>
        </p:spPr>
      </p:sp>
    </p:spTree>
    <p:extLst>
      <p:ext uri="{BB962C8B-B14F-4D97-AF65-F5344CB8AC3E}">
        <p14:creationId xmlns:p14="http://schemas.microsoft.com/office/powerpoint/2010/main" val="4671770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BD2D67D-62A7-9489-453B-B9ACADE5C40F}"/>
              </a:ext>
            </a:extLst>
          </p:cNvPr>
          <p:cNvSpPr>
            <a:spLocks noGrp="1"/>
          </p:cNvSpPr>
          <p:nvPr>
            <p:ph type="sldNum" sz="quarter" idx="12"/>
          </p:nvPr>
        </p:nvSpPr>
        <p:spPr/>
        <p:txBody>
          <a:bodyPr/>
          <a:lstStyle/>
          <a:p>
            <a:fld id="{ECBCDBC5-4E49-49CB-B926-A54925945C9F}" type="slidenum">
              <a:rPr lang="en-IN" smtClean="0"/>
              <a:t>16</a:t>
            </a:fld>
            <a:endParaRPr lang="en-IN"/>
          </a:p>
        </p:txBody>
      </p:sp>
      <p:sp>
        <p:nvSpPr>
          <p:cNvPr id="5" name="TextBox 4">
            <a:extLst>
              <a:ext uri="{FF2B5EF4-FFF2-40B4-BE49-F238E27FC236}">
                <a16:creationId xmlns:a16="http://schemas.microsoft.com/office/drawing/2014/main" id="{E6A2DB34-BB12-2D26-2B41-C8DF50160A1D}"/>
              </a:ext>
            </a:extLst>
          </p:cNvPr>
          <p:cNvSpPr txBox="1"/>
          <p:nvPr/>
        </p:nvSpPr>
        <p:spPr>
          <a:xfrm>
            <a:off x="3049030" y="3244334"/>
            <a:ext cx="6098058" cy="369332"/>
          </a:xfrm>
          <a:prstGeom prst="rect">
            <a:avLst/>
          </a:prstGeom>
          <a:noFill/>
        </p:spPr>
        <p:txBody>
          <a:bodyPr wrap="square">
            <a:spAutoFit/>
          </a:bodyPr>
          <a:lstStyle/>
          <a:p>
            <a:endParaRPr lang="en-IN" dirty="0"/>
          </a:p>
        </p:txBody>
      </p:sp>
      <p:sp>
        <p:nvSpPr>
          <p:cNvPr id="6" name="Freeform 2">
            <a:extLst>
              <a:ext uri="{FF2B5EF4-FFF2-40B4-BE49-F238E27FC236}">
                <a16:creationId xmlns:a16="http://schemas.microsoft.com/office/drawing/2014/main" id="{7AEC6C96-86D0-1CA0-C00B-94BDC7F192DF}"/>
              </a:ext>
            </a:extLst>
          </p:cNvPr>
          <p:cNvSpPr/>
          <p:nvPr/>
        </p:nvSpPr>
        <p:spPr>
          <a:xfrm>
            <a:off x="9149374" y="208336"/>
            <a:ext cx="2778804" cy="876300"/>
          </a:xfrm>
          <a:custGeom>
            <a:avLst/>
            <a:gdLst/>
            <a:ahLst/>
            <a:cxnLst/>
            <a:rect l="l" t="t" r="r" b="b"/>
            <a:pathLst>
              <a:path w="4181470" h="1517647">
                <a:moveTo>
                  <a:pt x="0" y="0"/>
                </a:moveTo>
                <a:lnTo>
                  <a:pt x="4181470" y="0"/>
                </a:lnTo>
                <a:lnTo>
                  <a:pt x="4181470" y="1517646"/>
                </a:lnTo>
                <a:lnTo>
                  <a:pt x="0" y="1517646"/>
                </a:lnTo>
                <a:lnTo>
                  <a:pt x="0" y="0"/>
                </a:lnTo>
                <a:close/>
              </a:path>
            </a:pathLst>
          </a:custGeom>
          <a:blipFill>
            <a:blip r:embed="rId2">
              <a:alphaModFix amt="76000"/>
            </a:blip>
            <a:stretch>
              <a:fillRect t="-13733" b="-13733"/>
            </a:stretch>
          </a:blipFill>
        </p:spPr>
      </p:sp>
      <p:sp>
        <p:nvSpPr>
          <p:cNvPr id="7" name="TextBox 6">
            <a:extLst>
              <a:ext uri="{FF2B5EF4-FFF2-40B4-BE49-F238E27FC236}">
                <a16:creationId xmlns:a16="http://schemas.microsoft.com/office/drawing/2014/main" id="{D7717A0E-1EC7-D4EB-6484-28AF3F92BFB8}"/>
              </a:ext>
            </a:extLst>
          </p:cNvPr>
          <p:cNvSpPr txBox="1"/>
          <p:nvPr/>
        </p:nvSpPr>
        <p:spPr>
          <a:xfrm>
            <a:off x="4088912" y="2921168"/>
            <a:ext cx="4014176" cy="1015663"/>
          </a:xfrm>
          <a:prstGeom prst="rect">
            <a:avLst/>
          </a:prstGeom>
          <a:noFill/>
        </p:spPr>
        <p:txBody>
          <a:bodyPr wrap="none" rtlCol="0">
            <a:spAutoFit/>
          </a:bodyPr>
          <a:lstStyle/>
          <a:p>
            <a:r>
              <a:rPr lang="en-IN" sz="6000" b="1" dirty="0"/>
              <a:t>THANK YOU</a:t>
            </a:r>
          </a:p>
        </p:txBody>
      </p:sp>
    </p:spTree>
    <p:extLst>
      <p:ext uri="{BB962C8B-B14F-4D97-AF65-F5344CB8AC3E}">
        <p14:creationId xmlns:p14="http://schemas.microsoft.com/office/powerpoint/2010/main" val="16064746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901</TotalTime>
  <Words>2119</Words>
  <Application>Microsoft Macintosh PowerPoint</Application>
  <PresentationFormat>Widescreen</PresentationFormat>
  <Paragraphs>252</Paragraphs>
  <Slides>16</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Arial</vt:lpstr>
      <vt:lpstr>Calibri</vt:lpstr>
      <vt:lpstr>Calibri Light</vt:lpstr>
      <vt:lpstr>Canva Sans</vt:lpstr>
      <vt:lpstr>Garamond</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Prajwala Yadlapalli</dc:creator>
  <cp:lastModifiedBy>G Abhinav Reddy</cp:lastModifiedBy>
  <cp:revision>40</cp:revision>
  <dcterms:created xsi:type="dcterms:W3CDTF">2025-07-26T09:19:42Z</dcterms:created>
  <dcterms:modified xsi:type="dcterms:W3CDTF">2026-01-26T20:37:09Z</dcterms:modified>
</cp:coreProperties>
</file>