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nva Sans Bold" charset="1" panose="020B0803030501040103"/>
      <p:regular r:id="rId27"/>
    </p:embeddedFont>
    <p:embeddedFont>
      <p:font typeface="Canva Sans" charset="1" panose="020B0503030501040103"/>
      <p:regular r:id="rId28"/>
    </p:embeddedFont>
    <p:embeddedFont>
      <p:font typeface="Arimo Bold" charset="1" panose="020B0704020202020204"/>
      <p:regular r:id="rId29"/>
    </p:embeddedFont>
    <p:embeddedFont>
      <p:font typeface="Arimo" charset="1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embopress.org/doi/full/10.1038/s44321-024-00175-2" TargetMode="External" Type="http://schemas.openxmlformats.org/officeDocument/2006/relationships/hyperlink"/><Relationship Id="rId3" Target="https://www.thelancet.com/journals/eclinm/article/PIIS2589-5370(24)00285-2/fulltext" TargetMode="External" Type="http://schemas.openxmlformats.org/officeDocument/2006/relationships/hyperlink"/><Relationship Id="rId4" Target="https://ieeexplore.ieee.org/abstract/document/10762221" TargetMode="External" Type="http://schemas.openxmlformats.org/officeDocument/2006/relationships/hyperlink"/><Relationship Id="rId5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i.org/10.32734/sumej.v8i1.18763" TargetMode="External" Type="http://schemas.openxmlformats.org/officeDocument/2006/relationships/hyperlink"/><Relationship Id="rId3" Target="https://journals.lww.com/co-oncology/abstract/2025/01000/lung_cancer_screening_in_never_smokers.13.aspx" TargetMode="External" Type="http://schemas.openxmlformats.org/officeDocument/2006/relationships/hyperlink"/><Relationship Id="rId4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sciencedirect.com/science/article/pii/S1556086421023911" TargetMode="External" Type="http://schemas.openxmlformats.org/officeDocument/2006/relationships/hyperlink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06534" y="437108"/>
            <a:ext cx="6274932" cy="2277460"/>
          </a:xfrm>
          <a:custGeom>
            <a:avLst/>
            <a:gdLst/>
            <a:ahLst/>
            <a:cxnLst/>
            <a:rect r="r" b="b" t="t" l="l"/>
            <a:pathLst>
              <a:path h="2277460" w="6274932">
                <a:moveTo>
                  <a:pt x="0" y="0"/>
                </a:moveTo>
                <a:lnTo>
                  <a:pt x="6274932" y="0"/>
                </a:lnTo>
                <a:lnTo>
                  <a:pt x="6274932" y="2277460"/>
                </a:lnTo>
                <a:lnTo>
                  <a:pt x="0" y="227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33" r="0" b="-137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6782" y="3118775"/>
            <a:ext cx="15924068" cy="141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Agentic AI for </a:t>
            </a: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Early Detection of Lung Cancer in Non-Smokers Through Genomic Profiling and Predictive Modeling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01596" y="5116273"/>
            <a:ext cx="90544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Dr. V. Lakshmi Chetana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3728" y="7719841"/>
            <a:ext cx="8675088" cy="166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4250"/>
              </a:lnSpc>
              <a:buAutoNum type="arabicPeriod" startAt="1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Prajwala Yadlapalli                -      AV.EN.U4CSE22248</a:t>
            </a:r>
          </a:p>
          <a:p>
            <a:pPr algn="l" marL="539754" indent="-269877" lvl="1">
              <a:lnSpc>
                <a:spcPts val="4250"/>
              </a:lnSpc>
              <a:buAutoNum type="arabicPeriod" startAt="1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Goureddy Abhinav Reddy   -      AV.EN.U4CSE22217</a:t>
            </a:r>
          </a:p>
          <a:p>
            <a:pPr algn="l">
              <a:lnSpc>
                <a:spcPts val="51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90559" y="7719841"/>
            <a:ext cx="7230219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Anupalli Varshith Reddy - AV.EN.U4CSE22257</a:t>
            </a:r>
          </a:p>
          <a:p>
            <a:pPr algn="ctr">
              <a:lnSpc>
                <a:spcPts val="42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Pallapothu Hemanya Sai - AV.EN.U4CSE22233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16152" y="6608591"/>
            <a:ext cx="3425329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2858" y="2698878"/>
            <a:ext cx="8915142" cy="6559422"/>
          </a:xfrm>
          <a:custGeom>
            <a:avLst/>
            <a:gdLst/>
            <a:ahLst/>
            <a:cxnLst/>
            <a:rect r="r" b="b" t="t" l="l"/>
            <a:pathLst>
              <a:path h="6559422" w="8915142">
                <a:moveTo>
                  <a:pt x="0" y="0"/>
                </a:moveTo>
                <a:lnTo>
                  <a:pt x="8915142" y="0"/>
                </a:lnTo>
                <a:lnTo>
                  <a:pt x="8915142" y="6559422"/>
                </a:lnTo>
                <a:lnTo>
                  <a:pt x="0" y="6559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5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6064" y="1736709"/>
            <a:ext cx="8976795" cy="752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61"/>
              </a:lnSpc>
            </a:pPr>
          </a:p>
          <a:p>
            <a:pPr algn="just" marL="693561" indent="-346781" lvl="1">
              <a:lnSpc>
                <a:spcPts val="5461"/>
              </a:lnSpc>
              <a:buFont typeface="Arial"/>
              <a:buChar char="•"/>
            </a:pP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Lung cancer is a </a:t>
            </a:r>
            <a:r>
              <a:rPr lang="en-US" b="true" sz="32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leading cause</a:t>
            </a: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cancer death.</a:t>
            </a:r>
          </a:p>
          <a:p>
            <a:pPr algn="just" marL="693561" indent="-346781" lvl="1">
              <a:lnSpc>
                <a:spcPts val="5461"/>
              </a:lnSpc>
              <a:buFont typeface="Arial"/>
              <a:buChar char="•"/>
            </a:pP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Non-smokers account for a </a:t>
            </a:r>
            <a:r>
              <a:rPr lang="en-US" b="true" sz="32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significant and rising proportion of cases</a:t>
            </a: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(up to </a:t>
            </a:r>
            <a:r>
              <a:rPr lang="en-US" b="true" sz="32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40%</a:t>
            </a: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some populations).</a:t>
            </a:r>
          </a:p>
          <a:p>
            <a:pPr algn="just" marL="693561" indent="-346781" lvl="1">
              <a:lnSpc>
                <a:spcPts val="5461"/>
              </a:lnSpc>
              <a:buFont typeface="Arial"/>
              <a:buChar char="•"/>
            </a:pP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diagnosis is crucial for </a:t>
            </a:r>
            <a:r>
              <a:rPr lang="en-US" b="true" sz="32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improving outcomes</a:t>
            </a: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 marL="693561" indent="-346781" lvl="1">
              <a:lnSpc>
                <a:spcPts val="5461"/>
              </a:lnSpc>
              <a:buFont typeface="Arial"/>
              <a:buChar char="•"/>
            </a:pP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Non-smoker lung cancers show </a:t>
            </a:r>
            <a:r>
              <a:rPr lang="en-US" b="true" sz="32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clinical and molecular differences</a:t>
            </a:r>
            <a:r>
              <a:rPr lang="en-US" sz="32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from smoker-related lung cancers.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6064" y="650653"/>
            <a:ext cx="4553892" cy="9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1456" y="5143500"/>
            <a:ext cx="8239065" cy="5143500"/>
          </a:xfrm>
          <a:custGeom>
            <a:avLst/>
            <a:gdLst/>
            <a:ahLst/>
            <a:cxnLst/>
            <a:rect r="r" b="b" t="t" l="l"/>
            <a:pathLst>
              <a:path h="5143500" w="8239065">
                <a:moveTo>
                  <a:pt x="0" y="0"/>
                </a:moveTo>
                <a:lnTo>
                  <a:pt x="8239065" y="0"/>
                </a:lnTo>
                <a:lnTo>
                  <a:pt x="823906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94" t="-22507" r="-540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1339" y="1488220"/>
            <a:ext cx="17259300" cy="393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</a:p>
          <a:p>
            <a:pPr algn="l" marL="647702" indent="-323851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Traditional risk factor (smoking) is absent—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often overlooked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647702" indent="-323851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non-smoker cases 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diagnosed at late stages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647702" indent="-323851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Symptoms are non-specific; imaging is not always performed early.</a:t>
            </a:r>
          </a:p>
          <a:p>
            <a:pPr algn="l" marL="647702" indent="-323851" lvl="1">
              <a:lnSpc>
                <a:spcPts val="528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factors: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genetics, environmental exposures (radon, pollution), prior lung disease, family history.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650653"/>
            <a:ext cx="12008614" cy="9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Challe</a:t>
            </a:r>
            <a:r>
              <a:rPr lang="en-US" b="true" sz="5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nge in Non-Smokers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840543" y="441106"/>
          <a:ext cx="16951448" cy="9492769"/>
        </p:xfrm>
        <a:graphic>
          <a:graphicData uri="http://schemas.openxmlformats.org/drawingml/2006/table">
            <a:tbl>
              <a:tblPr/>
              <a:tblGrid>
                <a:gridCol w="2730164"/>
                <a:gridCol w="2368928"/>
                <a:gridCol w="1644591"/>
                <a:gridCol w="6837358"/>
                <a:gridCol w="3370407"/>
              </a:tblGrid>
              <a:tr h="14833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Researchpaper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Datasets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Published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23525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[1]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Epidemiological datasets (Taiwan, England, S. Korea), molecular and mechanistic studies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Explores how PM2.5 exposure induces lung cancer in nonsmokers, highlighting oxidative stress, genetic alterations, and clinical implications. Emphasizes prevention, early detection, and targeted therapies to mitigate air pollution effects.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Incidence rates, P-values, biomarkers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81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[2]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Regional epidemiological data from Asia, clinical registries, air pollution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Discusses lung cancer burden in Asia focusing on non-smoking-related lung cancer, PM2.5 exposure, healthcare gaps, and the need for region-specific interventions. Reviews regional studies on climate, screening, and therapies.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Incidence rates, screening coverage, healthcare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14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[3]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GDS3837 gene expression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Uses machine learning (XGBoost) on gene expression data to identify prognostic biomarkers in female nonsmokers with stage III NSCLC. Achieved AUC of 0.835 for prediction.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AUC = 0.835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7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[4]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Clinical trial data, genomic and clinical NSCLC datasets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Comprehensive review of NSCLC diagnosis and management advances, stressing low-dose CT screening, immunotherapy, and precision medicine to improve outcomes in early and metastatic stages.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Survival outcomes, trial efficacy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652250"/>
          <a:ext cx="16230600" cy="8982500"/>
        </p:xfrm>
        <a:graphic>
          <a:graphicData uri="http://schemas.openxmlformats.org/drawingml/2006/table">
            <a:tbl>
              <a:tblPr/>
              <a:tblGrid>
                <a:gridCol w="2151283"/>
                <a:gridCol w="2678138"/>
                <a:gridCol w="1805064"/>
                <a:gridCol w="6772555"/>
                <a:gridCol w="2823561"/>
              </a:tblGrid>
              <a:tr h="11100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Researchpaper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Datasets used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Published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Metrics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7409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[5]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224 women case-control study dataset from North Sumatera, Indonesia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Identifies risk factors for lung cancer in nonsmoking women, including passive smoking, genetics, and air pollution; underscores need for early screening and public health interventions.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Odds ratios for risk factors (not specified)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74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[6]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Transcriptomic and clinical data from 17 cohorts, 2,852 NSCLC tumor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Identifies survival-associated gene markers and druggable targets for NSCLC in smokers and nonsmokers using transcriptome analysis. Supports precision medicine development.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Survival analysis metrics (e.g., hazard ratios, not detailed)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09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[7]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LDCT screening data from Korea and Japan never-smoker populations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Reviews lung cancer screening efficacy in never-smokers showing detection rates ~0.45%-0.48%, mostly early-stage adenocarcinomas; supports selective LDCT screening implementation.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Detection rate, stage distribution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31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[8]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Retrospective cohort of over 28,000 LDCT screenings in Korea (12,176 never-smokers)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Demonstrates LDCT's clinical value for early lung cancer detection in never-smokers with 0.45% cancer detection, mostly stage I adenocarcinomas, highlighting screening feasibility.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Detection rate, stage distribution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325158"/>
          <a:ext cx="16230600" cy="6556293"/>
        </p:xfrm>
        <a:graphic>
          <a:graphicData uri="http://schemas.openxmlformats.org/drawingml/2006/table">
            <a:tbl>
              <a:tblPr/>
              <a:tblGrid>
                <a:gridCol w="1835170"/>
                <a:gridCol w="2106124"/>
                <a:gridCol w="2482449"/>
                <a:gridCol w="7555311"/>
                <a:gridCol w="2251547"/>
              </a:tblGrid>
              <a:tr h="1515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Reasearch papers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Datasets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published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Metrics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23734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[9]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Global epidemiology, literature review, LDCT cohort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Expert report reviewing challenges and gaps in lung cancer screening for never-smokers globally, emphasizing risk factors and the need for refined risk models and country-specific policies.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Prevalence, risk model discrimination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7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[10]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Multi-omics data integration from LCNS patients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Reviews the biology of lung cancer in never smokers, highlighting molecular subtypes, driver mutations, immune heterogeneity, and implications for precision screening and therapeutics.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Mutation frequency, immune profiling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340517" y="2770971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6657" y="650653"/>
            <a:ext cx="4697413" cy="9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Research Gap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8730" y="2466545"/>
            <a:ext cx="15919561" cy="613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33"/>
              </a:lnSpc>
            </a:pPr>
            <a:r>
              <a:rPr lang="en-US" b="true" sz="34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Aim: </a:t>
            </a:r>
          </a:p>
          <a:p>
            <a:pPr algn="just">
              <a:lnSpc>
                <a:spcPts val="5933"/>
              </a:lnSpc>
            </a:pPr>
            <a:r>
              <a:rPr lang="en-US" sz="34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34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Explore genomic markers and predictive modelling for early lung cancer detection specifically in non-smokers using Agentic AI.</a:t>
            </a:r>
          </a:p>
          <a:p>
            <a:pPr algn="just">
              <a:lnSpc>
                <a:spcPts val="4886"/>
              </a:lnSpc>
            </a:pPr>
          </a:p>
          <a:p>
            <a:pPr algn="just">
              <a:lnSpc>
                <a:spcPts val="8097"/>
              </a:lnSpc>
            </a:pPr>
            <a:r>
              <a:rPr lang="en-US" b="true" sz="34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Objectives:</a:t>
            </a:r>
          </a:p>
          <a:p>
            <a:pPr algn="just" marL="731966" indent="-365983" lvl="1">
              <a:lnSpc>
                <a:spcPts val="6102"/>
              </a:lnSpc>
              <a:buAutoNum type="arabicPeriod" startAt="1"/>
            </a:pPr>
            <a:r>
              <a:rPr lang="en-US" sz="33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Review distinct genomics of lung cancer in non-smokers.</a:t>
            </a:r>
          </a:p>
          <a:p>
            <a:pPr algn="just" marL="731966" indent="-365983" lvl="1">
              <a:lnSpc>
                <a:spcPts val="6102"/>
              </a:lnSpc>
              <a:buAutoNum type="arabicPeriod" startAt="1"/>
            </a:pPr>
            <a:r>
              <a:rPr lang="en-US" sz="33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Analyze current predictive models and their limitations in this group.</a:t>
            </a:r>
          </a:p>
          <a:p>
            <a:pPr algn="just" marL="731966" indent="-365983" lvl="1">
              <a:lnSpc>
                <a:spcPts val="6102"/>
              </a:lnSpc>
              <a:buAutoNum type="arabicPeriod" startAt="1"/>
            </a:pPr>
            <a:r>
              <a:rPr lang="en-US" sz="33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Identify existing research gaps and propose future directions.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8730" y="650653"/>
            <a:ext cx="10077466" cy="9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Project Aim and Objectives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4738" y="1796827"/>
            <a:ext cx="11208282" cy="542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91" indent="-334646" lvl="1">
              <a:lnSpc>
                <a:spcPts val="5456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15%-53% </a:t>
            </a: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lung cancer cases in women and </a:t>
            </a: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2%-15%</a:t>
            </a: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men are non-smokers globally.</a:t>
            </a:r>
          </a:p>
          <a:p>
            <a:pPr algn="just" marL="669291" indent="-334646" lvl="1">
              <a:lnSpc>
                <a:spcPts val="5456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Adenocarcinoma </a:t>
            </a: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the most common subtype in non-smokers.</a:t>
            </a:r>
          </a:p>
          <a:p>
            <a:pPr algn="just" marL="669291" indent="-334646" lvl="1">
              <a:lnSpc>
                <a:spcPts val="5456"/>
              </a:lnSpc>
              <a:buFont typeface="Arial"/>
              <a:buChar char="•"/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Highest rates</a:t>
            </a: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non-smoking Asian women and postmenopausal women.</a:t>
            </a:r>
          </a:p>
          <a:p>
            <a:pPr algn="just" marL="669291" indent="-334646" lvl="1">
              <a:lnSpc>
                <a:spcPts val="5456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Non-smoker cancers often driven by </a:t>
            </a: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unique genetic events, not tobacco mutagens</a:t>
            </a: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10586" y="2691203"/>
            <a:ext cx="5181405" cy="2966841"/>
          </a:xfrm>
          <a:custGeom>
            <a:avLst/>
            <a:gdLst/>
            <a:ahLst/>
            <a:cxnLst/>
            <a:rect r="r" b="b" t="t" l="l"/>
            <a:pathLst>
              <a:path h="2966841" w="5181405">
                <a:moveTo>
                  <a:pt x="0" y="0"/>
                </a:moveTo>
                <a:lnTo>
                  <a:pt x="5181405" y="0"/>
                </a:lnTo>
                <a:lnTo>
                  <a:pt x="5181405" y="2966841"/>
                </a:lnTo>
                <a:lnTo>
                  <a:pt x="0" y="2966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68569" y="6391469"/>
            <a:ext cx="5465439" cy="3463168"/>
          </a:xfrm>
          <a:custGeom>
            <a:avLst/>
            <a:gdLst/>
            <a:ahLst/>
            <a:cxnLst/>
            <a:rect r="r" b="b" t="t" l="l"/>
            <a:pathLst>
              <a:path h="3463168" w="5465439">
                <a:moveTo>
                  <a:pt x="0" y="0"/>
                </a:moveTo>
                <a:lnTo>
                  <a:pt x="5465439" y="0"/>
                </a:lnTo>
                <a:lnTo>
                  <a:pt x="5465439" y="3463168"/>
                </a:lnTo>
                <a:lnTo>
                  <a:pt x="0" y="3463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36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664670" y="641350"/>
            <a:ext cx="1456774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Non-Smokers and Lung Cancer — Epidemiology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2068" y="2060006"/>
            <a:ext cx="12089673" cy="517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51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Identifying mutations, gene expression changes, and structural variants.</a:t>
            </a:r>
          </a:p>
          <a:p>
            <a:pPr algn="just" marL="647702" indent="-323851" lvl="1">
              <a:lnSpc>
                <a:spcPts val="51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genes in non-smokers: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EGFR mutations (very frequent), ALK and ROS1 fusions, TERT, TP63, and others.</a:t>
            </a:r>
          </a:p>
          <a:p>
            <a:pPr algn="just" marL="647702" indent="-323851" lvl="1">
              <a:lnSpc>
                <a:spcPts val="522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Unique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mutational signatures and immune microenvironments distinct from smokers.</a:t>
            </a:r>
          </a:p>
          <a:p>
            <a:pPr algn="just" marL="647702" indent="-323851" lvl="1">
              <a:lnSpc>
                <a:spcPts val="52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Foundation for 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personalized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therapies and early risk stratification.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130359">
            <a:off x="14717199" y="2392889"/>
            <a:ext cx="1588546" cy="6669466"/>
          </a:xfrm>
          <a:custGeom>
            <a:avLst/>
            <a:gdLst/>
            <a:ahLst/>
            <a:cxnLst/>
            <a:rect r="r" b="b" t="t" l="l"/>
            <a:pathLst>
              <a:path h="6669466" w="1588546">
                <a:moveTo>
                  <a:pt x="0" y="0"/>
                </a:moveTo>
                <a:lnTo>
                  <a:pt x="1588546" y="0"/>
                </a:lnTo>
                <a:lnTo>
                  <a:pt x="1588546" y="6669467"/>
                </a:lnTo>
                <a:lnTo>
                  <a:pt x="0" y="66694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016105" y="622300"/>
            <a:ext cx="14657846" cy="77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Genomic Profiling — What and Why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13002" y="2755679"/>
            <a:ext cx="4775643" cy="4775643"/>
          </a:xfrm>
          <a:custGeom>
            <a:avLst/>
            <a:gdLst/>
            <a:ahLst/>
            <a:cxnLst/>
            <a:rect r="r" b="b" t="t" l="l"/>
            <a:pathLst>
              <a:path h="4775643" w="4775643">
                <a:moveTo>
                  <a:pt x="0" y="0"/>
                </a:moveTo>
                <a:lnTo>
                  <a:pt x="4775642" y="0"/>
                </a:lnTo>
                <a:lnTo>
                  <a:pt x="4775642" y="4775642"/>
                </a:lnTo>
                <a:lnTo>
                  <a:pt x="0" y="477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0253" y="1749202"/>
            <a:ext cx="8855235" cy="597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8931" indent="-324465" lvl="1">
              <a:lnSpc>
                <a:spcPts val="5891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Predictive models integrate clinical, demographic, environmental, and genomic factors.</a:t>
            </a:r>
          </a:p>
          <a:p>
            <a:pPr algn="just" marL="648931" indent="-324465" lvl="1">
              <a:lnSpc>
                <a:spcPts val="4959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Agentic AI models will be used to identify and perform risk scoring for each patient.</a:t>
            </a:r>
          </a:p>
          <a:p>
            <a:pPr algn="just" marL="648931" indent="-324465" lvl="1">
              <a:lnSpc>
                <a:spcPts val="4959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Models aim to identify high-risk never-smokers for targeted screening.</a:t>
            </a:r>
          </a:p>
          <a:p>
            <a:pPr algn="just" marL="648931" indent="-324465" lvl="1">
              <a:lnSpc>
                <a:spcPts val="4959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Existing generic models are less effective due to unique etiology.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25999" y="622300"/>
            <a:ext cx="14567740" cy="77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Predictive Modelling in Non-Smokers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1673" y="2378233"/>
            <a:ext cx="15724654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55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Models specifically for non-smokers are emerging.</a:t>
            </a:r>
          </a:p>
          <a:p>
            <a:pPr algn="just" marL="647700" indent="-323850" lvl="1">
              <a:lnSpc>
                <a:spcPts val="55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Include variables: age, sex, family history, prior lung disease, genomic variants, exposures.</a:t>
            </a:r>
          </a:p>
          <a:p>
            <a:pPr algn="just" marL="647700" indent="-323850" lvl="1">
              <a:lnSpc>
                <a:spcPts val="55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Studies show moderate success (AUC ~0.67–0.75) but need refinement.</a:t>
            </a:r>
          </a:p>
          <a:p>
            <a:pPr algn="just" marL="647700" indent="-323850" lvl="1">
              <a:lnSpc>
                <a:spcPts val="55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Some efforts to integrate SNP data, autoantibodies, and environmental exposures for improved accuracy.</a:t>
            </a:r>
          </a:p>
          <a:p>
            <a:pPr algn="just" marL="647700" indent="-323850" lvl="1">
              <a:lnSpc>
                <a:spcPts val="55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models exclude rare genomic variations found uniquely in non-smoker lung cancer.</a:t>
            </a:r>
          </a:p>
          <a:p>
            <a:pPr algn="just" marL="647700" indent="-323850" lvl="1">
              <a:lnSpc>
                <a:spcPts val="55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use of Agentic AI.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766508" y="760509"/>
            <a:ext cx="14567740" cy="77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Literature Survey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353748" y="2663477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957218" y="760509"/>
            <a:ext cx="14567740" cy="77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Genomic Markers Identified in Non-Smokers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84927" y="6909563"/>
            <a:ext cx="2095795" cy="2095795"/>
          </a:xfrm>
          <a:custGeom>
            <a:avLst/>
            <a:gdLst/>
            <a:ahLst/>
            <a:cxnLst/>
            <a:rect r="r" b="b" t="t" l="l"/>
            <a:pathLst>
              <a:path h="2095795" w="2095795">
                <a:moveTo>
                  <a:pt x="0" y="0"/>
                </a:moveTo>
                <a:lnTo>
                  <a:pt x="2095795" y="0"/>
                </a:lnTo>
                <a:lnTo>
                  <a:pt x="2095795" y="2095795"/>
                </a:lnTo>
                <a:lnTo>
                  <a:pt x="0" y="2095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95678"/>
            <a:ext cx="15903031" cy="441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50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Public genomic datasets: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507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TCGA (The Cancer Genome Atlas), GEO, UK Biobank.</a:t>
            </a:r>
          </a:p>
          <a:p>
            <a:pPr algn="just" marL="647700" indent="-323850" lvl="1">
              <a:lnSpc>
                <a:spcPts val="50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Cohorts include hundreds of never-smoker lung cancer cases with paired clinical data.</a:t>
            </a:r>
          </a:p>
          <a:p>
            <a:pPr algn="just" marL="647700" indent="-323850" lvl="1">
              <a:lnSpc>
                <a:spcPts val="50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Genomic data types: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507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DNA sequencing, RNA-Seq, copy number variation, SNP arrays, fusion detection.</a:t>
            </a:r>
          </a:p>
          <a:p>
            <a:pPr algn="just" marL="647700" indent="-323850" lvl="1">
              <a:lnSpc>
                <a:spcPts val="50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Environmental and autoantibody data emerging in some cohorts.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177859" y="760509"/>
            <a:ext cx="14567740" cy="77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Available Data and Resources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9142" y="5313344"/>
            <a:ext cx="16929716" cy="422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72"/>
              </a:lnSpc>
            </a:pP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Technical: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umor heterogeneity, low mutation burden in non-smokers, limited sample sizes, high-dimensional data.</a:t>
            </a: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Biological: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nique tumor biology, differential immunological profiles, rare variants.</a:t>
            </a: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Clinical: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Cost and access to genomic testing, lack of affordable models for wide population screening.</a:t>
            </a:r>
          </a:p>
          <a:p>
            <a:pPr algn="just" marL="626111" indent="-313055" lvl="1">
              <a:lnSpc>
                <a:spcPts val="4872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Ethical: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privacy, informed consent for risk-based stratification.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017606" y="1363345"/>
            <a:ext cx="8252788" cy="4354116"/>
          </a:xfrm>
          <a:custGeom>
            <a:avLst/>
            <a:gdLst/>
            <a:ahLst/>
            <a:cxnLst/>
            <a:rect r="r" b="b" t="t" l="l"/>
            <a:pathLst>
              <a:path h="4354116" w="8252788">
                <a:moveTo>
                  <a:pt x="0" y="0"/>
                </a:moveTo>
                <a:lnTo>
                  <a:pt x="8252788" y="0"/>
                </a:lnTo>
                <a:lnTo>
                  <a:pt x="8252788" y="4354117"/>
                </a:lnTo>
                <a:lnTo>
                  <a:pt x="0" y="4354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50" t="0" r="-890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828868" y="579755"/>
            <a:ext cx="14567740" cy="80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Challenges &amp; Limitations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1820" y="1796827"/>
            <a:ext cx="15955220" cy="527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0"/>
              </a:lnSpc>
            </a:pPr>
          </a:p>
          <a:p>
            <a:pPr algn="just" marL="647700" indent="-323850" lvl="1">
              <a:lnSpc>
                <a:spcPts val="53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larger, ethnically diverse databases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focusing on non-smokers.</a:t>
            </a:r>
          </a:p>
          <a:p>
            <a:pPr algn="just" marL="647700" indent="-323850" lvl="1">
              <a:lnSpc>
                <a:spcPts val="531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Combine genomics with environmental and lifestyle data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more robust models.</a:t>
            </a:r>
          </a:p>
          <a:p>
            <a:pPr algn="just" marL="647700" indent="-323850" lvl="1">
              <a:lnSpc>
                <a:spcPts val="531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 and externally validate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agentic AI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models tailored for never-smokers.</a:t>
            </a:r>
          </a:p>
          <a:p>
            <a:pPr algn="just" marL="647700" indent="-323850" lvl="1">
              <a:lnSpc>
                <a:spcPts val="53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Incorporate liquid biopsy (cfDNA), proteomics, and autoantibody markers for 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minimally invasive screening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 marL="647700" indent="-323850" lvl="1">
              <a:lnSpc>
                <a:spcPts val="531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Prospective clinical studies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establish screening effectiveness and guidelines.</a:t>
            </a:r>
          </a:p>
          <a:p>
            <a:pPr algn="just" marL="647700" indent="-323850" lvl="1">
              <a:lnSpc>
                <a:spcPts val="53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Include explainability to increase confidene in the model.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5248" y="7204248"/>
            <a:ext cx="2054052" cy="2054052"/>
          </a:xfrm>
          <a:custGeom>
            <a:avLst/>
            <a:gdLst/>
            <a:ahLst/>
            <a:cxnLst/>
            <a:rect r="r" b="b" t="t" l="l"/>
            <a:pathLst>
              <a:path h="2054052" w="2054052">
                <a:moveTo>
                  <a:pt x="0" y="0"/>
                </a:moveTo>
                <a:lnTo>
                  <a:pt x="2054052" y="0"/>
                </a:lnTo>
                <a:lnTo>
                  <a:pt x="2054052" y="2054052"/>
                </a:lnTo>
                <a:lnTo>
                  <a:pt x="0" y="20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3507000" y="688436"/>
            <a:ext cx="14567740" cy="8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Future Directions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3761" y="1882552"/>
            <a:ext cx="16445539" cy="770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Genomic profiling reveals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actionable mutations for precise, early detection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tailored to never-smokers.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Predictive models using genomic and clinical data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increase accuracy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enable non-invasive screening.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detection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lowers mortality, prevents unnecessary treatments, and improves outcomes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Customized models address non-smoker-specific risk factors, outperforming generic tools.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Widespread use requires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addressing cost, access, privacy, and ethical challenges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Using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Agentic AI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us automate the process of identification and scoring.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049"/>
              </a:lnSpc>
            </a:pPr>
          </a:p>
          <a:p>
            <a:pPr algn="just">
              <a:lnSpc>
                <a:spcPts val="38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10521" y="441106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6"/>
                </a:lnTo>
                <a:lnTo>
                  <a:pt x="0" y="151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4158009" y="688436"/>
            <a:ext cx="14567740" cy="8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0459" y="2067607"/>
            <a:ext cx="1636573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[1] Chen, C.-Y., Kuo-Yen, &amp; Yang, P.-C. (2024). The role of PM2.5 exposure in lung cancer: mechanisms, genetic factors, and clinical implications. EMBO Molecular Medicine. </a:t>
            </a:r>
            <a:r>
              <a:rPr lang="en-US" sz="3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embopress.org/doi/full/10.1038/s44321-024-00175-2"/>
              </a:rPr>
              <a:t>https://www.embopress.org/doi/full/10.1038/s44321-024-00175-2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90459" y="4057650"/>
            <a:ext cx="17448049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[2] Chiu, C.-H., &amp; Yang, P.-C. (2024). Challenges of lung cancer control in Asia. The Lancet eClinicalMedicine, 72, Article 102942. </a:t>
            </a:r>
            <a:r>
              <a:rPr lang="en-US" sz="3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thelancet.com/journals/eclinm/article/PIIS2589-5370(24)00285-2/fulltext"/>
              </a:rPr>
              <a:t>https://www.thelancet.com/journals/eclinm/article/PIIS2589-5370(24)00285-2/fulltext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90459" y="5886450"/>
            <a:ext cx="17448049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[3] Zheng, H., Zhang, Q., Gong, Y., Liu, Z., &amp; Chen, S. (2024). Identification of prognostic biomarkers for stage III non-small cell lung carcinoma in female nonsmokers using machine learning. In 2024 10th International Conference on Biomedical Engineering and Informatics (BMEI). </a:t>
            </a:r>
            <a:r>
              <a:rPr lang="en-US" sz="3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ieeexplore.ieee.org/abstract/document/10762221"/>
              </a:rPr>
              <a:t>https://ieeexplore.ieee.org/abstract/document/10762221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90459" y="8477250"/>
            <a:ext cx="17448049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[4] Hendriks, L. E. L., Remon, J., Faivre-Finn, C., Garassino, M. C., Heymach, J. V., Kerr, K. M., Tan, D. S. W., Veronesi, G., &amp; Reck, M. (2024). Non-small-cell lung cancer. Nature Reviews Disease Primers, 10, Article 43.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36212" y="607110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7"/>
                </a:lnTo>
                <a:lnTo>
                  <a:pt x="0" y="15176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3913880" y="854440"/>
            <a:ext cx="14567740" cy="8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References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7862" y="2067607"/>
            <a:ext cx="1767227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[5] Buana, I., Soeroso, N. N., Tarigan, S. P., &amp; Syahruddin, E. (2022). Risk factors for lung cancer in non-smoking women, North Sumatera, Indonesia. Sumatera Medical Journal, 8(1), 28–34. </a:t>
            </a:r>
            <a:r>
              <a:rPr lang="en-US" sz="3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doi.org/10.32734/sumej.v8i1.18763"/>
              </a:rPr>
              <a:t>https://doi.org/10.32734/sumej.v8i1.18763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07862" y="3912696"/>
            <a:ext cx="1792757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[6] Győrffy, B. (2024). Transcriptome-level discovery of survival-associated biomarkers and therapy targets in non-small-cell lung cancer. British Journal of Pharmacology, 181(5), 1007–1022.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7862" y="5436696"/>
            <a:ext cx="1770982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[7]Lam, S. (2025). Lung cancer screening in never-smokers. Current Opinion in Oncology, 37(1), 54–58. </a:t>
            </a:r>
            <a:r>
              <a:rPr lang="en-US" sz="3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journals.lww.com/co-oncology/abstract/2025/01000/lung_cancer_screening_in_never_smokers.13.aspx"/>
              </a:rPr>
              <a:t>https://journals.lww.com/co-oncology/abstract/2025/01000/lung_cancer_screening_in_never_smokers.13.aspx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07862" y="7284546"/>
            <a:ext cx="1767227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[8]Kang, H.-R., Cho, J. Y., Lee, S. H., Lee, Y. J., Park, J. S., Cho, Y.-J., Yoon, H. I., Lee, K. W., Lee, J. H., &amp; Lee, C.-T. (2019). Role of low-dose computerized tomography in lung cancer screening among never-smokers. Journal of Thoracic Oncology, 14(10), 1649–1657.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36212" y="607110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7"/>
                </a:lnTo>
                <a:lnTo>
                  <a:pt x="0" y="1517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 l="0" t="-13733" r="0" b="-13733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9247" y="2421565"/>
            <a:ext cx="16973964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[9] Kerpel-Fronius, A., Tammemägi, M., Cavic, M., Henschke, C., Jiang, L., Kazerooni, E., Lee, C.-T., Ventura, L., Yang, D., Lam, S., Huber, R. M., et al. (2022). Screening for lung cancer in individuals who never smoked: An International Association for the Study of Lung Cancer Early Detection and Screening Committee report. Journal of Thoracic Oncology, 17(2), 188–205. </a:t>
            </a:r>
            <a:r>
              <a:rPr lang="en-US" sz="3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sciencedirect.com/science/article/pii/S1556086421023911"/>
              </a:rPr>
              <a:t>https://www.sciencedirect.com/science/article/pii/S1556086421023911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09247" y="5899723"/>
            <a:ext cx="1685005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[10] Wang, P., Sun, S., Lam, S., &amp; Lockwood, W. W. (2023). New insights into the biology and development of lung cancer in never smokers—Implications for early detection and treatment. Journal of Translational Medicine, 21(1), Article 484.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836212" y="607110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7"/>
                </a:lnTo>
                <a:lnTo>
                  <a:pt x="0" y="151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</a:blip>
            <a:stretch>
              <a:fillRect l="0" t="-13733" r="0" b="-13733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36212" y="607110"/>
            <a:ext cx="4181470" cy="1517647"/>
          </a:xfrm>
          <a:custGeom>
            <a:avLst/>
            <a:gdLst/>
            <a:ahLst/>
            <a:cxnLst/>
            <a:rect r="r" b="b" t="t" l="l"/>
            <a:pathLst>
              <a:path h="1517647" w="4181470">
                <a:moveTo>
                  <a:pt x="0" y="0"/>
                </a:moveTo>
                <a:lnTo>
                  <a:pt x="4181470" y="0"/>
                </a:lnTo>
                <a:lnTo>
                  <a:pt x="4181470" y="1517647"/>
                </a:lnTo>
                <a:lnTo>
                  <a:pt x="0" y="1517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13733" r="0" b="-137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94089" y="4176070"/>
            <a:ext cx="7299821" cy="170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  <a:spcBef>
                <a:spcPct val="0"/>
              </a:spcBef>
            </a:pPr>
            <a:r>
              <a:rPr lang="en-US" b="true" sz="9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DAGt5aAb9Jg</dc:identifier>
  <dcterms:modified xsi:type="dcterms:W3CDTF">2011-08-01T06:04:30Z</dcterms:modified>
  <cp:revision>1</cp:revision>
  <dc:title>Slide 1: Title Slide Project Title Team Members’ Names College &amp; Department Date</dc:title>
</cp:coreProperties>
</file>