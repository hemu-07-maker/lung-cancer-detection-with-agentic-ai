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418" r:id="rId3"/>
    <p:sldId id="419" r:id="rId4"/>
    <p:sldId id="415" r:id="rId5"/>
    <p:sldId id="416" r:id="rId6"/>
    <p:sldId id="417" r:id="rId7"/>
    <p:sldId id="42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A43A09-9997-4C50-BA1D-88D60912DB19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AAEB01-AA1F-4954-AD9F-8530C32750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655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AEB01-AA1F-4954-AD9F-8530C327501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353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0D8EF-AB82-EF2D-76A6-BDE27B9342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B37525-C015-11A8-DDDB-DA8541DD9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00ECC-0B58-25DC-4127-51EB69F8B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20774-0962-4E90-8515-C97C94E7319B}" type="datetime1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17942-915C-403B-C68A-3499658BF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B6C04-90ED-33F7-20A4-ACABCC255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CDBC5-4E49-49CB-B926-A54925945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730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3635-F533-BE9A-F0F9-0B87ECDC4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E4512-3A14-772E-DD75-5AE5DFD79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101DC-E24F-83C4-78BC-2AC16BAB3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64E5D-2816-4F75-A11C-993F76DF24F2}" type="datetime1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ED09F-5BE0-FE14-D0F1-0D6FF3873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A4FA2-1F24-CA08-72B1-280765A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CDBC5-4E49-49CB-B926-A54925945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81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6246F-B239-F279-687D-A71126013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8287A-54E7-A166-8C28-EA7087D71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48C14-1C0C-D049-3D32-CAB8B916D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76BE-E0D6-4B2F-9024-ABB0E0197A00}" type="datetime1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49BBE-1459-A990-6AB2-7A033DAEE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895FC-605F-0F14-3C21-2F19DC098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CDBC5-4E49-49CB-B926-A54925945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500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903B7-1B02-220B-783A-155D65AD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3746E-CF5F-70FE-84B1-BEF12E95E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F8DD2-D114-AE9C-7337-98F9ED56E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65F8C-8B1A-2362-7974-EC1E0169B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463CA-C478-47A7-85EF-30F96C51044F}" type="datetime1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E21DD-474C-9131-29E5-FA6D2B7DD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49250-CD48-49A2-14AB-D2D855C04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CDBC5-4E49-49CB-B926-A54925945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294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E62BB-4F5A-310C-B041-20B517F08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55E51-C891-2564-F099-AD74A7427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EC45E6-0093-A61E-9045-82D5F3C0F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35FD34-DA77-890A-D4D7-276D4E301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C507DE-6CA5-35D8-AAB9-28B24E06CF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6D727A-3B83-8A8B-D930-CF867DAB6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8986C-8477-4ACF-B90D-E53A55B13F18}" type="datetime1">
              <a:rPr lang="en-IN" smtClean="0"/>
              <a:t>05-08-2025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AAADDE-514A-CC32-84C8-376FFFC07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8C8F11-4B78-86F9-95FA-286D5348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CDBC5-4E49-49CB-B926-A54925945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322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E695A-AC59-1D1E-D7FD-94AADAEF8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A79CF-FEF9-3D40-7950-8CB3F5D57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67ED5-47A3-4E02-B850-552A9B1EE6FB}" type="datetime1">
              <a:rPr lang="en-IN" smtClean="0"/>
              <a:t>05-08-2025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42B364-FA35-54FA-2633-CE2B4DD58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FEDF2-30CE-746E-2086-1A9D1B8BA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CDBC5-4E49-49CB-B926-A54925945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055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351801-6753-8C43-AF3F-B29BD923E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9F433-8288-4ED4-8E97-8858660DD54A}" type="datetime1">
              <a:rPr lang="en-IN" smtClean="0"/>
              <a:t>05-08-2025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952336-7FEA-CD8A-F404-E6660648D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29355-AD5D-2292-585B-E9A0B9F7E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CDBC5-4E49-49CB-B926-A54925945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422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85E77-25F1-3A40-242F-6CC6F69C8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FA229-BA15-5515-9EFF-94D3A84E0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6B159-C6B8-4A2D-E906-A9E00055A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29145-BA56-0CFF-960A-7E5B75490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274F8-F714-4827-AAAF-8C2B5428C7F9}" type="datetime1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A30C4-F961-4CCE-C67F-685B98F10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FF2E7-BD28-2D30-8189-3B4295BB4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CDBC5-4E49-49CB-B926-A54925945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17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58939-0B8E-4F01-4212-C422393D1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EBADF5-6814-391A-C2A6-BE11598D09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198A14-63C6-B3D0-DC78-460F298DD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DC36A-B697-A2C1-C463-098C0DF73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C38B0-21BB-436E-9C0D-105AFE1E17E6}" type="datetime1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20D27-C193-8218-AA26-0E1DED71E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4683B-65A8-B331-8200-E97916329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CDBC5-4E49-49CB-B926-A54925945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332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6EC19-D635-0B5C-F9BF-4CD3B3B8C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DD17D-8E72-86E4-DBFD-AC8F73FD4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20FE4-00BF-5B8B-FDF7-B119D3D82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F6650-C4E0-4C75-BF74-F1476EE9AD09}" type="datetime1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2A3D5-469D-9E61-45F0-D492F91E9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D4BB4-A5B0-41EA-5558-537C00121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CDBC5-4E49-49CB-B926-A54925945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94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94EE2F-2F2C-C543-BFEE-DDCBE1DFDF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85157F-D47E-F92C-C8DD-95F1F14B8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A50CB-2E52-1690-730A-620C83E67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87C32-AB6D-4453-A325-945CB9690CEC}" type="datetime1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55F0E-9FCB-CA5B-F144-FC6DF0379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5D3AA-E6C9-1B24-F5A4-059ABF06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CDBC5-4E49-49CB-B926-A54925945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309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7CBECA-0F62-E6B0-D1EE-596514FC6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4F2D5-9774-F711-6039-F185F79A7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2DC5A-8D6C-60DC-44F4-5DDBB751C2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7BB4A-B85B-4C41-881C-B77D03003C4C}" type="datetime1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66533-FE97-BF9E-75FA-1BCB50316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F0CFD-09BF-D479-659F-5AA8F98E6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CDBC5-4E49-49CB-B926-A54925945C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089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jto.org/article/S1556-0864%2821%2902391-1/fulltext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04356" y="291405"/>
            <a:ext cx="4183288" cy="1518307"/>
          </a:xfrm>
          <a:custGeom>
            <a:avLst/>
            <a:gdLst/>
            <a:ahLst/>
            <a:cxnLst/>
            <a:rect l="l" t="t" r="r" b="b"/>
            <a:pathLst>
              <a:path w="6274932" h="2277460">
                <a:moveTo>
                  <a:pt x="0" y="0"/>
                </a:moveTo>
                <a:lnTo>
                  <a:pt x="6274932" y="0"/>
                </a:lnTo>
                <a:lnTo>
                  <a:pt x="6274932" y="2277460"/>
                </a:lnTo>
                <a:lnTo>
                  <a:pt x="0" y="2277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733" b="-1373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77855" y="2079184"/>
            <a:ext cx="10616045" cy="94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6"/>
              </a:lnSpc>
              <a:spcBef>
                <a:spcPct val="0"/>
              </a:spcBef>
            </a:pPr>
            <a:r>
              <a:rPr lang="en-US" sz="2733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Agentic AI for Early Detection of Lung Cancer in Non-Smokers Through Genomic Profiling and Predictive Modeling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67731" y="3410849"/>
            <a:ext cx="6036294" cy="38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Mentor: </a:t>
            </a:r>
            <a:r>
              <a:rPr lang="en-US" sz="2266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Dr. V. Lakshmi Chetana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485" y="5146561"/>
            <a:ext cx="5783392" cy="1101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9854" lvl="1" indent="-179927">
              <a:lnSpc>
                <a:spcPts val="2833"/>
              </a:lnSpc>
              <a:buAutoNum type="arabicPeriod"/>
            </a:pPr>
            <a:r>
              <a:rPr lang="en-US" sz="1667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</a:t>
            </a:r>
            <a:r>
              <a:rPr lang="en-US" sz="1667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Goureddy</a:t>
            </a:r>
            <a:r>
              <a:rPr lang="en-US" sz="1667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Abhinav Reddy    -      AV.EN.U4CSE22217</a:t>
            </a:r>
          </a:p>
          <a:p>
            <a:pPr marL="179927" lvl="1">
              <a:lnSpc>
                <a:spcPts val="2833"/>
              </a:lnSpc>
            </a:pPr>
            <a:r>
              <a:rPr lang="en-US" sz="1667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3. Prajwala Yadlapalli                -      AV.EN.U4CSE22248</a:t>
            </a:r>
          </a:p>
          <a:p>
            <a:pPr>
              <a:lnSpc>
                <a:spcPts val="3400"/>
              </a:lnSpc>
            </a:pPr>
            <a:endParaRPr lang="en-US" sz="1667" dirty="0">
              <a:solidFill>
                <a:srgbClr val="000000"/>
              </a:solidFill>
              <a:latin typeface="Times New Roman" panose="02020603050405020304" pitchFamily="18" charset="0"/>
              <a:ea typeface="Canva Sans"/>
              <a:cs typeface="Times New Roman" panose="02020603050405020304" pitchFamily="18" charset="0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660373" y="5146561"/>
            <a:ext cx="4820146" cy="68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1666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2. </a:t>
            </a:r>
            <a:r>
              <a:rPr lang="fi-FI" sz="1666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Pallapothu Hemanya Sai   -   AV.EN.U4CSE22233</a:t>
            </a:r>
            <a:endParaRPr lang="en-US" sz="1666" dirty="0">
              <a:solidFill>
                <a:srgbClr val="000000"/>
              </a:solidFill>
              <a:latin typeface="Times New Roman" panose="02020603050405020304" pitchFamily="18" charset="0"/>
              <a:ea typeface="Canva Sans"/>
              <a:cs typeface="Times New Roman" panose="02020603050405020304" pitchFamily="18" charset="0"/>
              <a:sym typeface="Canva Sans"/>
            </a:endParaRPr>
          </a:p>
          <a:p>
            <a:pPr algn="ctr">
              <a:lnSpc>
                <a:spcPts val="2833"/>
              </a:lnSpc>
            </a:pPr>
            <a:r>
              <a:rPr lang="en-US" sz="1666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4. </a:t>
            </a:r>
            <a:r>
              <a:rPr lang="en-US" sz="1666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Anupalli</a:t>
            </a:r>
            <a:r>
              <a:rPr lang="en-US" sz="1666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Varshith Reddy   -   AV.EN.U4CSE22257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44102" y="4405728"/>
            <a:ext cx="2283553" cy="39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6"/>
              </a:lnSpc>
              <a:spcBef>
                <a:spcPct val="0"/>
              </a:spcBef>
            </a:pPr>
            <a:r>
              <a:rPr lang="en-US" sz="2333" b="1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Team Members: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1A82D7-3163-7A77-473F-546B32C69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CDBC5-4E49-49CB-B926-A54925945C9F}" type="slidenum">
              <a:rPr lang="en-IN" smtClean="0"/>
              <a:t>2</a:t>
            </a:fld>
            <a:endParaRPr lang="en-IN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B85D3284-9064-1B5E-7EB0-CE5CA3596776}"/>
              </a:ext>
            </a:extLst>
          </p:cNvPr>
          <p:cNvSpPr txBox="1">
            <a:spLocks/>
          </p:cNvSpPr>
          <p:nvPr/>
        </p:nvSpPr>
        <p:spPr>
          <a:xfrm>
            <a:off x="332621" y="308832"/>
            <a:ext cx="11263311" cy="8762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latin typeface="Garamond" panose="02020404030301010803" pitchFamily="18" charset="0"/>
              </a:rPr>
              <a:t>Problem Statement &amp; Motivation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632FE9-4740-CAD4-3460-37F8872982C7}"/>
              </a:ext>
            </a:extLst>
          </p:cNvPr>
          <p:cNvSpPr txBox="1"/>
          <p:nvPr/>
        </p:nvSpPr>
        <p:spPr>
          <a:xfrm>
            <a:off x="1009889" y="1084636"/>
            <a:ext cx="10472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/>
              <a:t>Why Early Detection of Lung Cancer in Non-Smokers Needs a New Approach ?</a:t>
            </a:r>
            <a:endParaRPr lang="en-IN" sz="2400" b="1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103DE7-348D-1C17-36D8-4A4EEF5356FC}"/>
              </a:ext>
            </a:extLst>
          </p:cNvPr>
          <p:cNvSpPr txBox="1"/>
          <p:nvPr/>
        </p:nvSpPr>
        <p:spPr>
          <a:xfrm>
            <a:off x="332621" y="1782395"/>
            <a:ext cx="576337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/>
              <a:t>Current Problem: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Lung cancer in never-smokers is rising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Often diagnosed late due to non-specific symptoms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Existing screening tools don’t target non-smokers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Lack of early, personalized detection methods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B1E0E6-F305-0DC7-1ACB-F20CB908C68E}"/>
              </a:ext>
            </a:extLst>
          </p:cNvPr>
          <p:cNvSpPr txBox="1"/>
          <p:nvPr/>
        </p:nvSpPr>
        <p:spPr>
          <a:xfrm>
            <a:off x="332621" y="4605915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Our Direction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380B799-87A1-2E29-F19B-E86292D05489}"/>
              </a:ext>
            </a:extLst>
          </p:cNvPr>
          <p:cNvSpPr/>
          <p:nvPr/>
        </p:nvSpPr>
        <p:spPr>
          <a:xfrm>
            <a:off x="471108" y="5203179"/>
            <a:ext cx="1901702" cy="4232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Agentic AI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598AF04-5928-6CF9-9645-E9A51D09A09F}"/>
              </a:ext>
            </a:extLst>
          </p:cNvPr>
          <p:cNvSpPr/>
          <p:nvPr/>
        </p:nvSpPr>
        <p:spPr>
          <a:xfrm>
            <a:off x="2940251" y="5176821"/>
            <a:ext cx="2370015" cy="437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Genomic Profiling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6D379F1-0A44-162A-9944-BD5FA6DBE3E1}"/>
              </a:ext>
            </a:extLst>
          </p:cNvPr>
          <p:cNvSpPr/>
          <p:nvPr/>
        </p:nvSpPr>
        <p:spPr>
          <a:xfrm>
            <a:off x="5877707" y="5164727"/>
            <a:ext cx="2103797" cy="461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Clinical Notes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944E2A-4BDF-CB1A-D7D6-7A8E08C9ABC0}"/>
              </a:ext>
            </a:extLst>
          </p:cNvPr>
          <p:cNvSpPr txBox="1"/>
          <p:nvPr/>
        </p:nvSpPr>
        <p:spPr>
          <a:xfrm>
            <a:off x="8435049" y="5771915"/>
            <a:ext cx="6094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Explainable Early Detection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8B48D90-D630-0207-B8F1-DF6764D00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399" y="4557538"/>
            <a:ext cx="1214377" cy="12143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F762ADE-4545-918B-436D-760E237D0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022" y="2139583"/>
            <a:ext cx="5276850" cy="210502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45EC87E-16CC-089F-CE52-D42728F4B8F4}"/>
              </a:ext>
            </a:extLst>
          </p:cNvPr>
          <p:cNvSpPr txBox="1"/>
          <p:nvPr/>
        </p:nvSpPr>
        <p:spPr>
          <a:xfrm>
            <a:off x="5877707" y="2107839"/>
            <a:ext cx="7320986" cy="1993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lnSpc>
                <a:spcPct val="150000"/>
              </a:lnSpc>
              <a:buNone/>
            </a:pPr>
            <a:r>
              <a:rPr lang="en-US" sz="20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Why This Matters</a:t>
            </a:r>
            <a:endParaRPr lang="en-IN" sz="1600" dirty="0">
              <a:effectLst/>
            </a:endParaRPr>
          </a:p>
          <a:p>
            <a:pPr marL="285750" indent="-285750" algn="l" rtl="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Clinical notes contains unnoticed early clues</a:t>
            </a:r>
            <a:endParaRPr lang="en-IN" sz="1600" dirty="0">
              <a:effectLst/>
            </a:endParaRPr>
          </a:p>
          <a:p>
            <a:pPr marL="285750" indent="-285750" algn="l" rtl="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Genomic data offers biomarker potential</a:t>
            </a:r>
            <a:endParaRPr lang="en-IN" sz="1600" dirty="0">
              <a:effectLst/>
            </a:endParaRPr>
          </a:p>
          <a:p>
            <a:pPr marL="285750" indent="-285750" algn="l" rtl="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Manual review is slow → AI agents can scale &amp; reason</a:t>
            </a:r>
            <a:endParaRPr lang="en-IN" sz="1600" dirty="0">
              <a:effectLst/>
            </a:endParaRPr>
          </a:p>
          <a:p>
            <a:pPr marL="285750" indent="-285750" algn="l" rtl="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Early detection = better survival, less invasive treatment</a:t>
            </a:r>
            <a:endParaRPr lang="en-IN" sz="1600" dirty="0">
              <a:effectLst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C765C9C-C67A-58BF-841E-8BEAB81DE3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9542" y="5291727"/>
            <a:ext cx="274320" cy="27432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277D893-5EB4-68F8-9CBC-7DA10F871B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6655" y="5291727"/>
            <a:ext cx="274320" cy="27432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3068E38-774A-A017-D3B1-F3DAEC6841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02068" y="5275076"/>
            <a:ext cx="307622" cy="30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407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8B4528-12FE-0734-5FAE-0E9EB2D44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CDBC5-4E49-49CB-B926-A54925945C9F}" type="slidenum">
              <a:rPr lang="en-IN" smtClean="0"/>
              <a:t>3</a:t>
            </a:fld>
            <a:endParaRPr lang="en-IN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8E662C43-6FA4-BB2D-83ED-BA9F117C6775}"/>
              </a:ext>
            </a:extLst>
          </p:cNvPr>
          <p:cNvSpPr txBox="1">
            <a:spLocks/>
          </p:cNvSpPr>
          <p:nvPr/>
        </p:nvSpPr>
        <p:spPr>
          <a:xfrm>
            <a:off x="332621" y="308832"/>
            <a:ext cx="11263311" cy="8762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latin typeface="Garamond" panose="02020404030301010803" pitchFamily="18" charset="0"/>
              </a:rPr>
              <a:t>Project Objectives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EFDAF50-AC8E-19BC-22C7-9C53B680BE08}"/>
              </a:ext>
            </a:extLst>
          </p:cNvPr>
          <p:cNvSpPr/>
          <p:nvPr/>
        </p:nvSpPr>
        <p:spPr>
          <a:xfrm>
            <a:off x="237958" y="1801993"/>
            <a:ext cx="6460177" cy="36355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9577A-2FB2-AD76-3F09-26482FB36238}"/>
              </a:ext>
            </a:extLst>
          </p:cNvPr>
          <p:cNvSpPr txBox="1"/>
          <p:nvPr/>
        </p:nvSpPr>
        <p:spPr>
          <a:xfrm>
            <a:off x="332621" y="1913031"/>
            <a:ext cx="8371990" cy="308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Enable </a:t>
            </a:r>
            <a:r>
              <a:rPr lang="en-US" sz="2000" b="1" dirty="0"/>
              <a:t>early detection </a:t>
            </a:r>
            <a:r>
              <a:rPr lang="en-US" sz="2000" dirty="0"/>
              <a:t>of lung cancer in never-smokers.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Map </a:t>
            </a:r>
            <a:r>
              <a:rPr lang="en-US" sz="2000" b="1" dirty="0"/>
              <a:t>clinical symptoms </a:t>
            </a:r>
            <a:r>
              <a:rPr lang="en-US" sz="2000" dirty="0"/>
              <a:t>to relevant lung cancer genes.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Build </a:t>
            </a:r>
            <a:r>
              <a:rPr lang="en-US" sz="2000" b="1" dirty="0"/>
              <a:t>interpretable</a:t>
            </a:r>
            <a:r>
              <a:rPr lang="en-US" sz="2000" dirty="0"/>
              <a:t> and </a:t>
            </a:r>
            <a:r>
              <a:rPr lang="en-US" sz="2000" b="1" dirty="0"/>
              <a:t>explainable AI </a:t>
            </a:r>
            <a:r>
              <a:rPr lang="en-US" sz="2000" dirty="0"/>
              <a:t>models.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Integrate </a:t>
            </a:r>
            <a:r>
              <a:rPr lang="en-US" sz="2000" b="1" dirty="0"/>
              <a:t>clinical notes </a:t>
            </a:r>
            <a:r>
              <a:rPr lang="en-US" sz="2000" dirty="0"/>
              <a:t>and </a:t>
            </a:r>
            <a:r>
              <a:rPr lang="en-US" sz="2000" b="1" dirty="0"/>
              <a:t>genomic data </a:t>
            </a:r>
            <a:r>
              <a:rPr lang="en-US" sz="2000" dirty="0"/>
              <a:t>for prediction.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Automate the workflow using </a:t>
            </a:r>
            <a:r>
              <a:rPr lang="en-US" sz="2000" b="1" dirty="0"/>
              <a:t>agentic AI </a:t>
            </a:r>
            <a:r>
              <a:rPr lang="en-US" sz="2000" dirty="0"/>
              <a:t>tools.</a:t>
            </a:r>
            <a:endParaRPr lang="en-IN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E4DEF9-9F92-87C5-9E5B-18354372A89D}"/>
              </a:ext>
            </a:extLst>
          </p:cNvPr>
          <p:cNvSpPr txBox="1"/>
          <p:nvPr/>
        </p:nvSpPr>
        <p:spPr>
          <a:xfrm>
            <a:off x="7560954" y="3738836"/>
            <a:ext cx="32755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Source: </a:t>
            </a:r>
            <a:r>
              <a:rPr lang="en-US" sz="1400" dirty="0">
                <a:hlinkClick r:id="rId2"/>
              </a:rPr>
              <a:t>Journal of Thoracic Oncology 2022</a:t>
            </a:r>
            <a:endParaRPr lang="en-IN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7A3C05F-E4E4-480C-15A7-FC669B3BB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051" y="1262731"/>
            <a:ext cx="4120625" cy="2357028"/>
          </a:xfrm>
          <a:prstGeom prst="rect">
            <a:avLst/>
          </a:prstGeom>
        </p:spPr>
      </p:pic>
      <p:sp>
        <p:nvSpPr>
          <p:cNvPr id="20" name="Freeform 4">
            <a:extLst>
              <a:ext uri="{FF2B5EF4-FFF2-40B4-BE49-F238E27FC236}">
                <a16:creationId xmlns:a16="http://schemas.microsoft.com/office/drawing/2014/main" id="{455D44A8-4CE8-810E-DD9D-093FC6A3693F}"/>
              </a:ext>
            </a:extLst>
          </p:cNvPr>
          <p:cNvSpPr/>
          <p:nvPr/>
        </p:nvSpPr>
        <p:spPr>
          <a:xfrm>
            <a:off x="7245584" y="4169872"/>
            <a:ext cx="3906252" cy="2186478"/>
          </a:xfrm>
          <a:custGeom>
            <a:avLst/>
            <a:gdLst/>
            <a:ahLst/>
            <a:cxnLst/>
            <a:rect l="l" t="t" r="r" b="b"/>
            <a:pathLst>
              <a:path w="5465439" h="3463168">
                <a:moveTo>
                  <a:pt x="0" y="0"/>
                </a:moveTo>
                <a:lnTo>
                  <a:pt x="5465439" y="0"/>
                </a:lnTo>
                <a:lnTo>
                  <a:pt x="5465439" y="3463168"/>
                </a:lnTo>
                <a:lnTo>
                  <a:pt x="0" y="34631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36"/>
            </a:stretch>
          </a:blipFill>
        </p:spPr>
      </p:sp>
    </p:spTree>
    <p:extLst>
      <p:ext uri="{BB962C8B-B14F-4D97-AF65-F5344CB8AC3E}">
        <p14:creationId xmlns:p14="http://schemas.microsoft.com/office/powerpoint/2010/main" val="312261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AF46F6D-6218-2428-D8A5-99355ADEDA23}"/>
              </a:ext>
            </a:extLst>
          </p:cNvPr>
          <p:cNvSpPr/>
          <p:nvPr/>
        </p:nvSpPr>
        <p:spPr>
          <a:xfrm>
            <a:off x="549007" y="1476260"/>
            <a:ext cx="11093986" cy="460505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ECF44ED-0E15-AFA6-6A1D-98635C64DCDB}"/>
              </a:ext>
            </a:extLst>
          </p:cNvPr>
          <p:cNvSpPr txBox="1">
            <a:spLocks/>
          </p:cNvSpPr>
          <p:nvPr/>
        </p:nvSpPr>
        <p:spPr>
          <a:xfrm>
            <a:off x="332621" y="308832"/>
            <a:ext cx="11263311" cy="8762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Garamond"/>
              </a:rPr>
              <a:t>Clinical Workflow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7E75B73-53DE-24F5-9F58-59D9B566D2F3}"/>
              </a:ext>
            </a:extLst>
          </p:cNvPr>
          <p:cNvSpPr/>
          <p:nvPr/>
        </p:nvSpPr>
        <p:spPr>
          <a:xfrm>
            <a:off x="1411508" y="1951777"/>
            <a:ext cx="3338977" cy="61029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EHR Data Collection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8BA05A-CB48-0414-11E8-9EE1F703950B}"/>
              </a:ext>
            </a:extLst>
          </p:cNvPr>
          <p:cNvSpPr txBox="1"/>
          <p:nvPr/>
        </p:nvSpPr>
        <p:spPr>
          <a:xfrm>
            <a:off x="1811700" y="2562067"/>
            <a:ext cx="25533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Existing medical history, family history, and clinician notes are gathered.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B6D8244-14D2-3FFA-C10D-569DBD622BBC}"/>
              </a:ext>
            </a:extLst>
          </p:cNvPr>
          <p:cNvSpPr/>
          <p:nvPr/>
        </p:nvSpPr>
        <p:spPr>
          <a:xfrm>
            <a:off x="1421154" y="4159710"/>
            <a:ext cx="3338976" cy="61029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Symptom &amp; Timeline Extraction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E98550-4DA4-D24F-CA47-5A9609297D55}"/>
              </a:ext>
            </a:extLst>
          </p:cNvPr>
          <p:cNvSpPr txBox="1"/>
          <p:nvPr/>
        </p:nvSpPr>
        <p:spPr>
          <a:xfrm>
            <a:off x="1865007" y="4804357"/>
            <a:ext cx="26449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Builds structured symptom timeline.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D2579A3-5DCA-CA79-7002-03123BDBE33A}"/>
              </a:ext>
            </a:extLst>
          </p:cNvPr>
          <p:cNvSpPr/>
          <p:nvPr/>
        </p:nvSpPr>
        <p:spPr>
          <a:xfrm>
            <a:off x="7694265" y="4149524"/>
            <a:ext cx="3407539" cy="60960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Gene Risk Mapping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9E1384-86BF-AF6F-7361-DA60BA104AB7}"/>
              </a:ext>
            </a:extLst>
          </p:cNvPr>
          <p:cNvSpPr txBox="1"/>
          <p:nvPr/>
        </p:nvSpPr>
        <p:spPr>
          <a:xfrm>
            <a:off x="8305900" y="4804357"/>
            <a:ext cx="22821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Symptoms matched to gene database.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7DE0AC23-B3D0-6C75-2D34-11B9EB4ABB35}"/>
              </a:ext>
            </a:extLst>
          </p:cNvPr>
          <p:cNvSpPr/>
          <p:nvPr/>
        </p:nvSpPr>
        <p:spPr>
          <a:xfrm>
            <a:off x="7648169" y="1970968"/>
            <a:ext cx="3499730" cy="630675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Risk Score Calculation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84CD17-0D93-A7B4-0F93-AD3F2C283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471" y="2148796"/>
            <a:ext cx="642049" cy="6420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3F25C4-0DFF-DCD1-E366-D0355BEE5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002" y="4623291"/>
            <a:ext cx="819395" cy="8193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86EDB74-B1E6-66FC-38C1-CAE6F16E42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017" y="4507369"/>
            <a:ext cx="726513" cy="7265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E7A5B56-713F-F503-A961-087E87EE3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8017" y="2399389"/>
            <a:ext cx="667245" cy="667245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DE84805-9477-DCBC-D563-DFBF81389E05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>
            <a:off x="3088364" y="3393064"/>
            <a:ext cx="2278" cy="7666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F8200B-52D4-7F64-9F95-5433DEAECA87}"/>
              </a:ext>
            </a:extLst>
          </p:cNvPr>
          <p:cNvCxnSpPr>
            <a:stCxn id="38" idx="3"/>
            <a:endCxn id="47" idx="1"/>
          </p:cNvCxnSpPr>
          <p:nvPr/>
        </p:nvCxnSpPr>
        <p:spPr>
          <a:xfrm flipV="1">
            <a:off x="4760130" y="4454325"/>
            <a:ext cx="2934135" cy="105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E39E06C-0B3F-5DBD-215A-51C48B312B87}"/>
              </a:ext>
            </a:extLst>
          </p:cNvPr>
          <p:cNvCxnSpPr>
            <a:stCxn id="47" idx="0"/>
            <a:endCxn id="53" idx="2"/>
          </p:cNvCxnSpPr>
          <p:nvPr/>
        </p:nvCxnSpPr>
        <p:spPr>
          <a:xfrm flipH="1" flipV="1">
            <a:off x="9398034" y="2601643"/>
            <a:ext cx="1" cy="15478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863323-89B5-6750-9B1F-79C92236E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CDBC5-4E49-49CB-B926-A54925945C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785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E8A15-E3B5-D632-1DAA-DE2172051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029BA7F8-20F4-6E2E-960C-61D4D36DE8A4}"/>
              </a:ext>
            </a:extLst>
          </p:cNvPr>
          <p:cNvSpPr txBox="1">
            <a:spLocks/>
          </p:cNvSpPr>
          <p:nvPr/>
        </p:nvSpPr>
        <p:spPr>
          <a:xfrm>
            <a:off x="332621" y="308832"/>
            <a:ext cx="11263311" cy="8762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latin typeface="Garamond" panose="02020404030301010803" pitchFamily="18" charset="0"/>
              </a:rPr>
              <a:t>Model Architecture &amp; Evaluation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584FAED-16A8-D963-EE57-B94E3A13BF31}"/>
              </a:ext>
            </a:extLst>
          </p:cNvPr>
          <p:cNvSpPr/>
          <p:nvPr/>
        </p:nvSpPr>
        <p:spPr>
          <a:xfrm>
            <a:off x="327237" y="1415963"/>
            <a:ext cx="2275115" cy="150222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Dataset Collection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46C726F-D2D5-C102-5E25-3D193EF48802}"/>
              </a:ext>
            </a:extLst>
          </p:cNvPr>
          <p:cNvSpPr/>
          <p:nvPr/>
        </p:nvSpPr>
        <p:spPr>
          <a:xfrm>
            <a:off x="3429117" y="1415963"/>
            <a:ext cx="2275115" cy="150222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Agent 1: </a:t>
            </a:r>
            <a:r>
              <a:rPr lang="en-IN" sz="2000" dirty="0"/>
              <a:t>Symptom &amp; Timeline Extractor</a:t>
            </a:r>
            <a:endParaRPr lang="en-IN" sz="2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2A23446-9736-6134-5DD1-35EF3A21F3E7}"/>
              </a:ext>
            </a:extLst>
          </p:cNvPr>
          <p:cNvSpPr/>
          <p:nvPr/>
        </p:nvSpPr>
        <p:spPr>
          <a:xfrm>
            <a:off x="6530998" y="1415963"/>
            <a:ext cx="2275115" cy="150222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Agent 2: </a:t>
            </a:r>
          </a:p>
          <a:p>
            <a:pPr algn="ctr"/>
            <a:r>
              <a:rPr lang="en-IN" sz="2000" dirty="0"/>
              <a:t>Gene Matcher</a:t>
            </a:r>
            <a:endParaRPr lang="en-IN" sz="2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F55B55-F9D6-12B4-9F18-EB6AB5ACD11A}"/>
              </a:ext>
            </a:extLst>
          </p:cNvPr>
          <p:cNvSpPr/>
          <p:nvPr/>
        </p:nvSpPr>
        <p:spPr>
          <a:xfrm>
            <a:off x="9632879" y="1415963"/>
            <a:ext cx="2275115" cy="150222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Risk Scoring</a:t>
            </a:r>
            <a:endParaRPr lang="en-IN" sz="2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FBA52F-114A-17AF-1B89-171FF6E4C2C2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602352" y="2167077"/>
            <a:ext cx="82676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994E378-D218-95D2-47F3-403BFCC9B9F5}"/>
              </a:ext>
            </a:extLst>
          </p:cNvPr>
          <p:cNvCxnSpPr/>
          <p:nvPr/>
        </p:nvCxnSpPr>
        <p:spPr>
          <a:xfrm>
            <a:off x="5704233" y="2167077"/>
            <a:ext cx="82676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FB2357B-DDD4-E050-43EF-66E338F3E7F7}"/>
              </a:ext>
            </a:extLst>
          </p:cNvPr>
          <p:cNvCxnSpPr/>
          <p:nvPr/>
        </p:nvCxnSpPr>
        <p:spPr>
          <a:xfrm>
            <a:off x="8806114" y="2167077"/>
            <a:ext cx="82676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1317C9D-40E0-1103-ABEC-DA573ECBA062}"/>
              </a:ext>
            </a:extLst>
          </p:cNvPr>
          <p:cNvSpPr txBox="1"/>
          <p:nvPr/>
        </p:nvSpPr>
        <p:spPr>
          <a:xfrm>
            <a:off x="343508" y="4011851"/>
            <a:ext cx="541905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b="1" dirty="0"/>
              <a:t>Tools: </a:t>
            </a:r>
            <a:r>
              <a:rPr lang="en-IN" sz="1600" dirty="0" err="1"/>
              <a:t>LangChain</a:t>
            </a:r>
            <a:r>
              <a:rPr lang="en-IN" sz="1600" dirty="0"/>
              <a:t> + </a:t>
            </a:r>
            <a:r>
              <a:rPr lang="en-IN" sz="1600" dirty="0" err="1"/>
              <a:t>Ollama</a:t>
            </a:r>
            <a:r>
              <a:rPr lang="en-IN" sz="1600" dirty="0"/>
              <a:t> + Python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b="1" dirty="0"/>
              <a:t>Input: </a:t>
            </a:r>
            <a:r>
              <a:rPr lang="en-IN" sz="1600" dirty="0"/>
              <a:t>Clinical notes from multiple patient visits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b="1" dirty="0"/>
              <a:t>Output: </a:t>
            </a:r>
            <a:r>
              <a:rPr lang="en-IN" sz="1600" dirty="0"/>
              <a:t>Extracted symptoms with timestamp metadata</a:t>
            </a:r>
          </a:p>
          <a:p>
            <a:pPr algn="just"/>
            <a:endParaRPr lang="en-IN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Builds a Patient Journey Graph showing symptom evolution over time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BE5815-D37C-0284-CD8F-18D07211DCF8}"/>
              </a:ext>
            </a:extLst>
          </p:cNvPr>
          <p:cNvSpPr txBox="1"/>
          <p:nvPr/>
        </p:nvSpPr>
        <p:spPr>
          <a:xfrm>
            <a:off x="327237" y="342900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Agent 1: Symptom &amp; Timeline Extractor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40C6236-79E3-DD26-8E40-F8079AB004DF}"/>
              </a:ext>
            </a:extLst>
          </p:cNvPr>
          <p:cNvCxnSpPr/>
          <p:nvPr/>
        </p:nvCxnSpPr>
        <p:spPr>
          <a:xfrm>
            <a:off x="5894140" y="3694556"/>
            <a:ext cx="0" cy="25337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178E18A-B392-CA21-466A-EE10A96F6E7A}"/>
              </a:ext>
            </a:extLst>
          </p:cNvPr>
          <p:cNvSpPr txBox="1"/>
          <p:nvPr/>
        </p:nvSpPr>
        <p:spPr>
          <a:xfrm>
            <a:off x="5964276" y="343847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Agent 2: Gene Matcher </a:t>
            </a:r>
            <a:r>
              <a:rPr lang="en-US" b="1" dirty="0"/>
              <a:t>(Knowledge Graph-Based)</a:t>
            </a:r>
            <a:endParaRPr lang="en-IN" sz="2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CB722A-72D7-480C-B38D-2AFDC361F740}"/>
              </a:ext>
            </a:extLst>
          </p:cNvPr>
          <p:cNvSpPr txBox="1"/>
          <p:nvPr/>
        </p:nvSpPr>
        <p:spPr>
          <a:xfrm>
            <a:off x="5964276" y="3890665"/>
            <a:ext cx="583957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Uses a Lung Cancer Knowledge Graph (e.g., gene–symptom–disease relationships from </a:t>
            </a:r>
            <a:r>
              <a:rPr lang="en-IN" sz="1600" dirty="0" err="1"/>
              <a:t>DisGeNET</a:t>
            </a:r>
            <a:r>
              <a:rPr lang="en-IN" sz="1600" dirty="0"/>
              <a:t>, UMLS, etc.)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Maps extracted symptoms to relevant lung cancer-associated genes.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Captures multi-hop biological relationships (e.g., Symptom → Disease → Gene)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9364B0B-B6E2-9103-5B60-3D1076BD2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428" y="2595538"/>
            <a:ext cx="451845" cy="45184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54DD283-4816-0E85-E15F-6F362C521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731" y="2548695"/>
            <a:ext cx="608757" cy="60875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3E14B9A-9436-8B9E-FA62-1EC318955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1344" y="2505541"/>
            <a:ext cx="608757" cy="60875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7151941-3A7F-C5D7-12B9-59D019D646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5932" y="2548695"/>
            <a:ext cx="480610" cy="48061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BCFA8-0147-6C0F-CFBF-7943CAC08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CDBC5-4E49-49CB-B926-A54925945C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744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255EEC1-CE3C-D2AC-E6EE-6B4E72AC9CED}"/>
              </a:ext>
            </a:extLst>
          </p:cNvPr>
          <p:cNvSpPr/>
          <p:nvPr/>
        </p:nvSpPr>
        <p:spPr>
          <a:xfrm>
            <a:off x="7461794" y="2322013"/>
            <a:ext cx="4356440" cy="29041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79FCCE-5120-7D1C-27E4-4076B1B1EB86}"/>
              </a:ext>
            </a:extLst>
          </p:cNvPr>
          <p:cNvSpPr txBox="1"/>
          <p:nvPr/>
        </p:nvSpPr>
        <p:spPr>
          <a:xfrm>
            <a:off x="373766" y="869833"/>
            <a:ext cx="6094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Graph-Based Scoring Module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D6BB13-28C7-B34B-DAD4-D391BEA3133D}"/>
              </a:ext>
            </a:extLst>
          </p:cNvPr>
          <p:cNvSpPr txBox="1"/>
          <p:nvPr/>
        </p:nvSpPr>
        <p:spPr>
          <a:xfrm>
            <a:off x="373766" y="1826839"/>
            <a:ext cx="572223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Graph 1: </a:t>
            </a:r>
            <a:r>
              <a:rPr lang="en-IN" sz="2000" dirty="0"/>
              <a:t>Patient Journey Graph (symptoms over time)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Graph 2: </a:t>
            </a:r>
            <a:r>
              <a:rPr lang="en-IN" sz="2000" dirty="0"/>
              <a:t>Subgraph of knowledge graph centred on lung cancer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Performs graph matching to score: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Number and strength of symptom-gene paths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Temporal alignment with known disease progression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Outputs ranked gene-symptom explanations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3A2B02-92F4-C39D-A09A-2ADFDB3D9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293" y="762370"/>
            <a:ext cx="630683" cy="6306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BCDDF0-3622-9781-65D1-432A8F093713}"/>
              </a:ext>
            </a:extLst>
          </p:cNvPr>
          <p:cNvSpPr txBox="1"/>
          <p:nvPr/>
        </p:nvSpPr>
        <p:spPr>
          <a:xfrm>
            <a:off x="7799772" y="2447945"/>
            <a:ext cx="4203056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800" b="1" dirty="0"/>
              <a:t>Clinical Output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Patient-level report with: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Matched genes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Timeline + symptom evidence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Clear explanation for each match</a:t>
            </a:r>
          </a:p>
          <a:p>
            <a:pPr lvl="1" algn="just"/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Final decision is </a:t>
            </a:r>
            <a:r>
              <a:rPr lang="en-US" b="1" dirty="0"/>
              <a:t>clinician-validated</a:t>
            </a:r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A3487F2-2B57-62DF-0075-D6E7D7C58B09}"/>
              </a:ext>
            </a:extLst>
          </p:cNvPr>
          <p:cNvSpPr/>
          <p:nvPr/>
        </p:nvSpPr>
        <p:spPr>
          <a:xfrm>
            <a:off x="6248400" y="3774093"/>
            <a:ext cx="914400" cy="5232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A1C48CE-68FE-E896-34E9-A952AD7AC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4235" y="2447945"/>
            <a:ext cx="775504" cy="77550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E85918-4ABB-8F23-4BA9-50211B681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CDBC5-4E49-49CB-B926-A54925945C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78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8033B-E40B-23F7-1647-DC25552E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CDBC5-4E49-49CB-B926-A54925945C9F}" type="slidenum">
              <a:rPr lang="en-IN" smtClean="0"/>
              <a:t>7</a:t>
            </a:fld>
            <a:endParaRPr lang="en-IN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AF4FB27A-8574-A6EA-0898-AAEA5EB027A1}"/>
              </a:ext>
            </a:extLst>
          </p:cNvPr>
          <p:cNvSpPr txBox="1">
            <a:spLocks/>
          </p:cNvSpPr>
          <p:nvPr/>
        </p:nvSpPr>
        <p:spPr>
          <a:xfrm>
            <a:off x="332621" y="308832"/>
            <a:ext cx="11263311" cy="8762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latin typeface="Garamond" panose="02020404030301010803" pitchFamily="18" charset="0"/>
              </a:rPr>
              <a:t>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3169638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443</Words>
  <Application>Microsoft Office PowerPoint</Application>
  <PresentationFormat>Widescreen</PresentationFormat>
  <Paragraphs>87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Garamond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Prajwala Yadlapalli</dc:creator>
  <cp:lastModifiedBy>Prajwala Yadlapalli</cp:lastModifiedBy>
  <cp:revision>23</cp:revision>
  <dcterms:created xsi:type="dcterms:W3CDTF">2025-07-26T09:19:42Z</dcterms:created>
  <dcterms:modified xsi:type="dcterms:W3CDTF">2025-08-05T08:23:49Z</dcterms:modified>
</cp:coreProperties>
</file>